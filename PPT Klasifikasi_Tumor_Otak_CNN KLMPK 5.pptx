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7CCD9AC2-FDF0-258D-8418-138F02AA29D3}">
          <p14:sldIdLst>
            <p14:sldId id="256"/>
            <p14:sldId id="257"/>
          </p14:sldIdLst>
        </p14:section>
        <p14:section name="Bab 1 Pendahuluan" id="{EC48E227-999D-2959-BAB1-96B28338C095}">
          <p14:sldIdLst>
            <p14:sldId id="258"/>
            <p14:sldId id="259"/>
            <p14:sldId id="260"/>
          </p14:sldIdLst>
        </p14:section>
        <p14:section name="Bab 2 Dasar Teori" id="{9AD875D4-A824-AF24-8EB7-E0E8F788B9C3}">
          <p14:sldIdLst>
            <p14:sldId id="261"/>
            <p14:sldId id="262"/>
            <p14:sldId id="263"/>
            <p14:sldId id="264"/>
            <p14:sldId id="265"/>
          </p14:sldIdLst>
        </p14:section>
        <p14:section name="Bab 3 Metodologi" id="{42FE9AA7-37DD-25F9-444F-691678A1A622}">
          <p14:sldIdLst>
            <p14:sldId id="266"/>
            <p14:sldId id="267"/>
            <p14:sldId id="268"/>
            <p14:sldId id="269"/>
            <p14:sldId id="270"/>
            <p14:sldId id="271"/>
            <p14:sldId id="272"/>
            <p14:sldId id="273"/>
          </p14:sldIdLst>
        </p14:section>
        <p14:section name="Bab 4 Hasil Eksperimen" id="{347E026C-A5AC-46CA-CD63-EBBE7B7E49F6}">
          <p14:sldIdLst>
            <p14:sldId id="274"/>
            <p14:sldId id="275"/>
            <p14:sldId id="276"/>
            <p14:sldId id="277"/>
            <p14:sldId id="278"/>
            <p14:sldId id="279"/>
          </p14:sldIdLst>
        </p14:section>
        <p14:section name="Bab 5 Evaluasi Model Akhir" id="{F3A0B94C-3840-600A-B750-294696178F7F}">
          <p14:sldIdLst>
            <p14:sldId id="280"/>
            <p14:sldId id="281"/>
            <p14:sldId id="282"/>
            <p14:sldId id="283"/>
            <p14:sldId id="284"/>
          </p14:sldIdLst>
        </p14:section>
        <p14:section name="Bab 6 Pembahasan" id="{D81AA8D1-E710-7896-66B2-4D78CAC6EE6B}">
          <p14:sldIdLst>
            <p14:sldId id="285"/>
            <p14:sldId id="286"/>
          </p14:sldIdLst>
        </p14:section>
        <p14:section name="Bab 7 Kesimpulan dan Saran" id="{BB2F39B8-7CBF-51A2-70BF-B9B9B5BD0C90}">
          <p14:sldIdLst>
            <p14:sldId id="287"/>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9" d="100"/>
          <a:sy n="69" d="100"/>
        </p:scale>
        <p:origin x="1200"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7425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Salam, kami dari kelompok Deep Learning. Hari ini kami presentasikan laporan praktikum klasifikasi tumor otak dari citra MRI pakai CNN. Selain bikin modelnya, kami juga bandingkan beberapa pengaturan (pembagian data, augmentasi, optimizer, dropout) secara bertahap.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Presentasi ini ngikutin urutan laporan: dari latar belakang, teori dasar, metodologi, hasil empat skenario eksperimen, evaluasi model akhir, pembahasan, sampai kesimpulan dan saran.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Tumor otak itu pertumbuhan sel yang nggak normal di dalam atau sekitar otak. MRI bisa menampilkan gambar rinci bagian dalam kepala, tapi bacanya butuh dokter spesialis dan makan waktu, apalagi kalau gambarnya banyak. Di sini CNN dilatih buat mengelompokkan gambar MRI ke empat kelas. Kami juga menyelidiki pengaruh pengaturan model dengan mengubahnya satu per satu, yang disebut progressive ablation study. Perlu ditegaskan, model ini alat belajar, bukan alat diagnosis.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lima tujuan. Satu, membangun CNN empat kelas. Dua, menyiapkan dan memeriksa dataset. Tiga, membandingkan pengaruh split, augmentasi, optimizer, dan dropout. Empat, evaluasi model akhir pakai accuracy, precision, recall, F1, dan confusion matrix. Lima, menarik kesimpulan, mencatat keterbatasan, dan saran.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ada 7.200 gambar, empat kelas seimbang masing-masing 1.800. Gambar diubah ke 128 kali 128 piksel RGB. Arsitekturnya CNN sederhana empat blok, dibuat dari nol tanpa transfer learning. Semua konfigurasi dilatih 20 epoch dengan batch 32, learning rate 0,0005, seed 42. Pelatihan di Google Colab tanpa GPU, jadi satu epoch sekitar 3 sampai 6 menit. Konfigurasi terbaik dipilih pakai F1 Macro tertinggi.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empat kelas. Glioma tumbuh dari sel glia, yaitu sel penunjang saraf. Meningioma tumbuh dari meninges, selaput pembungkus otak. Pituitary adalah tumor di kelenjar hipofisis di dasar otak yang ngatur banyak hormon. Terakhir no tumor, yaitu MRI otak tanpa tumor. Gambar di kiri contoh MRI tiap kelas dari dataset.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CNN itu jaringan saraf tiruan khusus gambar. Analoginya seperti memeriksa foto pakai kaca pembesar kecil yang digeser pelan: awalnya cuma lihat garis dan tepi, lalu bentuk, lalu pola yang lebih rumit. Lapisannya: Conv2D pakai filter 3 kali 3 untuk cari pola, ReLU mengubah nilai negatif jadi nol, MaxPooling 2 kali 2 ambil nilai terbesar sehingga ukuran jadi setengah, Flatten meratakan jadi satu baris angka, Dense menghubungkan semua angka untuk mengambil keputusan, Dropout mematikan sebagian neuron acak supaya tidak menghafal, dan Softmax mengubah skor akhir jadi persentase untuk empat kelas yang jumlahnya 100 persen.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dibagi tiga kayak proses belajar di sekolah. Train itu buku latihan, validation itu ujian percobaan buat mantau kemajuan, test itu ujian akhir yang nggak pernah dilihat model. Pembagiannya stratified supaya proporsi kelas tetap sama. Augmentasi menambah variasi gambar latih lewat flip, rotasi kecil, dan zoom, dan hanya dipakai di data latih. Overfitting terjadi kalau model terlalu hafal data latih, tandanya akurasi latih jauh di atas akurasi validasi. Dropout dan augmentasi adalah dua cara mencegahnya.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Epoch itu satu putaran penuh model melihat seluruh data latih, kami pakai 20. Batch size adalah jumlah gambar yang diproses sekaligus sebelum model memperbarui diri, di sini 32. Learning rate ukuran langkah belajar: terlalu besar model melompat-lompat, terlalu kecil belajarnya lambat. Kami pakai 0,0005. Optimizer adalah cara model memperbarui diri. Adam menyesuaikan langkah otomatis dan biasanya cepat, RMSprop juga adaptif, SGD Momentum lebih sederhana dan cenderung lebih lambat kalau learning rate kecil.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tiap kelas ada TP yaitu tebakan benar untuk kelas itu, FP yaitu kelas lain yang salah ditebak jadi kelas itu, dan FN yaitu gambar kelas itu yang salah ditebak jadi kelas lain. Accuracy itu persen tebakan benar dari semua gambar. Precision menjawab: saat model tebak kelas X, seberapa sering benar. Recall: dari semua gambar kelas X, berapa persen yang ketemu. F1 gabungan precision dan recall. Macro average adalah rata-rata sederhana empat kelas. Contohnya, model menebak 78 gambar sebagai glioma dan 72 benar, jadi precision glioma 72 per 78 sama dengan 0,923. Confusion matrix membandingkan kelas sebenarnya di baris dan tebakan model di kolom, diagonalnya adalah tebakan yang benar.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Seluruh pekerjaan ditulis di notebook Google Colab dan dibagi jadi 13 tahap yang bisa diringkas jadi enam fase. Mulai dari setup project, memuat dan cek dataset, preprocessing dan eksplorasi, membangun arsitektur dan pipeline pelatihan, empat skenario eksperimen, sampai evaluasi champion dan backup semua hasil ke file ZIP berisi 111 file.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Platformnya Google Colab dan Google Drive dengan folder Brain_Tumor_CNN. Library utama TensorFlow 2.20.0, scikit-learn, pandas, NumPy, dan Matplotlib. Perangkatnya CPU karena GPU tidak terdeteksi. Input 128 kali 128 kali 3, empat kelas, 20 epoch, batch 32, learning rate 0,0005, loss sparse categorical crossentropy, seed 42. Di Drive ada folder dataset, models, grafik, cache, dokumen, hasil, dan checkpoints.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ada di dua folder utama, Training dan Testing. Kode membaca keduanya lalu menyamakan nama kelas, misalnya notumor jadi no tumor. Hasil pemindaian ada 7.200 gambar, tidak ada folder yang tidak dikenali dan tidak ada data kosong. Tiap kelas 1.800 gambar atau 25 persen, jadi rasio kelas terbanyak terhadap tersedikit 1,0, artinya seimbang sempurna sehingga model tidak condong ke satu kelas karena jumlah data. Semua gambar digabung lalu dibagi ulang di Skenario 1, jadi pembagian Training dan Testing asli tidak dipakai langsung.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menyamakan semua gambar supaya bisa diproses CNN. Langkahnya: buka gambar, ubah ke RGB tiga kanal, perkecil ke 128 kali 128 dengan metode LANCZOS, ubah ke array uint8 bernilai 0 sampai 255, lalu simpan ke array X berukuran 7200, 128, 128, 3 dan label ke y. Hasilnya 7.200 gambar berhasil, 0 gagal, tanpa NaN atau nilai tak hingga. Rata-rata piksel 47,57 dari 255 artinya gambar cenderung gelap, wajar karena latar MRI hitam. Normalisasi dibagi 255 dilakukan belakangan di pipeline TensorFlow.</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dasarnya terdiri dari empat blok konvolusi diikuti lapisan pengambil keputusan. Tiap MaxPooling membuat ukuran gambar jadi setengah, dari 128 jadi 64, 32, 16, lalu 8. Di akhir hasil 8 kali 8 kali 128 diratakan jadi 8.192 angka, lalu masuk Dense 128 neuron, Dropout, dan lapisan keluaran 4 neuron dengan Softmax. Total parameter 1.290.052 atau sekitar 4,92 MB.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ini merangkum tiap blok. Blok 1 Conv2D 32 filter 3 kali 3 dengan 896 parameter, keluaran 64, 64, 32 setelah pooling. Blok 2 64 filter 18.496 parameter. Blok 3 128 filter 73.856. Blok 4 128 filter 147.584. Flatten menghasilkan 8.192 angka tanpa parameter. Dense 128 punya 1.048.704 parameter, ini paling banyak, sekitar 81 persen dari total. Dropout baseline 0,3 tanpa parameter, dan output Dense 4 Softmax 516 parameter. Totalnya 1.290.052.</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pelatihannya: normalisasi dengan membagi piksel 255. Augmentasi opsional hanya pada data latih, berupa flip horizontal, rotasi acak faktor 0,10 atau sekitar 36 derajat, dan zoom acak 10 persen. Data diacak dengan seed 42, dikelompokkan per 32 gambar, dan di-prefetch. Optimizer yang disiapkan Adam, RMSprop, dan SGD momentum 0,9 dengan learning rate 0,0005. Ada fitur checkpoint dan resume: tiap epoch model dan riwayat disimpan ke Drive, dan terbukti berguna karena pelatihan split 90:05:05 sempat berhenti di epoch 16 lalu dilanjutkan dari epoch 17. Evaluasi menghitung accuracy, precision, recall, F1 macro, confusion matrix, dan classification report, disimpan ke CSV.</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Eksperimennya bertahap. Di tiap skenario hanya satu hal yang diubah, pengaturan lain dijaga sama, dan pemenang tiap skenario dibawa ke skenario berikutnya. Skenario 1 membandingkan tiga pembagian data. Skenario 2 tanpa dan dengan augmentasi. Skenario 3 tiga optimizer. Skenario 4 tiga nilai dropout. Semua 20 epoch, batch 32, learning rate 0,0005. Kriteria pemilihan F1 Macro tertinggi pada data uji, dipilih karena menilai keseimbangan precision dan recall di empat kelas, bukan cuma accuracy.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pembagian data dicoba dengan CNN, Adam, dropout 0,3 dan tanpa augmentasi. Hasilnya makin besar porsi data latih, makin tinggi skor: F1 0,9815 untuk 70:15:15, 0,9876 untuk 80:10:10, dan 0,9917 untuk 90:05:05. Wajar karena model dapat lebih banyak contoh belajar. Dua catatan: ukuran data uji beda tiap split (1.080, 720, 360) jadi perbandingan tidak sepenuhnya setara, dan di data uji 360 gambar satu gambar salah mengubah akurasi sekitar 0,28 poin persen, jadi selisih kecil harus dibaca hati-hati.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Dengan split 90:05:05, model dilatih dua kali: tanpa dan dengan augmentasi. Hasilnya tanpa augmentasi lebih tinggi, F1 0,9391 berbanding 0,8982. Di log pelatihan terlihat model dengan augmentasi belajar kurang stabil, akurasi validasinya turun dari 0,7056 di epoch 4 jadi 0,5056 di epoch 5, lalu naik lagi ke 0,7917 di epoch 6. Sebaliknya model tanpa augmentasi naik cukup mulus. Dugaan yang masuk akal, augmentasi bikin tugas belajar lebih sulit sehingga butuh lebih dari 20 epoch untuk kelihatan manfaatnya.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optimizer dicoba dengan split 90:05:05, tanpa augmentasi, dropout 0,3. Di notebook SGD Momentum tercatat tertinggi dengan F1 0,9694, disusul Adam 0,9664 dan RMSprop 0,9496. Tapi ada masalah penting: log RMSprop dan SGD Momentum sama-sama mencetak Optimizer: Adam. Penyebabnya fungsi train_with_resume() compile ulang model pakai optimizer bawaan Adam karena parameter optimizer_name tidak diteruskan dari Skenario 3. Jadi tiga hasil ini pada dasarnya tiga kali pelatihan Adam dengan bobot awal acak berbeda. Rentang skor 0,9496 sampai 0,9694 adalah variasi antar-run, bukan beda kemampuan optimizer. Skenario ini harus diulang setelah kode diperbaiki.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 ini menampilkan kurva accuracy training dan validation untuk ketiga optimizer di Skenario 3. Bentuk ketiga kurvanya mirip, dan ini sejalan dengan temuan sebelumnya bahwa ketiga run sebenarnya sama-sama memakai Adam. Selisih Adam dan SGD Momentum hanya 0,003 pada accuracy, setara satu gambar dari 360 gambar uji.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Skenario 4 optimizer benar-benar SGD Momentum dengan learning rate 0,0005, split 90:05:05, tanpa augmentasi. Dropout 0,3 terbaik dengan F1 0,9048, dropout 0,0 terendah 0,8712, dan 0,5 di tengah 0,8796. Pola nilai sedang paling baik sesuai teori: tanpa dropout model mudah menghafal, dropout terlalu besar bikin sulit belajar. Tapi selisihnya sekitar 3 poin dari satu kali pelatihan, belum kesimpulan kuat. Perhatikan juga skor Skenario 4 yaitu 0,87 sampai 0,90 lebih rendah dari skenario ber-Adam yaitu 0,94 sampai 0,99. SGD Momentum belajar jauh lebih lambat: akurasi latih epoch pertama cuma sekitar 0,35 untuk dropout 0,0 sedangkan Adam sudah sekitar 0,66. Dengan LR kecil dan 20 epoch, SGD kemungkinan belum konvergen.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rekap semua eksperimen. Skenario 1 terbaik split 90:05:05 dengan 0,9917. Skenario 2 tanpa augmentasi 0,9391. Skenario 3 SGD Momentum tercatat 0,9694 tapi bertanda bintang karena dikompilasi dengan Adam. Skenario 4 dropout 0,3 jadi champion dengan 0,9048. Perhatikan model champion bukan yang berskor tertinggi di seluruh studi ini.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champion memakai split 90:05:05 dengan 6.480 data latih, 360 validasi, dan 360 uji, tanpa augmentasi, SGD Momentum dengan learning rate 0,0005 dan momentum 0,9, dropout 0,3, 20 epoch, batch 32, dan 1.290.052 parameter. Dievaluasi pada 360 gambar uji, 90 per kelas, yang tidak dipakai saat latihan. Hasilnya accuracy 90,56 persen, precision macro 90,70, recall macro 90,56, F1 macro 90,48. Dari 360 gambar, 326 benar dan 34 salah, jadi sekitar 9 dari 10 gambar dikenali dengan benar. Hasil yang sama muncul di Bagian 11, 12, dan 16 notebook, jadi evaluasinya konsisten.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Kelas no tumor paling mudah dengan F1 0,967, dari 90 gambar 88 dikenali benar. Pituitary cukup baik dengan F1 0,935 dan recall tinggi 0,956. Glioma punya precision tinggi 0,923 tapi recall terendah 0,800, artinya saat menebak glioma model jarang salah tapi banyak glioma yang terlewat, 18 dari 90. Meningioma punya precision terendah 0,833 karena sering jadi tempat salah tebak kelas lain, ada 16 tebakan keliru.</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confusion matrix, angka diagonal adalah tebakan benar: glioma 72, meningioma 80, no tumor 88, pituitary 86. Kesalahan terbesar adalah glioma yang ditebak meningioma sebanyak 13 gambar, sekitar 72 persen dari 18 glioma yang terlewat. Selain itu ada 4 gambar bertumor, 2 glioma dan 2 meningioma, yang ditebak no tumor, sekitar 1,5 persen dari 270 gambar bertumor. Dalam konteks medis, kesalahan jenis ini paling perlu diwaspadai karena tumor yang terlewat bisa menunda penanganan.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Kurva menunjukkan loss turun dan akurasi naik konsisten selama 20 epoch dan belum mendatar di akhir, artinya model belum sepenuhnya konvergen dan masih bisa membaik kalau dilatih lebih lama. Epoch terbaik menurut loss validasi adalah epoch 19 dengan 0,3574, dan menurut akurasi validasi epoch 17 dengan 0,8389. Selisih akurasi latih dan validasi di akhir 0,0596, sekitar 6 poin, yang ditandai kode sebagai overfitting ringan. Tapi loss validasi masih terkendali dan data validasi hanya 360 gambar jadi wajar naik-turun. Catatan: kurva yang terbaca Bagian 13 berasal dari dropout 0,5, bukan dropout 0,3 milik champion.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menampilkan prediksi model pada contoh citra uji. Dari 360 citra, 326 benar dan 34 salah, dengan rata-rata keyakinan model 88,57 persen. Pada 15 baris pertama tabel prediksi, 14 benar dan 1 salah: citra indeks 9 adalah glioma tapi ditebak meningioma dengan keyakinan 69,03 persen. Ada juga tebakan benar dengan keyakinan rendah, misalnya indeks 7 glioma 53,90 persen dan indeks 11 pituitary 52,41 persen. Jumlah tebakan dibanding sebenarnya: glioma 78 dari 90, meningioma 96, no tumor 92, pituitary 94. Model terlalu sering menebak meningioma dan terlalu jarang menebak glioma, konsisten dengan pola glioma yang tertukar jadi meningioma.</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CNN sederhana ini bisa mengenali empat kelas dengan akurasi sekitar 90 persen pada champion dan di atas 96 persen pada beberapa percobaan ber-Adam. Artinya CNN kecil sekitar 1,3 juta parameter yang dilatih hanya di CPU sudah cukup mempelajari pola penting MRI. No tumor paling mudah dikenali, glioma dan meningioma paling sering tertukar. Kemungkinan penyebabnya: pada irisan tertentu kedua tumor tampak mirip, resize ke 128 kali 128 menghilangkan detail halus, arsitektur sederhana, dan SGD belum konvergen. Dugaan ini belum diuji dan bisa dicek lebih lanjut, misalnya dengan melihat langsung gambar yang salah tebak. Terakhir, model ini alat penelitian, bukan pengganti diagnosis tenaga medis.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tujuh temuan yang perlu dibaca jujur. Satu, perbandingan optimizer Skenario 3 belum murni karena RMSprop dan SGD dikompilasi dengan Adam, dan Skenario 4 serta champion dibangun di atas pilihan itu. Dua, champion bukan model berskor tertinggi: F1 0,9048 dibanding 0,9917 dan 0,9664 untuk konfigurasi Adam. Tiga, ada variasi antar-run: konfigurasi yang sama menghasilkan F1 0,9917, 0,9391, dan 0,9664, rentang sekitar 5 poin. Empat, pemilihan konfigurasi memakai data uji sehingga skor cenderung optimistis, dan data uji cuma 360. Lima, kurva Bagian 13 dari dropout 0,5. Enam, kemungkinan data leakage kalau ada gambar dari pasien yang sama di train dan test. Tujuh, generalisasi belum diuji karena hanya satu dataset.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Kesimpulannya ada tujuh. Pipeline lengkap berhasil dibangun, 7.200 gambar diproses tanpa gagal dan dataset seimbang. Skenario 1 split 90:05:05 terbaik dengan F1 0,9917. Skenario 2 tanpa augmentasi lebih baik, 0,9391 berbanding 0,8982, pada batas 20 epoch. Skenario 3 SGD Momentum tercatat tertinggi 0,9694 tapi perbandingannya tidak murni dan perlu diulang. Skenario 4 dropout 0,3 terbaik dan jadi champion. Champion mencapai accuracy 90,56 persen dan F1 macro 90,48 persen, kelas terbaik no tumor dan tersulit glioma dengan kesalahan utama glioma tertebak meningioma 13 gambar. Terakhir, champion bukan model berskor tertinggi, konfigurasi Adam menunjukkan potensi di atas 96 persen sedangkan SGD dengan LR 0,0005 belum konvergen.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Itu tadi hasil praktikum kami. Terima kasih sudah mendengarkan, silakan kalau ada pertanyaan atau masukan.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5"/>
                </a:solidFill>
              </a:rPr>
              <a:t>Klasifikasi Tumor Otak dengan CNN  |  Deep Learning</a:t>
            </a:r>
            <a:endParaRPr lang="en-US" sz="1000" dirty="0"/>
          </a:p>
        </p:txBody>
      </p:sp>
      <p:sp>
        <p:nvSpPr>
          <p:cNvPr id="3" name="Text 1"/>
          <p:cNvSpPr>
            <a:spLocks noGrp="1"/>
          </p:cNvSpPr>
          <p:nvPr>
            <p:ph type="title" idx="101" hasCustomPrompt="1"/>
          </p:nvPr>
        </p:nvSpPr>
        <p:spPr>
          <a:xfrm>
            <a:off x="457200" y="475488"/>
            <a:ext cx="8229600" cy="594360"/>
          </a:xfrm>
          <a:prstGeom prst="rect">
            <a:avLst/>
          </a:prstGeom>
          <a:noFill/>
          <a:ln/>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lgn="l">
              <a:buNone/>
            </a:pPr>
            <a:r>
              <a:rPr lang="en-US" sz="1200" b="1" kern="0" spc="300" dirty="0">
                <a:solidFill>
                  <a:schemeClr val="bg2"/>
                </a:solidFill>
              </a:rPr>
              <a:t>TUGAS MATA KULIAH DEEP LEARNING</a:t>
            </a:r>
            <a:endParaRPr lang="en-US" sz="1200" dirty="0"/>
          </a:p>
        </p:txBody>
      </p:sp>
      <p:sp>
        <p:nvSpPr>
          <p:cNvPr id="3" name="Text 1"/>
          <p:cNvSpPr txBox="1"/>
          <p:nvPr/>
        </p:nvSpPr>
        <p:spPr>
          <a:xfrm>
            <a:off x="548639" y="914400"/>
            <a:ext cx="8232503" cy="1737360"/>
          </a:xfrm>
          <a:prstGeom prst="rect">
            <a:avLst/>
          </a:prstGeom>
          <a:noFill/>
          <a:ln/>
        </p:spPr>
        <p:txBody>
          <a:bodyPr wrap="square" lIns="0" tIns="0" rIns="0" bIns="0" rtlCol="0" anchor="t"/>
          <a:lstStyle/>
          <a:p>
            <a:pPr marL="0" indent="0" algn="l">
              <a:buNone/>
            </a:pPr>
            <a:r>
              <a:rPr lang="en-US" sz="3400" b="1" dirty="0">
                <a:solidFill>
                  <a:schemeClr val="bg1"/>
                </a:solidFill>
                <a:latin typeface="Cambria" pitchFamily="34" charset="0"/>
                <a:ea typeface="Cambria" pitchFamily="34" charset="-122"/>
                <a:cs typeface="Cambria" pitchFamily="34" charset="-120"/>
              </a:rPr>
              <a:t>Klasifikasi Tumor Otak Menggunakan Citra MRI Berbasis CNN</a:t>
            </a:r>
            <a:endParaRPr lang="en-US" sz="3400" dirty="0"/>
          </a:p>
        </p:txBody>
      </p:sp>
      <p:sp>
        <p:nvSpPr>
          <p:cNvPr id="4" name="Text 2"/>
          <p:cNvSpPr txBox="1"/>
          <p:nvPr/>
        </p:nvSpPr>
        <p:spPr>
          <a:xfrm>
            <a:off x="548639" y="2377440"/>
            <a:ext cx="5577840" cy="365760"/>
          </a:xfrm>
          <a:prstGeom prst="rect">
            <a:avLst/>
          </a:prstGeom>
          <a:noFill/>
          <a:ln/>
        </p:spPr>
        <p:txBody>
          <a:bodyPr wrap="square" lIns="0" tIns="0" rIns="0" bIns="0" rtlCol="0" anchor="t"/>
          <a:lstStyle/>
          <a:p>
            <a:pPr marL="0" indent="0" algn="l">
              <a:buNone/>
            </a:pPr>
            <a:r>
              <a:rPr lang="en-US" sz="1600" i="1" dirty="0">
                <a:solidFill>
                  <a:schemeClr val="bg2"/>
                </a:solidFill>
              </a:rPr>
              <a:t>Convolutional Neural Network dan progressive ablation study</a:t>
            </a:r>
            <a:endParaRPr lang="en-US" sz="1600" dirty="0"/>
          </a:p>
        </p:txBody>
      </p:sp>
      <p:sp>
        <p:nvSpPr>
          <p:cNvPr id="5" name="Text 3"/>
          <p:cNvSpPr txBox="1"/>
          <p:nvPr/>
        </p:nvSpPr>
        <p:spPr>
          <a:xfrm>
            <a:off x="548640" y="3291840"/>
            <a:ext cx="5577840" cy="1005840"/>
          </a:xfrm>
          <a:prstGeom prst="rect">
            <a:avLst/>
          </a:prstGeom>
          <a:noFill/>
          <a:ln/>
        </p:spPr>
        <p:txBody>
          <a:bodyPr wrap="square" lIns="0" tIns="0" rIns="0" bIns="0" rtlCol="0" anchor="t"/>
          <a:lstStyle/>
          <a:p>
            <a:pPr marL="0" indent="0" algn="l">
              <a:spcAft>
                <a:spcPts val="200"/>
              </a:spcAft>
              <a:buNone/>
            </a:pPr>
            <a:r>
              <a:rPr lang="en-US" sz="1300" dirty="0">
                <a:solidFill>
                  <a:schemeClr val="bg1"/>
                </a:solidFill>
              </a:rPr>
              <a:t>NAMA KELOMPOK 5 :</a:t>
            </a:r>
          </a:p>
          <a:p>
            <a:pPr marL="0" indent="0" algn="l">
              <a:spcAft>
                <a:spcPts val="200"/>
              </a:spcAft>
              <a:buNone/>
            </a:pPr>
            <a:r>
              <a:rPr lang="en-US" sz="1300" dirty="0" err="1">
                <a:solidFill>
                  <a:schemeClr val="bg1"/>
                </a:solidFill>
              </a:rPr>
              <a:t>Elfina</a:t>
            </a:r>
            <a:r>
              <a:rPr lang="en-US" sz="1300" dirty="0">
                <a:solidFill>
                  <a:schemeClr val="bg1"/>
                </a:solidFill>
              </a:rPr>
              <a:t> Lukna Zunaida  (240441100013)</a:t>
            </a:r>
            <a:endParaRPr lang="en-US" sz="1300" dirty="0"/>
          </a:p>
          <a:p>
            <a:pPr marL="0" indent="0" algn="l">
              <a:spcAft>
                <a:spcPts val="200"/>
              </a:spcAft>
              <a:buNone/>
            </a:pPr>
            <a:r>
              <a:rPr lang="en-US" sz="1300" dirty="0">
                <a:solidFill>
                  <a:schemeClr val="bg1"/>
                </a:solidFill>
              </a:rPr>
              <a:t>Nayzila Sukma Laudyandana  (240441100037)</a:t>
            </a:r>
            <a:endParaRPr lang="en-US" sz="1300" dirty="0"/>
          </a:p>
          <a:p>
            <a:pPr marL="0" indent="0" algn="l">
              <a:spcAft>
                <a:spcPts val="200"/>
              </a:spcAft>
              <a:buNone/>
            </a:pPr>
            <a:r>
              <a:rPr lang="en-US" sz="1300" dirty="0">
                <a:solidFill>
                  <a:schemeClr val="bg1"/>
                </a:solidFill>
              </a:rPr>
              <a:t>Tsabita Shafa Aurellia  (240441100052)</a:t>
            </a:r>
            <a:endParaRPr lang="en-US" sz="1300" dirty="0"/>
          </a:p>
          <a:p>
            <a:pPr marL="0" indent="0" algn="l">
              <a:spcAft>
                <a:spcPts val="200"/>
              </a:spcAft>
              <a:buNone/>
            </a:pPr>
            <a:r>
              <a:rPr lang="en-US" sz="1300" dirty="0">
                <a:solidFill>
                  <a:schemeClr val="bg1"/>
                </a:solidFill>
              </a:rPr>
              <a:t>Putri Eka Safira  (240441100087)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Alur presentasi</a:t>
            </a:r>
            <a:endParaRPr lang="en-US" sz="2800" dirty="0"/>
          </a:p>
        </p:txBody>
      </p:sp>
      <p:sp>
        <p:nvSpPr>
          <p:cNvPr id="5" name="Agenda item"/>
          <p:cNvSpPr/>
          <p:nvPr/>
        </p:nvSpPr>
        <p:spPr>
          <a:xfrm>
            <a:off x="457200" y="1280160"/>
            <a:ext cx="4023360" cy="731520"/>
          </a:xfrm>
          <a:prstGeom prst="roundRect">
            <a:avLst>
              <a:gd name="adj" fmla="val 12500"/>
            </a:avLst>
          </a:prstGeom>
          <a:solidFill>
            <a:schemeClr val="bg2"/>
          </a:solidFill>
          <a:ln/>
        </p:spPr>
      </p:sp>
      <p:sp>
        <p:nvSpPr>
          <p:cNvPr id="6" name="Badge"/>
          <p:cNvSpPr/>
          <p:nvPr/>
        </p:nvSpPr>
        <p:spPr>
          <a:xfrm>
            <a:off x="594360" y="1408176"/>
            <a:ext cx="475488" cy="475488"/>
          </a:xfrm>
          <a:prstGeom prst="ellipse">
            <a:avLst/>
          </a:prstGeom>
          <a:solidFill>
            <a:schemeClr val="accent1"/>
          </a:solidFill>
          <a:ln/>
        </p:spPr>
      </p:sp>
      <p:sp>
        <p:nvSpPr>
          <p:cNvPr id="7" name="Text 4"/>
          <p:cNvSpPr txBox="1"/>
          <p:nvPr/>
        </p:nvSpPr>
        <p:spPr>
          <a:xfrm>
            <a:off x="594360" y="1408176"/>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8" name="Text 5"/>
          <p:cNvSpPr txBox="1"/>
          <p:nvPr/>
        </p:nvSpPr>
        <p:spPr>
          <a:xfrm>
            <a:off x="1234440" y="1371600"/>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Pendahuluan</a:t>
            </a:r>
            <a:endParaRPr lang="en-US" sz="1600" dirty="0"/>
          </a:p>
        </p:txBody>
      </p:sp>
      <p:sp>
        <p:nvSpPr>
          <p:cNvPr id="9" name="Text 6"/>
          <p:cNvSpPr txBox="1"/>
          <p:nvPr/>
        </p:nvSpPr>
        <p:spPr>
          <a:xfrm>
            <a:off x="1234440" y="1664208"/>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Latar belakang, tujuan, batasan</a:t>
            </a:r>
            <a:endParaRPr lang="en-US" sz="1200" dirty="0"/>
          </a:p>
        </p:txBody>
      </p:sp>
      <p:sp>
        <p:nvSpPr>
          <p:cNvPr id="10" name="Agenda item"/>
          <p:cNvSpPr/>
          <p:nvPr/>
        </p:nvSpPr>
        <p:spPr>
          <a:xfrm>
            <a:off x="457200" y="2121408"/>
            <a:ext cx="4023360" cy="731520"/>
          </a:xfrm>
          <a:prstGeom prst="roundRect">
            <a:avLst>
              <a:gd name="adj" fmla="val 12500"/>
            </a:avLst>
          </a:prstGeom>
          <a:solidFill>
            <a:schemeClr val="bg2"/>
          </a:solidFill>
          <a:ln/>
        </p:spPr>
      </p:sp>
      <p:sp>
        <p:nvSpPr>
          <p:cNvPr id="11" name="Badge"/>
          <p:cNvSpPr/>
          <p:nvPr/>
        </p:nvSpPr>
        <p:spPr>
          <a:xfrm>
            <a:off x="594360" y="2249424"/>
            <a:ext cx="475488" cy="475488"/>
          </a:xfrm>
          <a:prstGeom prst="ellipse">
            <a:avLst/>
          </a:prstGeom>
          <a:solidFill>
            <a:schemeClr val="accent1"/>
          </a:solidFill>
          <a:ln/>
        </p:spPr>
      </p:sp>
      <p:sp>
        <p:nvSpPr>
          <p:cNvPr id="12" name="Text 9"/>
          <p:cNvSpPr txBox="1"/>
          <p:nvPr/>
        </p:nvSpPr>
        <p:spPr>
          <a:xfrm>
            <a:off x="594360" y="2249424"/>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Text 10"/>
          <p:cNvSpPr txBox="1"/>
          <p:nvPr/>
        </p:nvSpPr>
        <p:spPr>
          <a:xfrm>
            <a:off x="1234440" y="2212848"/>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Dasar Teori</a:t>
            </a:r>
            <a:endParaRPr lang="en-US" sz="1600" dirty="0"/>
          </a:p>
        </p:txBody>
      </p:sp>
      <p:sp>
        <p:nvSpPr>
          <p:cNvPr id="14" name="Text 11"/>
          <p:cNvSpPr txBox="1"/>
          <p:nvPr/>
        </p:nvSpPr>
        <p:spPr>
          <a:xfrm>
            <a:off x="1234440" y="2505456"/>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Kelas, CNN, metrik, confusion matrix</a:t>
            </a:r>
            <a:endParaRPr lang="en-US" sz="1200" dirty="0"/>
          </a:p>
        </p:txBody>
      </p:sp>
      <p:sp>
        <p:nvSpPr>
          <p:cNvPr id="15" name="Agenda item"/>
          <p:cNvSpPr/>
          <p:nvPr/>
        </p:nvSpPr>
        <p:spPr>
          <a:xfrm>
            <a:off x="457200" y="2962656"/>
            <a:ext cx="4023360" cy="731520"/>
          </a:xfrm>
          <a:prstGeom prst="roundRect">
            <a:avLst>
              <a:gd name="adj" fmla="val 12500"/>
            </a:avLst>
          </a:prstGeom>
          <a:solidFill>
            <a:schemeClr val="bg2"/>
          </a:solidFill>
          <a:ln/>
        </p:spPr>
      </p:sp>
      <p:sp>
        <p:nvSpPr>
          <p:cNvPr id="16" name="Badge"/>
          <p:cNvSpPr/>
          <p:nvPr/>
        </p:nvSpPr>
        <p:spPr>
          <a:xfrm>
            <a:off x="594360" y="3090672"/>
            <a:ext cx="475488" cy="475488"/>
          </a:xfrm>
          <a:prstGeom prst="ellipse">
            <a:avLst/>
          </a:prstGeom>
          <a:solidFill>
            <a:schemeClr val="accent1"/>
          </a:solidFill>
          <a:ln/>
        </p:spPr>
      </p:sp>
      <p:sp>
        <p:nvSpPr>
          <p:cNvPr id="17" name="Text 14"/>
          <p:cNvSpPr txBox="1"/>
          <p:nvPr/>
        </p:nvSpPr>
        <p:spPr>
          <a:xfrm>
            <a:off x="594360" y="3090672"/>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8" name="Text 15"/>
          <p:cNvSpPr txBox="1"/>
          <p:nvPr/>
        </p:nvSpPr>
        <p:spPr>
          <a:xfrm>
            <a:off x="1234440" y="3054096"/>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Metodologi</a:t>
            </a:r>
            <a:endParaRPr lang="en-US" sz="1600" dirty="0"/>
          </a:p>
        </p:txBody>
      </p:sp>
      <p:sp>
        <p:nvSpPr>
          <p:cNvPr id="19" name="Text 16"/>
          <p:cNvSpPr txBox="1"/>
          <p:nvPr/>
        </p:nvSpPr>
        <p:spPr>
          <a:xfrm>
            <a:off x="1234440" y="3346704"/>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Dataset, preprocessing, arsitektur, rancangan eksperimen</a:t>
            </a:r>
            <a:endParaRPr lang="en-US" sz="1200" dirty="0"/>
          </a:p>
        </p:txBody>
      </p:sp>
      <p:sp>
        <p:nvSpPr>
          <p:cNvPr id="20" name="Agenda item"/>
          <p:cNvSpPr/>
          <p:nvPr/>
        </p:nvSpPr>
        <p:spPr>
          <a:xfrm>
            <a:off x="457200" y="3803904"/>
            <a:ext cx="4023360" cy="731520"/>
          </a:xfrm>
          <a:prstGeom prst="roundRect">
            <a:avLst>
              <a:gd name="adj" fmla="val 12500"/>
            </a:avLst>
          </a:prstGeom>
          <a:solidFill>
            <a:schemeClr val="bg2"/>
          </a:solidFill>
          <a:ln/>
        </p:spPr>
      </p:sp>
      <p:sp>
        <p:nvSpPr>
          <p:cNvPr id="21" name="Badge"/>
          <p:cNvSpPr/>
          <p:nvPr/>
        </p:nvSpPr>
        <p:spPr>
          <a:xfrm>
            <a:off x="594360" y="3931920"/>
            <a:ext cx="475488" cy="475488"/>
          </a:xfrm>
          <a:prstGeom prst="ellipse">
            <a:avLst/>
          </a:prstGeom>
          <a:solidFill>
            <a:schemeClr val="accent2"/>
          </a:solidFill>
          <a:ln/>
        </p:spPr>
      </p:sp>
      <p:sp>
        <p:nvSpPr>
          <p:cNvPr id="22" name="Text 19"/>
          <p:cNvSpPr txBox="1"/>
          <p:nvPr/>
        </p:nvSpPr>
        <p:spPr>
          <a:xfrm>
            <a:off x="594360" y="3931920"/>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3" name="Text 20"/>
          <p:cNvSpPr txBox="1"/>
          <p:nvPr/>
        </p:nvSpPr>
        <p:spPr>
          <a:xfrm>
            <a:off x="1234440" y="3895344"/>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Hasil Eksperimen</a:t>
            </a:r>
            <a:endParaRPr lang="en-US" sz="1600" dirty="0"/>
          </a:p>
        </p:txBody>
      </p:sp>
      <p:sp>
        <p:nvSpPr>
          <p:cNvPr id="24" name="Text 21"/>
          <p:cNvSpPr txBox="1"/>
          <p:nvPr/>
        </p:nvSpPr>
        <p:spPr>
          <a:xfrm>
            <a:off x="1234440" y="4187952"/>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Empat skenario dan rekap</a:t>
            </a:r>
            <a:endParaRPr lang="en-US" sz="1200" dirty="0"/>
          </a:p>
        </p:txBody>
      </p:sp>
      <p:sp>
        <p:nvSpPr>
          <p:cNvPr id="25" name="Agenda item"/>
          <p:cNvSpPr/>
          <p:nvPr/>
        </p:nvSpPr>
        <p:spPr>
          <a:xfrm>
            <a:off x="4663440" y="1280160"/>
            <a:ext cx="4023360" cy="731520"/>
          </a:xfrm>
          <a:prstGeom prst="roundRect">
            <a:avLst>
              <a:gd name="adj" fmla="val 12500"/>
            </a:avLst>
          </a:prstGeom>
          <a:solidFill>
            <a:schemeClr val="bg2"/>
          </a:solidFill>
          <a:ln/>
        </p:spPr>
      </p:sp>
      <p:sp>
        <p:nvSpPr>
          <p:cNvPr id="26" name="Badge"/>
          <p:cNvSpPr/>
          <p:nvPr/>
        </p:nvSpPr>
        <p:spPr>
          <a:xfrm>
            <a:off x="4800600" y="1408176"/>
            <a:ext cx="475488" cy="475488"/>
          </a:xfrm>
          <a:prstGeom prst="ellipse">
            <a:avLst/>
          </a:prstGeom>
          <a:solidFill>
            <a:schemeClr val="accent2"/>
          </a:solidFill>
          <a:ln/>
        </p:spPr>
      </p:sp>
      <p:sp>
        <p:nvSpPr>
          <p:cNvPr id="27" name="Text 24"/>
          <p:cNvSpPr txBox="1"/>
          <p:nvPr/>
        </p:nvSpPr>
        <p:spPr>
          <a:xfrm>
            <a:off x="4800600" y="1408176"/>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8" name="Text 25"/>
          <p:cNvSpPr txBox="1"/>
          <p:nvPr/>
        </p:nvSpPr>
        <p:spPr>
          <a:xfrm>
            <a:off x="5440680" y="1371600"/>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Evaluasi Model Akhir</a:t>
            </a:r>
            <a:endParaRPr lang="en-US" sz="1600" dirty="0"/>
          </a:p>
        </p:txBody>
      </p:sp>
      <p:sp>
        <p:nvSpPr>
          <p:cNvPr id="29" name="Text 26"/>
          <p:cNvSpPr txBox="1"/>
          <p:nvPr/>
        </p:nvSpPr>
        <p:spPr>
          <a:xfrm>
            <a:off x="5440680" y="1664208"/>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Metrik, per kelas, kurva, prediksi</a:t>
            </a:r>
            <a:endParaRPr lang="en-US" sz="1200" dirty="0"/>
          </a:p>
        </p:txBody>
      </p:sp>
      <p:sp>
        <p:nvSpPr>
          <p:cNvPr id="30" name="Agenda item"/>
          <p:cNvSpPr/>
          <p:nvPr/>
        </p:nvSpPr>
        <p:spPr>
          <a:xfrm>
            <a:off x="4663440" y="2121408"/>
            <a:ext cx="4023360" cy="731520"/>
          </a:xfrm>
          <a:prstGeom prst="roundRect">
            <a:avLst>
              <a:gd name="adj" fmla="val 12500"/>
            </a:avLst>
          </a:prstGeom>
          <a:solidFill>
            <a:schemeClr val="bg2"/>
          </a:solidFill>
          <a:ln/>
        </p:spPr>
      </p:sp>
      <p:sp>
        <p:nvSpPr>
          <p:cNvPr id="31" name="Badge"/>
          <p:cNvSpPr/>
          <p:nvPr/>
        </p:nvSpPr>
        <p:spPr>
          <a:xfrm>
            <a:off x="4800600" y="2249424"/>
            <a:ext cx="475488" cy="475488"/>
          </a:xfrm>
          <a:prstGeom prst="ellipse">
            <a:avLst/>
          </a:prstGeom>
          <a:solidFill>
            <a:schemeClr val="accent1"/>
          </a:solidFill>
          <a:ln/>
        </p:spPr>
      </p:sp>
      <p:sp>
        <p:nvSpPr>
          <p:cNvPr id="32" name="Text 29"/>
          <p:cNvSpPr txBox="1"/>
          <p:nvPr/>
        </p:nvSpPr>
        <p:spPr>
          <a:xfrm>
            <a:off x="4800600" y="2249424"/>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3" name="Text 30"/>
          <p:cNvSpPr txBox="1"/>
          <p:nvPr/>
        </p:nvSpPr>
        <p:spPr>
          <a:xfrm>
            <a:off x="5440680" y="2212848"/>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Pembahasan</a:t>
            </a:r>
            <a:endParaRPr lang="en-US" sz="1600" dirty="0"/>
          </a:p>
        </p:txBody>
      </p:sp>
      <p:sp>
        <p:nvSpPr>
          <p:cNvPr id="34" name="Text 31"/>
          <p:cNvSpPr txBox="1"/>
          <p:nvPr/>
        </p:nvSpPr>
        <p:spPr>
          <a:xfrm>
            <a:off x="5440680" y="2505456"/>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Makna hasil, temuan, keterbatasan</a:t>
            </a:r>
            <a:endParaRPr lang="en-US" sz="1200" dirty="0"/>
          </a:p>
        </p:txBody>
      </p:sp>
      <p:sp>
        <p:nvSpPr>
          <p:cNvPr id="35" name="Agenda item"/>
          <p:cNvSpPr/>
          <p:nvPr/>
        </p:nvSpPr>
        <p:spPr>
          <a:xfrm>
            <a:off x="4663440" y="2962656"/>
            <a:ext cx="4023360" cy="731520"/>
          </a:xfrm>
          <a:prstGeom prst="roundRect">
            <a:avLst>
              <a:gd name="adj" fmla="val 12500"/>
            </a:avLst>
          </a:prstGeom>
          <a:solidFill>
            <a:schemeClr val="bg2"/>
          </a:solidFill>
          <a:ln/>
        </p:spPr>
      </p:sp>
      <p:sp>
        <p:nvSpPr>
          <p:cNvPr id="36" name="Badge"/>
          <p:cNvSpPr/>
          <p:nvPr/>
        </p:nvSpPr>
        <p:spPr>
          <a:xfrm>
            <a:off x="4800600" y="3090672"/>
            <a:ext cx="475488" cy="475488"/>
          </a:xfrm>
          <a:prstGeom prst="ellipse">
            <a:avLst/>
          </a:prstGeom>
          <a:solidFill>
            <a:schemeClr val="accent1"/>
          </a:solidFill>
          <a:ln/>
        </p:spPr>
      </p:sp>
      <p:sp>
        <p:nvSpPr>
          <p:cNvPr id="37" name="Text 34"/>
          <p:cNvSpPr txBox="1"/>
          <p:nvPr/>
        </p:nvSpPr>
        <p:spPr>
          <a:xfrm>
            <a:off x="4800600" y="3090672"/>
            <a:ext cx="475488" cy="475488"/>
          </a:xfrm>
          <a:prstGeom prst="rect">
            <a:avLst/>
          </a:prstGeom>
          <a:no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38" name="Text 35"/>
          <p:cNvSpPr txBox="1"/>
          <p:nvPr/>
        </p:nvSpPr>
        <p:spPr>
          <a:xfrm>
            <a:off x="5440680" y="3054096"/>
            <a:ext cx="3108960" cy="274320"/>
          </a:xfrm>
          <a:prstGeom prst="rect">
            <a:avLst/>
          </a:prstGeom>
          <a:noFill/>
          <a:ln/>
        </p:spPr>
        <p:txBody>
          <a:bodyPr wrap="square" lIns="0" tIns="0" rIns="0" bIns="0" rtlCol="0" anchor="t"/>
          <a:lstStyle/>
          <a:p>
            <a:pPr marL="0" indent="0" algn="l">
              <a:buNone/>
            </a:pPr>
            <a:r>
              <a:rPr lang="en-US" sz="1600" b="1" dirty="0">
                <a:solidFill>
                  <a:schemeClr val="tx2"/>
                </a:solidFill>
              </a:rPr>
              <a:t>Kesimpulan dan Saran</a:t>
            </a:r>
            <a:endParaRPr lang="en-US" sz="1600" dirty="0"/>
          </a:p>
        </p:txBody>
      </p:sp>
      <p:sp>
        <p:nvSpPr>
          <p:cNvPr id="39" name="Text 36"/>
          <p:cNvSpPr txBox="1"/>
          <p:nvPr/>
        </p:nvSpPr>
        <p:spPr>
          <a:xfrm>
            <a:off x="5440680" y="3346704"/>
            <a:ext cx="3108960" cy="274320"/>
          </a:xfrm>
          <a:prstGeom prst="rect">
            <a:avLst/>
          </a:prstGeom>
          <a:noFill/>
          <a:ln/>
        </p:spPr>
        <p:txBody>
          <a:bodyPr wrap="square" lIns="0" tIns="0" rIns="0" bIns="0" rtlCol="0" anchor="t"/>
          <a:lstStyle/>
          <a:p>
            <a:pPr marL="0" indent="0" algn="l">
              <a:buNone/>
            </a:pPr>
            <a:r>
              <a:rPr lang="en-US" sz="1200" dirty="0">
                <a:solidFill>
                  <a:schemeClr val="tx1"/>
                </a:solidFill>
              </a:rPr>
              <a:t>Ringkasan dan perbaikan ke depan</a:t>
            </a:r>
            <a:endParaRPr lang="en-US" sz="12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Kenapa MRI otak perlu bantuan AI?</a:t>
            </a:r>
            <a:endParaRPr lang="en-US" sz="2800" dirty="0"/>
          </a:p>
        </p:txBody>
      </p:sp>
      <p:sp>
        <p:nvSpPr>
          <p:cNvPr id="5" name="Badge"/>
          <p:cNvSpPr/>
          <p:nvPr/>
        </p:nvSpPr>
        <p:spPr>
          <a:xfrm>
            <a:off x="457200" y="1371600"/>
            <a:ext cx="457200" cy="457200"/>
          </a:xfrm>
          <a:prstGeom prst="ellipse">
            <a:avLst/>
          </a:prstGeom>
          <a:solidFill>
            <a:schemeClr val="accent1"/>
          </a:solidFill>
          <a:ln/>
        </p:spPr>
      </p:sp>
      <p:sp>
        <p:nvSpPr>
          <p:cNvPr id="6" name="Text 3"/>
          <p:cNvSpPr txBox="1"/>
          <p:nvPr/>
        </p:nvSpPr>
        <p:spPr>
          <a:xfrm>
            <a:off x="457200" y="13716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Text 4"/>
          <p:cNvSpPr txBox="1"/>
          <p:nvPr/>
        </p:nvSpPr>
        <p:spPr>
          <a:xfrm>
            <a:off x="1097280" y="1325880"/>
            <a:ext cx="4114800" cy="777240"/>
          </a:xfrm>
          <a:prstGeom prst="rect">
            <a:avLst/>
          </a:prstGeom>
          <a:noFill/>
          <a:ln/>
        </p:spPr>
        <p:txBody>
          <a:bodyPr wrap="square" lIns="0" tIns="0" rIns="0" bIns="0" rtlCol="0" anchor="ctr"/>
          <a:lstStyle/>
          <a:p>
            <a:pPr marL="0" indent="0" algn="l">
              <a:buNone/>
            </a:pPr>
            <a:r>
              <a:rPr lang="en-US" sz="1500" dirty="0">
                <a:solidFill>
                  <a:schemeClr val="tx1"/>
                </a:solidFill>
              </a:rPr>
              <a:t>Tumor otak adalah pertumbuhan sel tidak normal di dalam atau sekitar otak.</a:t>
            </a:r>
            <a:endParaRPr lang="en-US" sz="1500" dirty="0"/>
          </a:p>
        </p:txBody>
      </p:sp>
      <p:sp>
        <p:nvSpPr>
          <p:cNvPr id="8" name="Badge"/>
          <p:cNvSpPr/>
          <p:nvPr/>
        </p:nvSpPr>
        <p:spPr>
          <a:xfrm>
            <a:off x="457200" y="2267712"/>
            <a:ext cx="457200" cy="457200"/>
          </a:xfrm>
          <a:prstGeom prst="ellipse">
            <a:avLst/>
          </a:prstGeom>
          <a:solidFill>
            <a:schemeClr val="accent1"/>
          </a:solidFill>
          <a:ln/>
        </p:spPr>
      </p:sp>
      <p:sp>
        <p:nvSpPr>
          <p:cNvPr id="9" name="Text 6"/>
          <p:cNvSpPr txBox="1"/>
          <p:nvPr/>
        </p:nvSpPr>
        <p:spPr>
          <a:xfrm>
            <a:off x="457200" y="226771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Text 7"/>
          <p:cNvSpPr txBox="1"/>
          <p:nvPr/>
        </p:nvSpPr>
        <p:spPr>
          <a:xfrm>
            <a:off x="1097280" y="2221992"/>
            <a:ext cx="4114800" cy="777240"/>
          </a:xfrm>
          <a:prstGeom prst="rect">
            <a:avLst/>
          </a:prstGeom>
          <a:noFill/>
          <a:ln/>
        </p:spPr>
        <p:txBody>
          <a:bodyPr wrap="square" lIns="0" tIns="0" rIns="0" bIns="0" rtlCol="0" anchor="ctr"/>
          <a:lstStyle/>
          <a:p>
            <a:pPr marL="0" indent="0" algn="l">
              <a:buNone/>
            </a:pPr>
            <a:r>
              <a:rPr lang="en-US" sz="1500" dirty="0">
                <a:solidFill>
                  <a:schemeClr val="tx1"/>
                </a:solidFill>
              </a:rPr>
              <a:t>MRI menghasilkan gambar rinci, tapi membacanya butuh dokter spesialis dan waktu lama.</a:t>
            </a:r>
            <a:endParaRPr lang="en-US" sz="1500" dirty="0"/>
          </a:p>
        </p:txBody>
      </p:sp>
      <p:sp>
        <p:nvSpPr>
          <p:cNvPr id="11" name="Badge"/>
          <p:cNvSpPr/>
          <p:nvPr/>
        </p:nvSpPr>
        <p:spPr>
          <a:xfrm>
            <a:off x="457200" y="3163824"/>
            <a:ext cx="457200" cy="457200"/>
          </a:xfrm>
          <a:prstGeom prst="ellipse">
            <a:avLst/>
          </a:prstGeom>
          <a:solidFill>
            <a:schemeClr val="accent1"/>
          </a:solidFill>
          <a:ln/>
        </p:spPr>
      </p:sp>
      <p:sp>
        <p:nvSpPr>
          <p:cNvPr id="12" name="Text 9"/>
          <p:cNvSpPr txBox="1"/>
          <p:nvPr/>
        </p:nvSpPr>
        <p:spPr>
          <a:xfrm>
            <a:off x="457200" y="316382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Text 10"/>
          <p:cNvSpPr txBox="1"/>
          <p:nvPr/>
        </p:nvSpPr>
        <p:spPr>
          <a:xfrm>
            <a:off x="1097280" y="3118104"/>
            <a:ext cx="4114800" cy="777240"/>
          </a:xfrm>
          <a:prstGeom prst="rect">
            <a:avLst/>
          </a:prstGeom>
          <a:noFill/>
          <a:ln/>
        </p:spPr>
        <p:txBody>
          <a:bodyPr wrap="square" lIns="0" tIns="0" rIns="0" bIns="0" rtlCol="0" anchor="ctr"/>
          <a:lstStyle/>
          <a:p>
            <a:pPr marL="0" indent="0" algn="l">
              <a:buNone/>
            </a:pPr>
            <a:r>
              <a:rPr lang="en-US" sz="1500" dirty="0">
                <a:solidFill>
                  <a:schemeClr val="tx1"/>
                </a:solidFill>
              </a:rPr>
              <a:t>CNN dilatih mengelompokkan MRI ke 4 kelas, lalu pengaturannya dibandingkan satu per satu (progressive ablation).</a:t>
            </a:r>
            <a:endParaRPr lang="en-US" sz="1500" dirty="0"/>
          </a:p>
        </p:txBody>
      </p:sp>
      <p:sp>
        <p:nvSpPr>
          <p:cNvPr id="16" name="Frame"/>
          <p:cNvSpPr/>
          <p:nvPr/>
        </p:nvSpPr>
        <p:spPr>
          <a:xfrm>
            <a:off x="5532120" y="1393269"/>
            <a:ext cx="3200400" cy="3111341"/>
          </a:xfrm>
          <a:prstGeom prst="rect">
            <a:avLst/>
          </a:prstGeom>
          <a:solidFill>
            <a:schemeClr val="bg1"/>
          </a:solidFill>
          <a:ln w="12700">
            <a:solidFill>
              <a:schemeClr val="bg2"/>
            </a:solidFill>
            <a:prstDash val="solid"/>
          </a:ln>
        </p:spPr>
      </p:sp>
      <p:pic>
        <p:nvPicPr>
          <p:cNvPr id="17" name="Gambar 2" descr="/tmp/claude-0/-home-claude/949ac0f0-f744-5c10-baa6-0b053e3f7a1d/scratchpad/doc/img/image2.png"/>
          <p:cNvPicPr>
            <a:picLocks noChangeAspect="1"/>
          </p:cNvPicPr>
          <p:nvPr/>
        </p:nvPicPr>
        <p:blipFill>
          <a:blip r:embed="rId3"/>
          <a:stretch>
            <a:fillRect/>
          </a:stretch>
        </p:blipFill>
        <p:spPr>
          <a:xfrm>
            <a:off x="5577840" y="1438989"/>
            <a:ext cx="3108960" cy="3019901"/>
          </a:xfrm>
          <a:prstGeom prst="rect">
            <a:avLst/>
          </a:prstGeom>
        </p:spPr>
      </p:pic>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Lima tujuan praktikum</a:t>
            </a:r>
            <a:endParaRPr lang="en-US" sz="2800" dirty="0"/>
          </a:p>
        </p:txBody>
      </p:sp>
      <p:sp>
        <p:nvSpPr>
          <p:cNvPr id="5" name="Tujuan"/>
          <p:cNvSpPr/>
          <p:nvPr/>
        </p:nvSpPr>
        <p:spPr>
          <a:xfrm>
            <a:off x="457200" y="1325880"/>
            <a:ext cx="2651760" cy="1554480"/>
          </a:xfrm>
          <a:prstGeom prst="roundRect">
            <a:avLst>
              <a:gd name="adj" fmla="val 5882"/>
            </a:avLst>
          </a:prstGeom>
          <a:solidFill>
            <a:schemeClr val="bg2"/>
          </a:solidFill>
          <a:ln/>
        </p:spPr>
      </p:sp>
      <p:sp>
        <p:nvSpPr>
          <p:cNvPr id="6" name="Badge"/>
          <p:cNvSpPr/>
          <p:nvPr/>
        </p:nvSpPr>
        <p:spPr>
          <a:xfrm>
            <a:off x="640080" y="1508760"/>
            <a:ext cx="457200" cy="457200"/>
          </a:xfrm>
          <a:prstGeom prst="ellipse">
            <a:avLst/>
          </a:prstGeom>
          <a:solidFill>
            <a:schemeClr val="accent1"/>
          </a:solidFill>
          <a:ln/>
        </p:spPr>
      </p:sp>
      <p:sp>
        <p:nvSpPr>
          <p:cNvPr id="7" name="Text 4"/>
          <p:cNvSpPr txBox="1"/>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640080" y="2075688"/>
            <a:ext cx="2286000" cy="685800"/>
          </a:xfrm>
          <a:prstGeom prst="rect">
            <a:avLst/>
          </a:prstGeom>
          <a:noFill/>
          <a:ln/>
        </p:spPr>
        <p:txBody>
          <a:bodyPr wrap="square" lIns="0" tIns="0" rIns="0" bIns="0" rtlCol="0" anchor="t"/>
          <a:lstStyle/>
          <a:p>
            <a:pPr marL="0" indent="0" algn="l">
              <a:buNone/>
            </a:pPr>
            <a:r>
              <a:rPr lang="en-US" sz="1400" dirty="0">
                <a:solidFill>
                  <a:schemeClr val="tx1"/>
                </a:solidFill>
              </a:rPr>
              <a:t>Membangun CNN untuk klasifikasi MRI otak ke 4 kelas</a:t>
            </a:r>
            <a:endParaRPr lang="en-US" sz="1400" dirty="0"/>
          </a:p>
        </p:txBody>
      </p:sp>
      <p:sp>
        <p:nvSpPr>
          <p:cNvPr id="9" name="Tujuan"/>
          <p:cNvSpPr/>
          <p:nvPr/>
        </p:nvSpPr>
        <p:spPr>
          <a:xfrm>
            <a:off x="3246120" y="1325880"/>
            <a:ext cx="2651760" cy="1554480"/>
          </a:xfrm>
          <a:prstGeom prst="roundRect">
            <a:avLst>
              <a:gd name="adj" fmla="val 5882"/>
            </a:avLst>
          </a:prstGeom>
          <a:solidFill>
            <a:schemeClr val="bg2"/>
          </a:solidFill>
          <a:ln/>
        </p:spPr>
      </p:sp>
      <p:sp>
        <p:nvSpPr>
          <p:cNvPr id="10" name="Badge"/>
          <p:cNvSpPr/>
          <p:nvPr/>
        </p:nvSpPr>
        <p:spPr>
          <a:xfrm>
            <a:off x="3429000" y="1508760"/>
            <a:ext cx="457200" cy="457200"/>
          </a:xfrm>
          <a:prstGeom prst="ellipse">
            <a:avLst/>
          </a:prstGeom>
          <a:solidFill>
            <a:schemeClr val="accent1"/>
          </a:solidFill>
          <a:ln/>
        </p:spPr>
      </p:sp>
      <p:sp>
        <p:nvSpPr>
          <p:cNvPr id="11" name="Text 8"/>
          <p:cNvSpPr txBox="1"/>
          <p:nvPr/>
        </p:nvSpPr>
        <p:spPr>
          <a:xfrm>
            <a:off x="3429000" y="1508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Text 9"/>
          <p:cNvSpPr txBox="1"/>
          <p:nvPr/>
        </p:nvSpPr>
        <p:spPr>
          <a:xfrm>
            <a:off x="3429000" y="2075688"/>
            <a:ext cx="2286000" cy="685800"/>
          </a:xfrm>
          <a:prstGeom prst="rect">
            <a:avLst/>
          </a:prstGeom>
          <a:noFill/>
          <a:ln/>
        </p:spPr>
        <p:txBody>
          <a:bodyPr wrap="square" lIns="0" tIns="0" rIns="0" bIns="0" rtlCol="0" anchor="t"/>
          <a:lstStyle/>
          <a:p>
            <a:pPr marL="0" indent="0" algn="l">
              <a:buNone/>
            </a:pPr>
            <a:r>
              <a:rPr lang="en-US" sz="1400" dirty="0">
                <a:solidFill>
                  <a:schemeClr val="tx1"/>
                </a:solidFill>
              </a:rPr>
              <a:t>Menyiapkan dan memeriksa dataset: muat, cek, preprocessing, eksplorasi</a:t>
            </a:r>
            <a:endParaRPr lang="en-US" sz="1400" dirty="0"/>
          </a:p>
        </p:txBody>
      </p:sp>
      <p:sp>
        <p:nvSpPr>
          <p:cNvPr id="13" name="Tujuan"/>
          <p:cNvSpPr/>
          <p:nvPr/>
        </p:nvSpPr>
        <p:spPr>
          <a:xfrm>
            <a:off x="6035040" y="1325880"/>
            <a:ext cx="2651760" cy="1554480"/>
          </a:xfrm>
          <a:prstGeom prst="roundRect">
            <a:avLst>
              <a:gd name="adj" fmla="val 5882"/>
            </a:avLst>
          </a:prstGeom>
          <a:solidFill>
            <a:schemeClr val="bg2"/>
          </a:solidFill>
          <a:ln/>
        </p:spPr>
      </p:sp>
      <p:sp>
        <p:nvSpPr>
          <p:cNvPr id="14" name="Badge"/>
          <p:cNvSpPr/>
          <p:nvPr/>
        </p:nvSpPr>
        <p:spPr>
          <a:xfrm>
            <a:off x="6217920" y="1508760"/>
            <a:ext cx="457200" cy="457200"/>
          </a:xfrm>
          <a:prstGeom prst="ellipse">
            <a:avLst/>
          </a:prstGeom>
          <a:solidFill>
            <a:schemeClr val="accent1"/>
          </a:solidFill>
          <a:ln/>
        </p:spPr>
      </p:sp>
      <p:sp>
        <p:nvSpPr>
          <p:cNvPr id="15" name="Text 12"/>
          <p:cNvSpPr txBox="1"/>
          <p:nvPr/>
        </p:nvSpPr>
        <p:spPr>
          <a:xfrm>
            <a:off x="6217920" y="15087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3"/>
          <p:cNvSpPr txBox="1"/>
          <p:nvPr/>
        </p:nvSpPr>
        <p:spPr>
          <a:xfrm>
            <a:off x="6217920" y="2075688"/>
            <a:ext cx="2286000" cy="685800"/>
          </a:xfrm>
          <a:prstGeom prst="rect">
            <a:avLst/>
          </a:prstGeom>
          <a:noFill/>
          <a:ln/>
        </p:spPr>
        <p:txBody>
          <a:bodyPr wrap="square" lIns="0" tIns="0" rIns="0" bIns="0" rtlCol="0" anchor="t"/>
          <a:lstStyle/>
          <a:p>
            <a:pPr marL="0" indent="0" algn="l">
              <a:buNone/>
            </a:pPr>
            <a:r>
              <a:rPr lang="en-US" sz="1400" dirty="0">
                <a:solidFill>
                  <a:schemeClr val="tx1"/>
                </a:solidFill>
              </a:rPr>
              <a:t>Membandingkan pengaruh split data, augmentasi, optimizer, dan dropout</a:t>
            </a:r>
            <a:endParaRPr lang="en-US" sz="1400" dirty="0"/>
          </a:p>
        </p:txBody>
      </p:sp>
      <p:sp>
        <p:nvSpPr>
          <p:cNvPr id="17" name="Tujuan"/>
          <p:cNvSpPr/>
          <p:nvPr/>
        </p:nvSpPr>
        <p:spPr>
          <a:xfrm>
            <a:off x="457200" y="3063240"/>
            <a:ext cx="4023360" cy="1371600"/>
          </a:xfrm>
          <a:prstGeom prst="roundRect">
            <a:avLst>
              <a:gd name="adj" fmla="val 6667"/>
            </a:avLst>
          </a:prstGeom>
          <a:solidFill>
            <a:schemeClr val="bg2"/>
          </a:solidFill>
          <a:ln/>
        </p:spPr>
      </p:sp>
      <p:sp>
        <p:nvSpPr>
          <p:cNvPr id="18" name="Badge"/>
          <p:cNvSpPr/>
          <p:nvPr/>
        </p:nvSpPr>
        <p:spPr>
          <a:xfrm>
            <a:off x="640080" y="3246120"/>
            <a:ext cx="457200" cy="457200"/>
          </a:xfrm>
          <a:prstGeom prst="ellipse">
            <a:avLst/>
          </a:prstGeom>
          <a:solidFill>
            <a:schemeClr val="accent1"/>
          </a:solidFill>
          <a:ln/>
        </p:spPr>
      </p:sp>
      <p:sp>
        <p:nvSpPr>
          <p:cNvPr id="19" name="Text 16"/>
          <p:cNvSpPr txBox="1"/>
          <p:nvPr/>
        </p:nvSpPr>
        <p:spPr>
          <a:xfrm>
            <a:off x="640080" y="3246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0" name="Text 17"/>
          <p:cNvSpPr txBox="1"/>
          <p:nvPr/>
        </p:nvSpPr>
        <p:spPr>
          <a:xfrm>
            <a:off x="640080" y="3813048"/>
            <a:ext cx="3657600" cy="502920"/>
          </a:xfrm>
          <a:prstGeom prst="rect">
            <a:avLst/>
          </a:prstGeom>
          <a:noFill/>
          <a:ln/>
        </p:spPr>
        <p:txBody>
          <a:bodyPr wrap="square" lIns="0" tIns="0" rIns="0" bIns="0" rtlCol="0" anchor="t"/>
          <a:lstStyle/>
          <a:p>
            <a:pPr marL="0" indent="0" algn="l">
              <a:buNone/>
            </a:pPr>
            <a:r>
              <a:rPr lang="en-US" sz="1400" dirty="0">
                <a:solidFill>
                  <a:schemeClr val="tx1"/>
                </a:solidFill>
              </a:rPr>
              <a:t>Mengevaluasi model akhir: accuracy, precision, recall, F1, confusion matrix</a:t>
            </a:r>
            <a:endParaRPr lang="en-US" sz="1400" dirty="0"/>
          </a:p>
        </p:txBody>
      </p:sp>
      <p:sp>
        <p:nvSpPr>
          <p:cNvPr id="21" name="Tujuan"/>
          <p:cNvSpPr/>
          <p:nvPr/>
        </p:nvSpPr>
        <p:spPr>
          <a:xfrm>
            <a:off x="4663440" y="3063240"/>
            <a:ext cx="4023360" cy="1371600"/>
          </a:xfrm>
          <a:prstGeom prst="roundRect">
            <a:avLst>
              <a:gd name="adj" fmla="val 6667"/>
            </a:avLst>
          </a:prstGeom>
          <a:solidFill>
            <a:schemeClr val="bg2"/>
          </a:solidFill>
          <a:ln/>
        </p:spPr>
      </p:sp>
      <p:sp>
        <p:nvSpPr>
          <p:cNvPr id="22" name="Badge"/>
          <p:cNvSpPr/>
          <p:nvPr/>
        </p:nvSpPr>
        <p:spPr>
          <a:xfrm>
            <a:off x="4846320" y="3246120"/>
            <a:ext cx="457200" cy="457200"/>
          </a:xfrm>
          <a:prstGeom prst="ellipse">
            <a:avLst/>
          </a:prstGeom>
          <a:solidFill>
            <a:schemeClr val="accent1"/>
          </a:solidFill>
          <a:ln/>
        </p:spPr>
      </p:sp>
      <p:sp>
        <p:nvSpPr>
          <p:cNvPr id="23" name="Text 20"/>
          <p:cNvSpPr txBox="1"/>
          <p:nvPr/>
        </p:nvSpPr>
        <p:spPr>
          <a:xfrm>
            <a:off x="4846320" y="3246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4" name="Text 21"/>
          <p:cNvSpPr txBox="1"/>
          <p:nvPr/>
        </p:nvSpPr>
        <p:spPr>
          <a:xfrm>
            <a:off x="4846320" y="3813048"/>
            <a:ext cx="3657600" cy="502920"/>
          </a:xfrm>
          <a:prstGeom prst="rect">
            <a:avLst/>
          </a:prstGeom>
          <a:noFill/>
          <a:ln/>
        </p:spPr>
        <p:txBody>
          <a:bodyPr wrap="square" lIns="0" tIns="0" rIns="0" bIns="0" rtlCol="0" anchor="t"/>
          <a:lstStyle/>
          <a:p>
            <a:pPr marL="0" indent="0" algn="l">
              <a:buNone/>
            </a:pPr>
            <a:r>
              <a:rPr lang="en-US" sz="1400" dirty="0">
                <a:solidFill>
                  <a:schemeClr val="tx1"/>
                </a:solidFill>
              </a:rPr>
              <a:t>Menarik kesimpulan, mencatat keterbatasan, menyusun saran</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Ruang lingkup dan batasan</a:t>
            </a:r>
            <a:endParaRPr lang="en-US" sz="2800" dirty="0"/>
          </a:p>
        </p:txBody>
      </p:sp>
      <p:sp>
        <p:nvSpPr>
          <p:cNvPr id="5" name="Stat"/>
          <p:cNvSpPr/>
          <p:nvPr/>
        </p:nvSpPr>
        <p:spPr>
          <a:xfrm>
            <a:off x="457200" y="1280160"/>
            <a:ext cx="1965960" cy="1325880"/>
          </a:xfrm>
          <a:prstGeom prst="roundRect">
            <a:avLst>
              <a:gd name="adj" fmla="val 6897"/>
            </a:avLst>
          </a:prstGeom>
          <a:solidFill>
            <a:schemeClr val="bg2"/>
          </a:solidFill>
          <a:ln/>
        </p:spPr>
      </p:sp>
      <p:sp>
        <p:nvSpPr>
          <p:cNvPr id="6" name="Text 3"/>
          <p:cNvSpPr txBox="1"/>
          <p:nvPr/>
        </p:nvSpPr>
        <p:spPr>
          <a:xfrm>
            <a:off x="566928" y="1371600"/>
            <a:ext cx="1746504" cy="689458"/>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7.200</a:t>
            </a:r>
            <a:endParaRPr lang="en-US" sz="2800" dirty="0"/>
          </a:p>
        </p:txBody>
      </p:sp>
      <p:sp>
        <p:nvSpPr>
          <p:cNvPr id="7" name="Text 4"/>
          <p:cNvSpPr txBox="1"/>
          <p:nvPr/>
        </p:nvSpPr>
        <p:spPr>
          <a:xfrm>
            <a:off x="566928" y="2075688"/>
            <a:ext cx="1746504" cy="477317"/>
          </a:xfrm>
          <a:prstGeom prst="rect">
            <a:avLst/>
          </a:prstGeom>
          <a:noFill/>
          <a:ln/>
        </p:spPr>
        <p:txBody>
          <a:bodyPr wrap="square" lIns="0" tIns="0" rIns="0" bIns="0" rtlCol="0" anchor="t"/>
          <a:lstStyle/>
          <a:p>
            <a:pPr marL="0" indent="0" algn="ctr">
              <a:buNone/>
            </a:pPr>
            <a:r>
              <a:rPr lang="en-US" sz="1300" dirty="0">
                <a:solidFill>
                  <a:schemeClr val="tx1"/>
                </a:solidFill>
              </a:rPr>
              <a:t>gambar MRI</a:t>
            </a:r>
            <a:endParaRPr lang="en-US" sz="1300" dirty="0"/>
          </a:p>
        </p:txBody>
      </p:sp>
      <p:sp>
        <p:nvSpPr>
          <p:cNvPr id="8" name="Stat"/>
          <p:cNvSpPr/>
          <p:nvPr/>
        </p:nvSpPr>
        <p:spPr>
          <a:xfrm>
            <a:off x="2560320" y="1280160"/>
            <a:ext cx="1965960" cy="1325880"/>
          </a:xfrm>
          <a:prstGeom prst="roundRect">
            <a:avLst>
              <a:gd name="adj" fmla="val 6897"/>
            </a:avLst>
          </a:prstGeom>
          <a:solidFill>
            <a:schemeClr val="bg2"/>
          </a:solidFill>
          <a:ln/>
        </p:spPr>
      </p:sp>
      <p:sp>
        <p:nvSpPr>
          <p:cNvPr id="9" name="Text 6"/>
          <p:cNvSpPr txBox="1"/>
          <p:nvPr/>
        </p:nvSpPr>
        <p:spPr>
          <a:xfrm>
            <a:off x="2670048" y="1371600"/>
            <a:ext cx="1746504" cy="689458"/>
          </a:xfrm>
          <a:prstGeom prst="rect">
            <a:avLst/>
          </a:prstGeom>
          <a:noFill/>
          <a:ln/>
        </p:spPr>
        <p:txBody>
          <a:bodyPr wrap="square" lIns="0" tIns="0" rIns="0" bIns="0" rtlCol="0" anchor="ctr"/>
          <a:lstStyle/>
          <a:p>
            <a:pPr marL="0" indent="0" algn="ctr">
              <a:buNone/>
            </a:pPr>
            <a:r>
              <a:rPr lang="en-US" sz="2800" b="1" dirty="0">
                <a:solidFill>
                  <a:schemeClr val="accent4"/>
                </a:solidFill>
                <a:latin typeface="Cambria" pitchFamily="34" charset="0"/>
                <a:ea typeface="Cambria" pitchFamily="34" charset="-122"/>
                <a:cs typeface="Cambria" pitchFamily="34" charset="-120"/>
              </a:rPr>
              <a:t>4</a:t>
            </a:r>
            <a:endParaRPr lang="en-US" sz="2800" dirty="0"/>
          </a:p>
        </p:txBody>
      </p:sp>
      <p:sp>
        <p:nvSpPr>
          <p:cNvPr id="10" name="Text 7"/>
          <p:cNvSpPr txBox="1"/>
          <p:nvPr/>
        </p:nvSpPr>
        <p:spPr>
          <a:xfrm>
            <a:off x="2670048" y="2075688"/>
            <a:ext cx="1746504" cy="477317"/>
          </a:xfrm>
          <a:prstGeom prst="rect">
            <a:avLst/>
          </a:prstGeom>
          <a:noFill/>
          <a:ln/>
        </p:spPr>
        <p:txBody>
          <a:bodyPr wrap="square" lIns="0" tIns="0" rIns="0" bIns="0" rtlCol="0" anchor="t"/>
          <a:lstStyle/>
          <a:p>
            <a:pPr marL="0" indent="0" algn="ctr">
              <a:buNone/>
            </a:pPr>
            <a:r>
              <a:rPr lang="en-US" sz="1300" dirty="0">
                <a:solidFill>
                  <a:schemeClr val="tx1"/>
                </a:solidFill>
              </a:rPr>
              <a:t>kelas seimbang (1.800 per kelas)</a:t>
            </a:r>
            <a:endParaRPr lang="en-US" sz="1300" dirty="0"/>
          </a:p>
        </p:txBody>
      </p:sp>
      <p:sp>
        <p:nvSpPr>
          <p:cNvPr id="11" name="Stat"/>
          <p:cNvSpPr/>
          <p:nvPr/>
        </p:nvSpPr>
        <p:spPr>
          <a:xfrm>
            <a:off x="4663440" y="1280160"/>
            <a:ext cx="1965960" cy="1325880"/>
          </a:xfrm>
          <a:prstGeom prst="roundRect">
            <a:avLst>
              <a:gd name="adj" fmla="val 6897"/>
            </a:avLst>
          </a:prstGeom>
          <a:solidFill>
            <a:schemeClr val="bg2"/>
          </a:solidFill>
          <a:ln/>
        </p:spPr>
      </p:sp>
      <p:sp>
        <p:nvSpPr>
          <p:cNvPr id="12" name="Text 9"/>
          <p:cNvSpPr txBox="1"/>
          <p:nvPr/>
        </p:nvSpPr>
        <p:spPr>
          <a:xfrm>
            <a:off x="4773168" y="1371600"/>
            <a:ext cx="1746504" cy="689458"/>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128 × 128</a:t>
            </a:r>
            <a:endParaRPr lang="en-US" sz="2800" dirty="0"/>
          </a:p>
        </p:txBody>
      </p:sp>
      <p:sp>
        <p:nvSpPr>
          <p:cNvPr id="13" name="Text 10"/>
          <p:cNvSpPr txBox="1"/>
          <p:nvPr/>
        </p:nvSpPr>
        <p:spPr>
          <a:xfrm>
            <a:off x="4773168" y="2075688"/>
            <a:ext cx="1746504" cy="477317"/>
          </a:xfrm>
          <a:prstGeom prst="rect">
            <a:avLst/>
          </a:prstGeom>
          <a:noFill/>
          <a:ln/>
        </p:spPr>
        <p:txBody>
          <a:bodyPr wrap="square" lIns="0" tIns="0" rIns="0" bIns="0" rtlCol="0" anchor="t"/>
          <a:lstStyle/>
          <a:p>
            <a:pPr marL="0" indent="0" algn="ctr">
              <a:buNone/>
            </a:pPr>
            <a:r>
              <a:rPr lang="en-US" sz="1300" dirty="0">
                <a:solidFill>
                  <a:schemeClr val="tx1"/>
                </a:solidFill>
              </a:rPr>
              <a:t>piksel, 3 kanal RGB</a:t>
            </a:r>
            <a:endParaRPr lang="en-US" sz="1300" dirty="0"/>
          </a:p>
        </p:txBody>
      </p:sp>
      <p:sp>
        <p:nvSpPr>
          <p:cNvPr id="14" name="Stat"/>
          <p:cNvSpPr/>
          <p:nvPr/>
        </p:nvSpPr>
        <p:spPr>
          <a:xfrm>
            <a:off x="6766560" y="1280160"/>
            <a:ext cx="1965960" cy="1325880"/>
          </a:xfrm>
          <a:prstGeom prst="roundRect">
            <a:avLst>
              <a:gd name="adj" fmla="val 6897"/>
            </a:avLst>
          </a:prstGeom>
          <a:solidFill>
            <a:schemeClr val="bg2"/>
          </a:solidFill>
          <a:ln/>
        </p:spPr>
      </p:sp>
      <p:sp>
        <p:nvSpPr>
          <p:cNvPr id="15" name="Text 12"/>
          <p:cNvSpPr txBox="1"/>
          <p:nvPr/>
        </p:nvSpPr>
        <p:spPr>
          <a:xfrm>
            <a:off x="6876288" y="1371600"/>
            <a:ext cx="1746504" cy="689458"/>
          </a:xfrm>
          <a:prstGeom prst="rect">
            <a:avLst/>
          </a:prstGeom>
          <a:noFill/>
          <a:ln/>
        </p:spPr>
        <p:txBody>
          <a:bodyPr wrap="square" lIns="0" tIns="0" rIns="0" bIns="0" rtlCol="0" anchor="ctr"/>
          <a:lstStyle/>
          <a:p>
            <a:pPr marL="0" indent="0" algn="ctr">
              <a:buNone/>
            </a:pPr>
            <a:r>
              <a:rPr lang="en-US" sz="2800" b="1" dirty="0">
                <a:solidFill>
                  <a:schemeClr val="accent4"/>
                </a:solidFill>
                <a:latin typeface="Cambria" pitchFamily="34" charset="0"/>
                <a:ea typeface="Cambria" pitchFamily="34" charset="-122"/>
                <a:cs typeface="Cambria" pitchFamily="34" charset="-120"/>
              </a:rPr>
              <a:t>20</a:t>
            </a:r>
            <a:endParaRPr lang="en-US" sz="2800" dirty="0"/>
          </a:p>
        </p:txBody>
      </p:sp>
      <p:sp>
        <p:nvSpPr>
          <p:cNvPr id="16" name="Text 13"/>
          <p:cNvSpPr txBox="1"/>
          <p:nvPr/>
        </p:nvSpPr>
        <p:spPr>
          <a:xfrm>
            <a:off x="6876288" y="2075688"/>
            <a:ext cx="1746504" cy="477317"/>
          </a:xfrm>
          <a:prstGeom prst="rect">
            <a:avLst/>
          </a:prstGeom>
          <a:noFill/>
          <a:ln/>
        </p:spPr>
        <p:txBody>
          <a:bodyPr wrap="square" lIns="0" tIns="0" rIns="0" bIns="0" rtlCol="0" anchor="t"/>
          <a:lstStyle/>
          <a:p>
            <a:pPr marL="0" indent="0" algn="ctr">
              <a:buNone/>
            </a:pPr>
            <a:r>
              <a:rPr lang="en-US" sz="1300" dirty="0">
                <a:solidFill>
                  <a:schemeClr val="tx1"/>
                </a:solidFill>
              </a:rPr>
              <a:t>epoch per konfigurasi</a:t>
            </a:r>
            <a:endParaRPr lang="en-US" sz="1300" dirty="0"/>
          </a:p>
        </p:txBody>
      </p:sp>
      <p:sp>
        <p:nvSpPr>
          <p:cNvPr id="17" name="Batasan"/>
          <p:cNvSpPr/>
          <p:nvPr/>
        </p:nvSpPr>
        <p:spPr>
          <a:xfrm>
            <a:off x="457200" y="2834640"/>
            <a:ext cx="4023360" cy="804672"/>
          </a:xfrm>
          <a:prstGeom prst="roundRect">
            <a:avLst>
              <a:gd name="adj" fmla="val 11364"/>
            </a:avLst>
          </a:prstGeom>
          <a:solidFill>
            <a:schemeClr val="bg2"/>
          </a:solidFill>
          <a:ln/>
        </p:spPr>
      </p:sp>
      <p:sp>
        <p:nvSpPr>
          <p:cNvPr id="18" name="Text 15"/>
          <p:cNvSpPr txBox="1"/>
          <p:nvPr/>
        </p:nvSpPr>
        <p:spPr>
          <a:xfrm>
            <a:off x="640080" y="2889504"/>
            <a:ext cx="3657600" cy="694944"/>
          </a:xfrm>
          <a:prstGeom prst="rect">
            <a:avLst/>
          </a:prstGeom>
          <a:noFill/>
          <a:ln/>
        </p:spPr>
        <p:txBody>
          <a:bodyPr wrap="square" lIns="0" tIns="0" rIns="0" bIns="0" rtlCol="0" anchor="ctr"/>
          <a:lstStyle/>
          <a:p>
            <a:pPr marL="0" indent="0" algn="l">
              <a:buNone/>
            </a:pPr>
            <a:r>
              <a:rPr lang="en-US" sz="1400" dirty="0">
                <a:solidFill>
                  <a:schemeClr val="tx1"/>
                </a:solidFill>
              </a:rPr>
              <a:t>CNN sederhana 4 blok konvolusi, dibuat dari awal tanpa transfer learning</a:t>
            </a:r>
            <a:endParaRPr lang="en-US" sz="1400" dirty="0"/>
          </a:p>
        </p:txBody>
      </p:sp>
      <p:sp>
        <p:nvSpPr>
          <p:cNvPr id="19" name="Batasan"/>
          <p:cNvSpPr/>
          <p:nvPr/>
        </p:nvSpPr>
        <p:spPr>
          <a:xfrm>
            <a:off x="4663440" y="2834640"/>
            <a:ext cx="4023360" cy="804672"/>
          </a:xfrm>
          <a:prstGeom prst="roundRect">
            <a:avLst>
              <a:gd name="adj" fmla="val 11364"/>
            </a:avLst>
          </a:prstGeom>
          <a:solidFill>
            <a:schemeClr val="bg2"/>
          </a:solidFill>
          <a:ln/>
        </p:spPr>
      </p:sp>
      <p:sp>
        <p:nvSpPr>
          <p:cNvPr id="20" name="Text 17"/>
          <p:cNvSpPr txBox="1"/>
          <p:nvPr/>
        </p:nvSpPr>
        <p:spPr>
          <a:xfrm>
            <a:off x="4846320" y="2889504"/>
            <a:ext cx="3657600" cy="694944"/>
          </a:xfrm>
          <a:prstGeom prst="rect">
            <a:avLst/>
          </a:prstGeom>
          <a:noFill/>
          <a:ln/>
        </p:spPr>
        <p:txBody>
          <a:bodyPr wrap="square" lIns="0" tIns="0" rIns="0" bIns="0" rtlCol="0" anchor="ctr"/>
          <a:lstStyle/>
          <a:p>
            <a:pPr marL="0" indent="0" algn="l">
              <a:buNone/>
            </a:pPr>
            <a:r>
              <a:rPr lang="en-US" sz="1400" dirty="0">
                <a:solidFill>
                  <a:schemeClr val="tx1"/>
                </a:solidFill>
              </a:rPr>
              <a:t>Batch size 32, learning rate 0,0005, random seed 42</a:t>
            </a:r>
            <a:endParaRPr lang="en-US" sz="1400" dirty="0"/>
          </a:p>
        </p:txBody>
      </p:sp>
      <p:sp>
        <p:nvSpPr>
          <p:cNvPr id="21" name="Batasan"/>
          <p:cNvSpPr/>
          <p:nvPr/>
        </p:nvSpPr>
        <p:spPr>
          <a:xfrm>
            <a:off x="457200" y="3749040"/>
            <a:ext cx="4023360" cy="804672"/>
          </a:xfrm>
          <a:prstGeom prst="roundRect">
            <a:avLst>
              <a:gd name="adj" fmla="val 11364"/>
            </a:avLst>
          </a:prstGeom>
          <a:solidFill>
            <a:schemeClr val="bg2"/>
          </a:solidFill>
          <a:ln/>
        </p:spPr>
      </p:sp>
      <p:sp>
        <p:nvSpPr>
          <p:cNvPr id="22" name="Text 19"/>
          <p:cNvSpPr txBox="1"/>
          <p:nvPr/>
        </p:nvSpPr>
        <p:spPr>
          <a:xfrm>
            <a:off x="640080" y="3803904"/>
            <a:ext cx="3657600" cy="694944"/>
          </a:xfrm>
          <a:prstGeom prst="rect">
            <a:avLst/>
          </a:prstGeom>
          <a:noFill/>
          <a:ln/>
        </p:spPr>
        <p:txBody>
          <a:bodyPr wrap="square" lIns="0" tIns="0" rIns="0" bIns="0" rtlCol="0" anchor="ctr"/>
          <a:lstStyle/>
          <a:p>
            <a:pPr marL="0" indent="0" algn="l">
              <a:buNone/>
            </a:pPr>
            <a:r>
              <a:rPr lang="en-US" sz="1400" dirty="0">
                <a:solidFill>
                  <a:schemeClr val="tx1"/>
                </a:solidFill>
              </a:rPr>
              <a:t>Google Colab tanpa GPU (CPU saja), sekitar 3 sampai 6 menit per epoch</a:t>
            </a:r>
            <a:endParaRPr lang="en-US" sz="1400" dirty="0"/>
          </a:p>
        </p:txBody>
      </p:sp>
      <p:sp>
        <p:nvSpPr>
          <p:cNvPr id="23" name="Batasan"/>
          <p:cNvSpPr/>
          <p:nvPr/>
        </p:nvSpPr>
        <p:spPr>
          <a:xfrm>
            <a:off x="4663440" y="3749040"/>
            <a:ext cx="4023360" cy="804672"/>
          </a:xfrm>
          <a:prstGeom prst="roundRect">
            <a:avLst>
              <a:gd name="adj" fmla="val 11364"/>
            </a:avLst>
          </a:prstGeom>
          <a:solidFill>
            <a:schemeClr val="bg2"/>
          </a:solidFill>
          <a:ln/>
        </p:spPr>
      </p:sp>
      <p:sp>
        <p:nvSpPr>
          <p:cNvPr id="24" name="Text 21"/>
          <p:cNvSpPr txBox="1"/>
          <p:nvPr/>
        </p:nvSpPr>
        <p:spPr>
          <a:xfrm>
            <a:off x="4846320" y="3803904"/>
            <a:ext cx="3657600" cy="694944"/>
          </a:xfrm>
          <a:prstGeom prst="rect">
            <a:avLst/>
          </a:prstGeom>
          <a:noFill/>
          <a:ln/>
        </p:spPr>
        <p:txBody>
          <a:bodyPr wrap="square" lIns="0" tIns="0" rIns="0" bIns="0" rtlCol="0" anchor="ctr"/>
          <a:lstStyle/>
          <a:p>
            <a:pPr marL="0" indent="0" algn="l">
              <a:buNone/>
            </a:pPr>
            <a:r>
              <a:rPr lang="en-US" sz="1400" dirty="0">
                <a:solidFill>
                  <a:schemeClr val="tx1"/>
                </a:solidFill>
              </a:rPr>
              <a:t>Konfigurasi terbaik dipilih dari F1 Macro tertinggi</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Empat kelas pada dataset</a:t>
            </a:r>
            <a:endParaRPr lang="en-US" sz="2800" dirty="0"/>
          </a:p>
        </p:txBody>
      </p:sp>
      <p:sp>
        <p:nvSpPr>
          <p:cNvPr id="5" name="Frame"/>
          <p:cNvSpPr/>
          <p:nvPr/>
        </p:nvSpPr>
        <p:spPr>
          <a:xfrm>
            <a:off x="411480" y="1260038"/>
            <a:ext cx="3474720" cy="3377803"/>
          </a:xfrm>
          <a:prstGeom prst="rect">
            <a:avLst/>
          </a:prstGeom>
          <a:solidFill>
            <a:schemeClr val="bg1"/>
          </a:solidFill>
          <a:ln w="12700">
            <a:solidFill>
              <a:schemeClr val="bg2"/>
            </a:solidFill>
            <a:prstDash val="solid"/>
          </a:ln>
        </p:spPr>
      </p:sp>
      <p:pic>
        <p:nvPicPr>
          <p:cNvPr id="6" name="Gambar 2" descr="/tmp/claude-0/-home-claude/949ac0f0-f744-5c10-baa6-0b053e3f7a1d/scratchpad/doc/img/image2.png"/>
          <p:cNvPicPr>
            <a:picLocks noChangeAspect="1"/>
          </p:cNvPicPr>
          <p:nvPr/>
        </p:nvPicPr>
        <p:blipFill>
          <a:blip r:embed="rId3"/>
          <a:stretch>
            <a:fillRect/>
          </a:stretch>
        </p:blipFill>
        <p:spPr>
          <a:xfrm>
            <a:off x="457200" y="1305758"/>
            <a:ext cx="3383280" cy="3286363"/>
          </a:xfrm>
          <a:prstGeom prst="rect">
            <a:avLst/>
          </a:prstGeom>
        </p:spPr>
      </p:pic>
      <p:sp>
        <p:nvSpPr>
          <p:cNvPr id="7" name="Kelas"/>
          <p:cNvSpPr/>
          <p:nvPr/>
        </p:nvSpPr>
        <p:spPr>
          <a:xfrm>
            <a:off x="4206240" y="1280160"/>
            <a:ext cx="4480560" cy="758952"/>
          </a:xfrm>
          <a:prstGeom prst="roundRect">
            <a:avLst>
              <a:gd name="adj" fmla="val 12048"/>
            </a:avLst>
          </a:prstGeom>
          <a:solidFill>
            <a:schemeClr val="bg2"/>
          </a:solidFill>
          <a:ln/>
        </p:spPr>
      </p:sp>
      <p:sp>
        <p:nvSpPr>
          <p:cNvPr id="8" name="Badge"/>
          <p:cNvSpPr/>
          <p:nvPr/>
        </p:nvSpPr>
        <p:spPr>
          <a:xfrm>
            <a:off x="4343400" y="1463040"/>
            <a:ext cx="384048" cy="384048"/>
          </a:xfrm>
          <a:prstGeom prst="ellipse">
            <a:avLst/>
          </a:prstGeom>
          <a:solidFill>
            <a:schemeClr val="accent2"/>
          </a:solidFill>
          <a:ln/>
        </p:spPr>
      </p:sp>
      <p:sp>
        <p:nvSpPr>
          <p:cNvPr id="9" name="Text 5"/>
          <p:cNvSpPr txBox="1"/>
          <p:nvPr/>
        </p:nvSpPr>
        <p:spPr>
          <a:xfrm>
            <a:off x="4343400" y="146304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0</a:t>
            </a:r>
            <a:endParaRPr lang="en-US" sz="1400" dirty="0"/>
          </a:p>
        </p:txBody>
      </p:sp>
      <p:sp>
        <p:nvSpPr>
          <p:cNvPr id="10" name="Text 6"/>
          <p:cNvSpPr txBox="1"/>
          <p:nvPr/>
        </p:nvSpPr>
        <p:spPr>
          <a:xfrm>
            <a:off x="4892040" y="1344168"/>
            <a:ext cx="3657600" cy="256032"/>
          </a:xfrm>
          <a:prstGeom prst="rect">
            <a:avLst/>
          </a:prstGeom>
          <a:noFill/>
          <a:ln/>
        </p:spPr>
        <p:txBody>
          <a:bodyPr wrap="square" lIns="0" tIns="0" rIns="0" bIns="0" rtlCol="0" anchor="t"/>
          <a:lstStyle/>
          <a:p>
            <a:pPr marL="0" indent="0" algn="l">
              <a:buNone/>
            </a:pPr>
            <a:r>
              <a:rPr lang="en-US" sz="1600" b="1" dirty="0">
                <a:solidFill>
                  <a:schemeClr val="tx2"/>
                </a:solidFill>
              </a:rPr>
              <a:t>glioma</a:t>
            </a:r>
            <a:endParaRPr lang="en-US" sz="1600" dirty="0"/>
          </a:p>
        </p:txBody>
      </p:sp>
      <p:sp>
        <p:nvSpPr>
          <p:cNvPr id="11" name="Text 7"/>
          <p:cNvSpPr txBox="1"/>
          <p:nvPr/>
        </p:nvSpPr>
        <p:spPr>
          <a:xfrm>
            <a:off x="4892040" y="1618488"/>
            <a:ext cx="3703320" cy="384048"/>
          </a:xfrm>
          <a:prstGeom prst="rect">
            <a:avLst/>
          </a:prstGeom>
          <a:noFill/>
          <a:ln/>
        </p:spPr>
        <p:txBody>
          <a:bodyPr wrap="square" lIns="0" tIns="0" rIns="0" bIns="0" rtlCol="0" anchor="t"/>
          <a:lstStyle/>
          <a:p>
            <a:pPr marL="0" indent="0" algn="l">
              <a:buNone/>
            </a:pPr>
            <a:r>
              <a:rPr lang="en-US" sz="1300" dirty="0">
                <a:solidFill>
                  <a:schemeClr val="tx1"/>
                </a:solidFill>
              </a:rPr>
              <a:t>Tumor dari sel glia, sel penunjang saraf di otak</a:t>
            </a:r>
            <a:endParaRPr lang="en-US" sz="1300" dirty="0"/>
          </a:p>
        </p:txBody>
      </p:sp>
      <p:sp>
        <p:nvSpPr>
          <p:cNvPr id="12" name="Kelas"/>
          <p:cNvSpPr/>
          <p:nvPr/>
        </p:nvSpPr>
        <p:spPr>
          <a:xfrm>
            <a:off x="4206240" y="2130552"/>
            <a:ext cx="4480560" cy="758952"/>
          </a:xfrm>
          <a:prstGeom prst="roundRect">
            <a:avLst>
              <a:gd name="adj" fmla="val 12048"/>
            </a:avLst>
          </a:prstGeom>
          <a:solidFill>
            <a:schemeClr val="bg2"/>
          </a:solidFill>
          <a:ln/>
        </p:spPr>
      </p:sp>
      <p:sp>
        <p:nvSpPr>
          <p:cNvPr id="13" name="Badge"/>
          <p:cNvSpPr/>
          <p:nvPr/>
        </p:nvSpPr>
        <p:spPr>
          <a:xfrm>
            <a:off x="4343400" y="2313432"/>
            <a:ext cx="384048" cy="384048"/>
          </a:xfrm>
          <a:prstGeom prst="ellipse">
            <a:avLst/>
          </a:prstGeom>
          <a:solidFill>
            <a:schemeClr val="accent1"/>
          </a:solidFill>
          <a:ln/>
        </p:spPr>
      </p:sp>
      <p:sp>
        <p:nvSpPr>
          <p:cNvPr id="14" name="Text 10"/>
          <p:cNvSpPr txBox="1"/>
          <p:nvPr/>
        </p:nvSpPr>
        <p:spPr>
          <a:xfrm>
            <a:off x="4343400" y="231343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5" name="Text 11"/>
          <p:cNvSpPr txBox="1"/>
          <p:nvPr/>
        </p:nvSpPr>
        <p:spPr>
          <a:xfrm>
            <a:off x="4892040" y="2194560"/>
            <a:ext cx="3657600" cy="256032"/>
          </a:xfrm>
          <a:prstGeom prst="rect">
            <a:avLst/>
          </a:prstGeom>
          <a:noFill/>
          <a:ln/>
        </p:spPr>
        <p:txBody>
          <a:bodyPr wrap="square" lIns="0" tIns="0" rIns="0" bIns="0" rtlCol="0" anchor="t"/>
          <a:lstStyle/>
          <a:p>
            <a:pPr marL="0" indent="0" algn="l">
              <a:buNone/>
            </a:pPr>
            <a:r>
              <a:rPr lang="en-US" sz="1600" b="1" dirty="0">
                <a:solidFill>
                  <a:schemeClr val="tx2"/>
                </a:solidFill>
              </a:rPr>
              <a:t>meningioma</a:t>
            </a:r>
            <a:endParaRPr lang="en-US" sz="1600" dirty="0"/>
          </a:p>
        </p:txBody>
      </p:sp>
      <p:sp>
        <p:nvSpPr>
          <p:cNvPr id="16" name="Text 12"/>
          <p:cNvSpPr txBox="1"/>
          <p:nvPr/>
        </p:nvSpPr>
        <p:spPr>
          <a:xfrm>
            <a:off x="4892040" y="2468880"/>
            <a:ext cx="3703320" cy="384048"/>
          </a:xfrm>
          <a:prstGeom prst="rect">
            <a:avLst/>
          </a:prstGeom>
          <a:noFill/>
          <a:ln/>
        </p:spPr>
        <p:txBody>
          <a:bodyPr wrap="square" lIns="0" tIns="0" rIns="0" bIns="0" rtlCol="0" anchor="t"/>
          <a:lstStyle/>
          <a:p>
            <a:pPr marL="0" indent="0" algn="l">
              <a:buNone/>
            </a:pPr>
            <a:r>
              <a:rPr lang="en-US" sz="1300" dirty="0">
                <a:solidFill>
                  <a:schemeClr val="tx1"/>
                </a:solidFill>
              </a:rPr>
              <a:t>Tumor dari meninges, selaput pembungkus otak</a:t>
            </a:r>
            <a:endParaRPr lang="en-US" sz="1300" dirty="0"/>
          </a:p>
        </p:txBody>
      </p:sp>
      <p:sp>
        <p:nvSpPr>
          <p:cNvPr id="17" name="Kelas"/>
          <p:cNvSpPr/>
          <p:nvPr/>
        </p:nvSpPr>
        <p:spPr>
          <a:xfrm>
            <a:off x="4206240" y="2980944"/>
            <a:ext cx="4480560" cy="758952"/>
          </a:xfrm>
          <a:prstGeom prst="roundRect">
            <a:avLst>
              <a:gd name="adj" fmla="val 12048"/>
            </a:avLst>
          </a:prstGeom>
          <a:solidFill>
            <a:schemeClr val="bg2"/>
          </a:solidFill>
          <a:ln/>
        </p:spPr>
      </p:sp>
      <p:sp>
        <p:nvSpPr>
          <p:cNvPr id="18" name="Badge"/>
          <p:cNvSpPr/>
          <p:nvPr/>
        </p:nvSpPr>
        <p:spPr>
          <a:xfrm>
            <a:off x="4343400" y="3163824"/>
            <a:ext cx="384048" cy="384048"/>
          </a:xfrm>
          <a:prstGeom prst="ellipse">
            <a:avLst/>
          </a:prstGeom>
          <a:solidFill>
            <a:schemeClr val="accent4"/>
          </a:solidFill>
          <a:ln/>
        </p:spPr>
      </p:sp>
      <p:sp>
        <p:nvSpPr>
          <p:cNvPr id="19" name="Text 15"/>
          <p:cNvSpPr txBox="1"/>
          <p:nvPr/>
        </p:nvSpPr>
        <p:spPr>
          <a:xfrm>
            <a:off x="4343400" y="316382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0" name="Text 16"/>
          <p:cNvSpPr txBox="1"/>
          <p:nvPr/>
        </p:nvSpPr>
        <p:spPr>
          <a:xfrm>
            <a:off x="4892040" y="3044952"/>
            <a:ext cx="3657600" cy="256032"/>
          </a:xfrm>
          <a:prstGeom prst="rect">
            <a:avLst/>
          </a:prstGeom>
          <a:noFill/>
          <a:ln/>
        </p:spPr>
        <p:txBody>
          <a:bodyPr wrap="square" lIns="0" tIns="0" rIns="0" bIns="0" rtlCol="0" anchor="t"/>
          <a:lstStyle/>
          <a:p>
            <a:pPr marL="0" indent="0" algn="l">
              <a:buNone/>
            </a:pPr>
            <a:r>
              <a:rPr lang="en-US" sz="1600" b="1" dirty="0">
                <a:solidFill>
                  <a:schemeClr val="tx2"/>
                </a:solidFill>
              </a:rPr>
              <a:t>pituitary</a:t>
            </a:r>
            <a:endParaRPr lang="en-US" sz="1600" dirty="0"/>
          </a:p>
        </p:txBody>
      </p:sp>
      <p:sp>
        <p:nvSpPr>
          <p:cNvPr id="21" name="Text 17"/>
          <p:cNvSpPr txBox="1"/>
          <p:nvPr/>
        </p:nvSpPr>
        <p:spPr>
          <a:xfrm>
            <a:off x="4892040" y="3319272"/>
            <a:ext cx="3703320" cy="384048"/>
          </a:xfrm>
          <a:prstGeom prst="rect">
            <a:avLst/>
          </a:prstGeom>
          <a:noFill/>
          <a:ln/>
        </p:spPr>
        <p:txBody>
          <a:bodyPr wrap="square" lIns="0" tIns="0" rIns="0" bIns="0" rtlCol="0" anchor="t"/>
          <a:lstStyle/>
          <a:p>
            <a:pPr marL="0" indent="0" algn="l">
              <a:buNone/>
            </a:pPr>
            <a:r>
              <a:rPr lang="en-US" sz="1300" dirty="0">
                <a:solidFill>
                  <a:schemeClr val="tx1"/>
                </a:solidFill>
              </a:rPr>
              <a:t>Tumor kelenjar hipofisis di dasar otak yang mengatur hormon</a:t>
            </a:r>
            <a:endParaRPr lang="en-US" sz="1300" dirty="0"/>
          </a:p>
        </p:txBody>
      </p:sp>
      <p:sp>
        <p:nvSpPr>
          <p:cNvPr id="22" name="Kelas"/>
          <p:cNvSpPr/>
          <p:nvPr/>
        </p:nvSpPr>
        <p:spPr>
          <a:xfrm>
            <a:off x="4206240" y="3831336"/>
            <a:ext cx="4480560" cy="758952"/>
          </a:xfrm>
          <a:prstGeom prst="roundRect">
            <a:avLst>
              <a:gd name="adj" fmla="val 12048"/>
            </a:avLst>
          </a:prstGeom>
          <a:solidFill>
            <a:schemeClr val="bg2"/>
          </a:solidFill>
          <a:ln/>
        </p:spPr>
      </p:sp>
      <p:sp>
        <p:nvSpPr>
          <p:cNvPr id="23" name="Badge"/>
          <p:cNvSpPr/>
          <p:nvPr/>
        </p:nvSpPr>
        <p:spPr>
          <a:xfrm>
            <a:off x="4343400" y="4014216"/>
            <a:ext cx="384048" cy="384048"/>
          </a:xfrm>
          <a:prstGeom prst="ellipse">
            <a:avLst/>
          </a:prstGeom>
          <a:solidFill>
            <a:schemeClr val="accent6"/>
          </a:solidFill>
          <a:ln/>
        </p:spPr>
      </p:sp>
      <p:sp>
        <p:nvSpPr>
          <p:cNvPr id="24" name="Text 20"/>
          <p:cNvSpPr txBox="1"/>
          <p:nvPr/>
        </p:nvSpPr>
        <p:spPr>
          <a:xfrm>
            <a:off x="4343400" y="401421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5" name="Text 21"/>
          <p:cNvSpPr txBox="1"/>
          <p:nvPr/>
        </p:nvSpPr>
        <p:spPr>
          <a:xfrm>
            <a:off x="4892040" y="3895344"/>
            <a:ext cx="3657600" cy="256032"/>
          </a:xfrm>
          <a:prstGeom prst="rect">
            <a:avLst/>
          </a:prstGeom>
          <a:noFill/>
          <a:ln/>
        </p:spPr>
        <p:txBody>
          <a:bodyPr wrap="square" lIns="0" tIns="0" rIns="0" bIns="0" rtlCol="0" anchor="t"/>
          <a:lstStyle/>
          <a:p>
            <a:pPr marL="0" indent="0" algn="l">
              <a:buNone/>
            </a:pPr>
            <a:r>
              <a:rPr lang="en-US" sz="1600" b="1" dirty="0">
                <a:solidFill>
                  <a:schemeClr val="tx2"/>
                </a:solidFill>
              </a:rPr>
              <a:t>no tumor</a:t>
            </a:r>
            <a:endParaRPr lang="en-US" sz="1600" dirty="0"/>
          </a:p>
        </p:txBody>
      </p:sp>
      <p:sp>
        <p:nvSpPr>
          <p:cNvPr id="26" name="Text 22"/>
          <p:cNvSpPr txBox="1"/>
          <p:nvPr/>
        </p:nvSpPr>
        <p:spPr>
          <a:xfrm>
            <a:off x="4892040" y="4169664"/>
            <a:ext cx="3703320" cy="384048"/>
          </a:xfrm>
          <a:prstGeom prst="rect">
            <a:avLst/>
          </a:prstGeom>
          <a:noFill/>
          <a:ln/>
        </p:spPr>
        <p:txBody>
          <a:bodyPr wrap="square" lIns="0" tIns="0" rIns="0" bIns="0" rtlCol="0" anchor="t"/>
          <a:lstStyle/>
          <a:p>
            <a:pPr marL="0" indent="0" algn="l">
              <a:buNone/>
            </a:pPr>
            <a:r>
              <a:rPr lang="en-US" sz="1300" dirty="0">
                <a:solidFill>
                  <a:schemeClr val="tx1"/>
                </a:solidFill>
              </a:rPr>
              <a:t>MRI otak yang tidak menunjukkan tumor</a:t>
            </a:r>
            <a:endParaRPr lang="en-US" sz="13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Cara kerja CNN, lapis demi lapis</a:t>
            </a:r>
            <a:endParaRPr lang="en-US" sz="2800" dirty="0"/>
          </a:p>
        </p:txBody>
      </p:sp>
      <p:sp>
        <p:nvSpPr>
          <p:cNvPr id="5" name="Analogi"/>
          <p:cNvSpPr/>
          <p:nvPr/>
        </p:nvSpPr>
        <p:spPr>
          <a:xfrm>
            <a:off x="457200" y="1234440"/>
            <a:ext cx="8229600" cy="640080"/>
          </a:xfrm>
          <a:prstGeom prst="roundRect">
            <a:avLst>
              <a:gd name="adj" fmla="val 14286"/>
            </a:avLst>
          </a:prstGeom>
          <a:solidFill>
            <a:schemeClr val="tx2"/>
          </a:solidFill>
          <a:ln/>
        </p:spPr>
      </p:sp>
      <p:sp>
        <p:nvSpPr>
          <p:cNvPr id="6" name="Text 3"/>
          <p:cNvSpPr txBox="1"/>
          <p:nvPr/>
        </p:nvSpPr>
        <p:spPr>
          <a:xfrm>
            <a:off x="685800" y="1280160"/>
            <a:ext cx="7772400" cy="548640"/>
          </a:xfrm>
          <a:prstGeom prst="rect">
            <a:avLst/>
          </a:prstGeom>
          <a:noFill/>
          <a:ln/>
        </p:spPr>
        <p:txBody>
          <a:bodyPr wrap="square" lIns="0" tIns="0" rIns="0" bIns="0" rtlCol="0" anchor="ctr"/>
          <a:lstStyle/>
          <a:p>
            <a:pPr marL="0" indent="0" algn="l">
              <a:buNone/>
            </a:pPr>
            <a:r>
              <a:rPr lang="en-US" sz="1500" i="1" dirty="0">
                <a:solidFill>
                  <a:schemeClr val="bg1"/>
                </a:solidFill>
              </a:rPr>
              <a:t>Seperti memeriksa foto dengan kaca pembesar kecil: garis dan tepi dulu, lalu bentuk, lalu pola rumit.</a:t>
            </a:r>
            <a:endParaRPr lang="en-US" sz="1500" dirty="0"/>
          </a:p>
        </p:txBody>
      </p:sp>
      <p:sp>
        <p:nvSpPr>
          <p:cNvPr id="7" name="Lapisan"/>
          <p:cNvSpPr/>
          <p:nvPr/>
        </p:nvSpPr>
        <p:spPr>
          <a:xfrm>
            <a:off x="457200" y="2103120"/>
            <a:ext cx="1920240" cy="1234440"/>
          </a:xfrm>
          <a:prstGeom prst="roundRect">
            <a:avLst>
              <a:gd name="adj" fmla="val 7407"/>
            </a:avLst>
          </a:prstGeom>
          <a:solidFill>
            <a:schemeClr val="bg2"/>
          </a:solidFill>
          <a:ln/>
        </p:spPr>
      </p:sp>
      <p:sp>
        <p:nvSpPr>
          <p:cNvPr id="8" name="Text 5"/>
          <p:cNvSpPr txBox="1"/>
          <p:nvPr/>
        </p:nvSpPr>
        <p:spPr>
          <a:xfrm>
            <a:off x="585216" y="22128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Conv2D</a:t>
            </a:r>
            <a:endParaRPr lang="en-US" sz="1500" dirty="0"/>
          </a:p>
        </p:txBody>
      </p:sp>
      <p:sp>
        <p:nvSpPr>
          <p:cNvPr id="9" name="Text 6"/>
          <p:cNvSpPr txBox="1"/>
          <p:nvPr/>
        </p:nvSpPr>
        <p:spPr>
          <a:xfrm>
            <a:off x="585216" y="25603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Filter 3×3 mencari tepi dan tekstur</a:t>
            </a:r>
            <a:endParaRPr lang="en-US" sz="1400" dirty="0"/>
          </a:p>
        </p:txBody>
      </p:sp>
      <p:sp>
        <p:nvSpPr>
          <p:cNvPr id="10" name="Lapisan"/>
          <p:cNvSpPr/>
          <p:nvPr/>
        </p:nvSpPr>
        <p:spPr>
          <a:xfrm>
            <a:off x="2560320" y="2103120"/>
            <a:ext cx="1920240" cy="1234440"/>
          </a:xfrm>
          <a:prstGeom prst="roundRect">
            <a:avLst>
              <a:gd name="adj" fmla="val 7407"/>
            </a:avLst>
          </a:prstGeom>
          <a:solidFill>
            <a:schemeClr val="bg2"/>
          </a:solidFill>
          <a:ln/>
        </p:spPr>
      </p:sp>
      <p:sp>
        <p:nvSpPr>
          <p:cNvPr id="11" name="Text 8"/>
          <p:cNvSpPr txBox="1"/>
          <p:nvPr/>
        </p:nvSpPr>
        <p:spPr>
          <a:xfrm>
            <a:off x="2688336" y="22128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ReLU</a:t>
            </a:r>
            <a:endParaRPr lang="en-US" sz="1500" dirty="0"/>
          </a:p>
        </p:txBody>
      </p:sp>
      <p:sp>
        <p:nvSpPr>
          <p:cNvPr id="12" name="Text 9"/>
          <p:cNvSpPr txBox="1"/>
          <p:nvPr/>
        </p:nvSpPr>
        <p:spPr>
          <a:xfrm>
            <a:off x="2688336" y="25603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Nilai negatif diubah jadi nol</a:t>
            </a:r>
            <a:endParaRPr lang="en-US" sz="1400" dirty="0"/>
          </a:p>
        </p:txBody>
      </p:sp>
      <p:sp>
        <p:nvSpPr>
          <p:cNvPr id="13" name="Lapisan"/>
          <p:cNvSpPr/>
          <p:nvPr/>
        </p:nvSpPr>
        <p:spPr>
          <a:xfrm>
            <a:off x="4663440" y="2103120"/>
            <a:ext cx="1920240" cy="1234440"/>
          </a:xfrm>
          <a:prstGeom prst="roundRect">
            <a:avLst>
              <a:gd name="adj" fmla="val 7407"/>
            </a:avLst>
          </a:prstGeom>
          <a:solidFill>
            <a:schemeClr val="bg2"/>
          </a:solidFill>
          <a:ln/>
        </p:spPr>
      </p:sp>
      <p:sp>
        <p:nvSpPr>
          <p:cNvPr id="14" name="Text 11"/>
          <p:cNvSpPr txBox="1"/>
          <p:nvPr/>
        </p:nvSpPr>
        <p:spPr>
          <a:xfrm>
            <a:off x="4791456" y="22128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MaxPooling 2×2</a:t>
            </a:r>
            <a:endParaRPr lang="en-US" sz="1500" dirty="0"/>
          </a:p>
        </p:txBody>
      </p:sp>
      <p:sp>
        <p:nvSpPr>
          <p:cNvPr id="15" name="Text 12"/>
          <p:cNvSpPr txBox="1"/>
          <p:nvPr/>
        </p:nvSpPr>
        <p:spPr>
          <a:xfrm>
            <a:off x="4791456" y="25603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Ambil nilai terbesar, ukuran jadi separuh</a:t>
            </a:r>
            <a:endParaRPr lang="en-US" sz="1400" dirty="0"/>
          </a:p>
        </p:txBody>
      </p:sp>
      <p:sp>
        <p:nvSpPr>
          <p:cNvPr id="16" name="Lapisan"/>
          <p:cNvSpPr/>
          <p:nvPr/>
        </p:nvSpPr>
        <p:spPr>
          <a:xfrm>
            <a:off x="6766560" y="2103120"/>
            <a:ext cx="1920240" cy="1234440"/>
          </a:xfrm>
          <a:prstGeom prst="roundRect">
            <a:avLst>
              <a:gd name="adj" fmla="val 7407"/>
            </a:avLst>
          </a:prstGeom>
          <a:solidFill>
            <a:schemeClr val="bg2"/>
          </a:solidFill>
          <a:ln/>
        </p:spPr>
      </p:sp>
      <p:sp>
        <p:nvSpPr>
          <p:cNvPr id="17" name="Text 14"/>
          <p:cNvSpPr txBox="1"/>
          <p:nvPr/>
        </p:nvSpPr>
        <p:spPr>
          <a:xfrm>
            <a:off x="6894576" y="22128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Flatten</a:t>
            </a:r>
            <a:endParaRPr lang="en-US" sz="1500" dirty="0"/>
          </a:p>
        </p:txBody>
      </p:sp>
      <p:sp>
        <p:nvSpPr>
          <p:cNvPr id="18" name="Text 15"/>
          <p:cNvSpPr txBox="1"/>
          <p:nvPr/>
        </p:nvSpPr>
        <p:spPr>
          <a:xfrm>
            <a:off x="6894576" y="25603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Diratakan jadi satu baris angka</a:t>
            </a:r>
            <a:endParaRPr lang="en-US" sz="1400" dirty="0"/>
          </a:p>
        </p:txBody>
      </p:sp>
      <p:sp>
        <p:nvSpPr>
          <p:cNvPr id="19" name="Lapisan"/>
          <p:cNvSpPr/>
          <p:nvPr/>
        </p:nvSpPr>
        <p:spPr>
          <a:xfrm>
            <a:off x="1508760" y="3474720"/>
            <a:ext cx="1920240" cy="1234440"/>
          </a:xfrm>
          <a:prstGeom prst="roundRect">
            <a:avLst>
              <a:gd name="adj" fmla="val 7407"/>
            </a:avLst>
          </a:prstGeom>
          <a:solidFill>
            <a:schemeClr val="bg2"/>
          </a:solidFill>
          <a:ln/>
        </p:spPr>
      </p:sp>
      <p:sp>
        <p:nvSpPr>
          <p:cNvPr id="20" name="Text 17"/>
          <p:cNvSpPr txBox="1"/>
          <p:nvPr/>
        </p:nvSpPr>
        <p:spPr>
          <a:xfrm>
            <a:off x="1636776" y="35844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Dense</a:t>
            </a:r>
            <a:endParaRPr lang="en-US" sz="1500" dirty="0"/>
          </a:p>
        </p:txBody>
      </p:sp>
      <p:sp>
        <p:nvSpPr>
          <p:cNvPr id="21" name="Text 18"/>
          <p:cNvSpPr txBox="1"/>
          <p:nvPr/>
        </p:nvSpPr>
        <p:spPr>
          <a:xfrm>
            <a:off x="1636776" y="39319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Hubungkan semua angka, ambil keputusan</a:t>
            </a:r>
            <a:endParaRPr lang="en-US" sz="1400" dirty="0"/>
          </a:p>
        </p:txBody>
      </p:sp>
      <p:sp>
        <p:nvSpPr>
          <p:cNvPr id="22" name="Lapisan"/>
          <p:cNvSpPr/>
          <p:nvPr/>
        </p:nvSpPr>
        <p:spPr>
          <a:xfrm>
            <a:off x="3611880" y="3474720"/>
            <a:ext cx="1920240" cy="1234440"/>
          </a:xfrm>
          <a:prstGeom prst="roundRect">
            <a:avLst>
              <a:gd name="adj" fmla="val 7407"/>
            </a:avLst>
          </a:prstGeom>
          <a:solidFill>
            <a:schemeClr val="bg2"/>
          </a:solidFill>
          <a:ln/>
        </p:spPr>
      </p:sp>
      <p:sp>
        <p:nvSpPr>
          <p:cNvPr id="23" name="Text 20"/>
          <p:cNvSpPr txBox="1"/>
          <p:nvPr/>
        </p:nvSpPr>
        <p:spPr>
          <a:xfrm>
            <a:off x="3739896" y="3584448"/>
            <a:ext cx="1664208" cy="274320"/>
          </a:xfrm>
          <a:prstGeom prst="rect">
            <a:avLst/>
          </a:prstGeom>
          <a:noFill/>
          <a:ln/>
        </p:spPr>
        <p:txBody>
          <a:bodyPr wrap="square" lIns="0" tIns="0" rIns="0" bIns="0" rtlCol="0" anchor="t"/>
          <a:lstStyle/>
          <a:p>
            <a:pPr marL="0" indent="0" algn="l">
              <a:buNone/>
            </a:pPr>
            <a:r>
              <a:rPr lang="en-US" sz="1500" b="1" dirty="0">
                <a:solidFill>
                  <a:schemeClr val="accent2"/>
                </a:solidFill>
              </a:rPr>
              <a:t>Dropout</a:t>
            </a:r>
            <a:endParaRPr lang="en-US" sz="1500" dirty="0"/>
          </a:p>
        </p:txBody>
      </p:sp>
      <p:sp>
        <p:nvSpPr>
          <p:cNvPr id="24" name="Text 21"/>
          <p:cNvSpPr txBox="1"/>
          <p:nvPr/>
        </p:nvSpPr>
        <p:spPr>
          <a:xfrm>
            <a:off x="3739896" y="39319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Matikan neuron acak, cegah menghafal</a:t>
            </a:r>
            <a:endParaRPr lang="en-US" sz="1400" dirty="0"/>
          </a:p>
        </p:txBody>
      </p:sp>
      <p:sp>
        <p:nvSpPr>
          <p:cNvPr id="25" name="Lapisan"/>
          <p:cNvSpPr/>
          <p:nvPr/>
        </p:nvSpPr>
        <p:spPr>
          <a:xfrm>
            <a:off x="5715000" y="3474720"/>
            <a:ext cx="1920240" cy="1234440"/>
          </a:xfrm>
          <a:prstGeom prst="roundRect">
            <a:avLst>
              <a:gd name="adj" fmla="val 7407"/>
            </a:avLst>
          </a:prstGeom>
          <a:solidFill>
            <a:schemeClr val="bg2"/>
          </a:solidFill>
          <a:ln/>
        </p:spPr>
      </p:sp>
      <p:sp>
        <p:nvSpPr>
          <p:cNvPr id="26" name="Text 23"/>
          <p:cNvSpPr txBox="1"/>
          <p:nvPr/>
        </p:nvSpPr>
        <p:spPr>
          <a:xfrm>
            <a:off x="5843016" y="3584448"/>
            <a:ext cx="1664208" cy="274320"/>
          </a:xfrm>
          <a:prstGeom prst="rect">
            <a:avLst/>
          </a:prstGeom>
          <a:noFill/>
          <a:ln/>
        </p:spPr>
        <p:txBody>
          <a:bodyPr wrap="square" lIns="0" tIns="0" rIns="0" bIns="0" rtlCol="0" anchor="t"/>
          <a:lstStyle/>
          <a:p>
            <a:pPr marL="0" indent="0" algn="l">
              <a:buNone/>
            </a:pPr>
            <a:r>
              <a:rPr lang="en-US" sz="1500" b="1" dirty="0">
                <a:solidFill>
                  <a:schemeClr val="accent1"/>
                </a:solidFill>
              </a:rPr>
              <a:t>Softmax</a:t>
            </a:r>
            <a:endParaRPr lang="en-US" sz="1500" dirty="0"/>
          </a:p>
        </p:txBody>
      </p:sp>
      <p:sp>
        <p:nvSpPr>
          <p:cNvPr id="27" name="Text 24"/>
          <p:cNvSpPr txBox="1"/>
          <p:nvPr/>
        </p:nvSpPr>
        <p:spPr>
          <a:xfrm>
            <a:off x="5843016" y="3931920"/>
            <a:ext cx="1664208" cy="731520"/>
          </a:xfrm>
          <a:prstGeom prst="rect">
            <a:avLst/>
          </a:prstGeom>
          <a:noFill/>
          <a:ln/>
        </p:spPr>
        <p:txBody>
          <a:bodyPr wrap="square" lIns="0" tIns="0" rIns="0" bIns="0" rtlCol="0" anchor="t"/>
          <a:lstStyle/>
          <a:p>
            <a:pPr marL="0" indent="0" algn="l">
              <a:buNone/>
            </a:pPr>
            <a:r>
              <a:rPr lang="en-US" sz="1400" dirty="0">
                <a:solidFill>
                  <a:schemeClr val="tx1"/>
                </a:solidFill>
              </a:rPr>
              <a:t>Skor jadi persentase 4 kelas (100%)</a:t>
            </a:r>
            <a:endParaRPr lang="en-US" sz="14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Pembagian data, augmentasi, dan overfitting</a:t>
            </a:r>
            <a:endParaRPr lang="en-US" sz="2800" dirty="0"/>
          </a:p>
        </p:txBody>
      </p:sp>
      <p:sp>
        <p:nvSpPr>
          <p:cNvPr id="5" name="Kolom"/>
          <p:cNvSpPr/>
          <p:nvPr/>
        </p:nvSpPr>
        <p:spPr>
          <a:xfrm>
            <a:off x="457200" y="1280160"/>
            <a:ext cx="2651760" cy="3337560"/>
          </a:xfrm>
          <a:prstGeom prst="roundRect">
            <a:avLst>
              <a:gd name="adj" fmla="val 3448"/>
            </a:avLst>
          </a:prstGeom>
          <a:solidFill>
            <a:schemeClr val="bg2"/>
          </a:solidFill>
          <a:ln/>
        </p:spPr>
      </p:sp>
      <p:sp>
        <p:nvSpPr>
          <p:cNvPr id="6" name="Badge"/>
          <p:cNvSpPr/>
          <p:nvPr/>
        </p:nvSpPr>
        <p:spPr>
          <a:xfrm>
            <a:off x="640080" y="1463040"/>
            <a:ext cx="457200" cy="457200"/>
          </a:xfrm>
          <a:prstGeom prst="ellipse">
            <a:avLst/>
          </a:prstGeom>
          <a:solidFill>
            <a:schemeClr val="accent1"/>
          </a:solidFill>
          <a:ln/>
        </p:spPr>
      </p:sp>
      <p:sp>
        <p:nvSpPr>
          <p:cNvPr id="7" name="Text 4"/>
          <p:cNvSpPr txBox="1"/>
          <p:nvPr/>
        </p:nvSpPr>
        <p:spPr>
          <a:xfrm>
            <a:off x="64008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234440" y="1463040"/>
            <a:ext cx="1737360" cy="457200"/>
          </a:xfrm>
          <a:prstGeom prst="rect">
            <a:avLst/>
          </a:prstGeom>
          <a:noFill/>
          <a:ln/>
        </p:spPr>
        <p:txBody>
          <a:bodyPr wrap="square" lIns="0" tIns="0" rIns="0" bIns="0" rtlCol="0" anchor="ctr"/>
          <a:lstStyle/>
          <a:p>
            <a:pPr marL="0" indent="0" algn="l">
              <a:buNone/>
            </a:pPr>
            <a:r>
              <a:rPr lang="en-US" sz="1600" b="1" dirty="0">
                <a:solidFill>
                  <a:schemeClr val="tx2"/>
                </a:solidFill>
              </a:rPr>
              <a:t>Pembagian data</a:t>
            </a:r>
            <a:endParaRPr lang="en-US" sz="1600" dirty="0"/>
          </a:p>
        </p:txBody>
      </p:sp>
      <p:sp>
        <p:nvSpPr>
          <p:cNvPr id="9" name="Text 6"/>
          <p:cNvSpPr txBox="1"/>
          <p:nvPr/>
        </p:nvSpPr>
        <p:spPr>
          <a:xfrm>
            <a:off x="640080" y="2194560"/>
            <a:ext cx="23317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Train: buku latihan tempat model belajar</a:t>
            </a:r>
            <a:endParaRPr lang="en-US" sz="1400" dirty="0"/>
          </a:p>
          <a:p>
            <a:pPr marL="342900" indent="-342900" algn="l">
              <a:spcAft>
                <a:spcPts val="800"/>
              </a:spcAft>
              <a:buSzPct val="100000"/>
              <a:buChar char="•"/>
            </a:pPr>
            <a:r>
              <a:rPr lang="en-US" sz="1400" dirty="0">
                <a:solidFill>
                  <a:schemeClr val="tx1"/>
                </a:solidFill>
              </a:rPr>
              <a:t>Validation: ujian percobaan untuk memantau</a:t>
            </a:r>
            <a:endParaRPr lang="en-US" sz="1400" dirty="0"/>
          </a:p>
          <a:p>
            <a:pPr marL="342900" indent="-342900" algn="l">
              <a:spcAft>
                <a:spcPts val="800"/>
              </a:spcAft>
              <a:buSzPct val="100000"/>
              <a:buChar char="•"/>
            </a:pPr>
            <a:r>
              <a:rPr lang="en-US" sz="1400" dirty="0">
                <a:solidFill>
                  <a:schemeClr val="tx1"/>
                </a:solidFill>
              </a:rPr>
              <a:t>Test: ujian akhir yang tak pernah dilihat</a:t>
            </a:r>
            <a:endParaRPr lang="en-US" sz="1400" dirty="0"/>
          </a:p>
          <a:p>
            <a:pPr marL="342900" indent="-342900" algn="l">
              <a:spcAft>
                <a:spcPts val="800"/>
              </a:spcAft>
              <a:buSzPct val="100000"/>
              <a:buChar char="•"/>
            </a:pPr>
            <a:r>
              <a:rPr lang="en-US" sz="1400" dirty="0">
                <a:solidFill>
                  <a:schemeClr val="tx1"/>
                </a:solidFill>
              </a:rPr>
              <a:t>Stratified: proporsi kelas tetap sama</a:t>
            </a:r>
            <a:endParaRPr lang="en-US" sz="1400" dirty="0"/>
          </a:p>
        </p:txBody>
      </p:sp>
      <p:sp>
        <p:nvSpPr>
          <p:cNvPr id="10" name="Kolom"/>
          <p:cNvSpPr/>
          <p:nvPr/>
        </p:nvSpPr>
        <p:spPr>
          <a:xfrm>
            <a:off x="3246120" y="1280160"/>
            <a:ext cx="2651760" cy="3337560"/>
          </a:xfrm>
          <a:prstGeom prst="roundRect">
            <a:avLst>
              <a:gd name="adj" fmla="val 3448"/>
            </a:avLst>
          </a:prstGeom>
          <a:solidFill>
            <a:schemeClr val="bg2"/>
          </a:solidFill>
          <a:ln/>
        </p:spPr>
      </p:sp>
      <p:sp>
        <p:nvSpPr>
          <p:cNvPr id="11" name="Badge"/>
          <p:cNvSpPr/>
          <p:nvPr/>
        </p:nvSpPr>
        <p:spPr>
          <a:xfrm>
            <a:off x="3429000" y="1463040"/>
            <a:ext cx="457200" cy="457200"/>
          </a:xfrm>
          <a:prstGeom prst="ellipse">
            <a:avLst/>
          </a:prstGeom>
          <a:solidFill>
            <a:schemeClr val="accent4"/>
          </a:solidFill>
          <a:ln/>
        </p:spPr>
      </p:sp>
      <p:sp>
        <p:nvSpPr>
          <p:cNvPr id="12" name="Text 9"/>
          <p:cNvSpPr txBox="1"/>
          <p:nvPr/>
        </p:nvSpPr>
        <p:spPr>
          <a:xfrm>
            <a:off x="342900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4023360" y="1463040"/>
            <a:ext cx="1737360" cy="457200"/>
          </a:xfrm>
          <a:prstGeom prst="rect">
            <a:avLst/>
          </a:prstGeom>
          <a:noFill/>
          <a:ln/>
        </p:spPr>
        <p:txBody>
          <a:bodyPr wrap="square" lIns="0" tIns="0" rIns="0" bIns="0" rtlCol="0" anchor="ctr"/>
          <a:lstStyle/>
          <a:p>
            <a:pPr marL="0" indent="0" algn="l">
              <a:buNone/>
            </a:pPr>
            <a:r>
              <a:rPr lang="en-US" sz="1600" b="1" dirty="0">
                <a:solidFill>
                  <a:schemeClr val="tx2"/>
                </a:solidFill>
              </a:rPr>
              <a:t>Augmentasi</a:t>
            </a:r>
            <a:endParaRPr lang="en-US" sz="1600" dirty="0"/>
          </a:p>
        </p:txBody>
      </p:sp>
      <p:sp>
        <p:nvSpPr>
          <p:cNvPr id="14" name="Text 11"/>
          <p:cNvSpPr txBox="1"/>
          <p:nvPr/>
        </p:nvSpPr>
        <p:spPr>
          <a:xfrm>
            <a:off x="3429000" y="2194560"/>
            <a:ext cx="23317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Menambah variasi gambar latih</a:t>
            </a:r>
            <a:endParaRPr lang="en-US" sz="1400" dirty="0"/>
          </a:p>
          <a:p>
            <a:pPr marL="342900" indent="-342900" algn="l">
              <a:spcAft>
                <a:spcPts val="800"/>
              </a:spcAft>
              <a:buSzPct val="100000"/>
              <a:buChar char="•"/>
            </a:pPr>
            <a:r>
              <a:rPr lang="en-US" sz="1400" dirty="0">
                <a:solidFill>
                  <a:schemeClr val="tx1"/>
                </a:solidFill>
              </a:rPr>
              <a:t>Flip, rotasi kecil, zoom</a:t>
            </a:r>
            <a:endParaRPr lang="en-US" sz="1400" dirty="0"/>
          </a:p>
          <a:p>
            <a:pPr marL="342900" indent="-342900" algn="l">
              <a:spcAft>
                <a:spcPts val="800"/>
              </a:spcAft>
              <a:buSzPct val="100000"/>
              <a:buChar char="•"/>
            </a:pPr>
            <a:r>
              <a:rPr lang="en-US" sz="1400" dirty="0">
                <a:solidFill>
                  <a:schemeClr val="tx1"/>
                </a:solidFill>
              </a:rPr>
              <a:t>Model lebih tahan beda posisi dan ukuran</a:t>
            </a:r>
            <a:endParaRPr lang="en-US" sz="1400" dirty="0"/>
          </a:p>
          <a:p>
            <a:pPr marL="342900" indent="-342900" algn="l">
              <a:spcAft>
                <a:spcPts val="800"/>
              </a:spcAft>
              <a:buSzPct val="100000"/>
              <a:buChar char="•"/>
            </a:pPr>
            <a:r>
              <a:rPr lang="en-US" sz="1400" dirty="0">
                <a:solidFill>
                  <a:schemeClr val="tx1"/>
                </a:solidFill>
              </a:rPr>
              <a:t>Hanya untuk data latih</a:t>
            </a:r>
            <a:endParaRPr lang="en-US" sz="1400" dirty="0"/>
          </a:p>
        </p:txBody>
      </p:sp>
      <p:sp>
        <p:nvSpPr>
          <p:cNvPr id="15" name="Kolom"/>
          <p:cNvSpPr/>
          <p:nvPr/>
        </p:nvSpPr>
        <p:spPr>
          <a:xfrm>
            <a:off x="6035040" y="1280160"/>
            <a:ext cx="2651760" cy="3337560"/>
          </a:xfrm>
          <a:prstGeom prst="roundRect">
            <a:avLst>
              <a:gd name="adj" fmla="val 3448"/>
            </a:avLst>
          </a:prstGeom>
          <a:solidFill>
            <a:schemeClr val="bg2"/>
          </a:solidFill>
          <a:ln/>
        </p:spPr>
      </p:sp>
      <p:sp>
        <p:nvSpPr>
          <p:cNvPr id="16" name="Badge"/>
          <p:cNvSpPr/>
          <p:nvPr/>
        </p:nvSpPr>
        <p:spPr>
          <a:xfrm>
            <a:off x="6217920" y="1463040"/>
            <a:ext cx="457200" cy="457200"/>
          </a:xfrm>
          <a:prstGeom prst="ellipse">
            <a:avLst/>
          </a:prstGeom>
          <a:solidFill>
            <a:schemeClr val="accent2"/>
          </a:solidFill>
          <a:ln/>
        </p:spPr>
      </p:sp>
      <p:sp>
        <p:nvSpPr>
          <p:cNvPr id="17" name="Text 14"/>
          <p:cNvSpPr txBox="1"/>
          <p:nvPr/>
        </p:nvSpPr>
        <p:spPr>
          <a:xfrm>
            <a:off x="6217920" y="14630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5"/>
          <p:cNvSpPr txBox="1"/>
          <p:nvPr/>
        </p:nvSpPr>
        <p:spPr>
          <a:xfrm>
            <a:off x="6812280" y="1463040"/>
            <a:ext cx="1737360" cy="457200"/>
          </a:xfrm>
          <a:prstGeom prst="rect">
            <a:avLst/>
          </a:prstGeom>
          <a:noFill/>
          <a:ln/>
        </p:spPr>
        <p:txBody>
          <a:bodyPr wrap="square" lIns="0" tIns="0" rIns="0" bIns="0" rtlCol="0" anchor="ctr"/>
          <a:lstStyle/>
          <a:p>
            <a:pPr marL="0" indent="0" algn="l">
              <a:buNone/>
            </a:pPr>
            <a:r>
              <a:rPr lang="en-US" sz="1600" b="1" dirty="0">
                <a:solidFill>
                  <a:schemeClr val="tx2"/>
                </a:solidFill>
              </a:rPr>
              <a:t>Overfitting</a:t>
            </a:r>
            <a:endParaRPr lang="en-US" sz="1600" dirty="0"/>
          </a:p>
        </p:txBody>
      </p:sp>
      <p:sp>
        <p:nvSpPr>
          <p:cNvPr id="19" name="Text 16"/>
          <p:cNvSpPr txBox="1"/>
          <p:nvPr/>
        </p:nvSpPr>
        <p:spPr>
          <a:xfrm>
            <a:off x="6217920" y="2194560"/>
            <a:ext cx="2331720" cy="2331720"/>
          </a:xfrm>
          <a:prstGeom prst="rect">
            <a:avLst/>
          </a:prstGeom>
          <a:noFill/>
          <a:ln/>
        </p:spPr>
        <p:txBody>
          <a:bodyPr wrap="square" lIns="0" tIns="0" rIns="0" bIns="0" rtlCol="0" anchor="t"/>
          <a:lstStyle/>
          <a:p>
            <a:pPr marL="342900" indent="-342900" algn="l">
              <a:spcAft>
                <a:spcPts val="800"/>
              </a:spcAft>
              <a:buSzPct val="100000"/>
              <a:buChar char="•"/>
            </a:pPr>
            <a:r>
              <a:rPr lang="en-US" sz="1400" dirty="0">
                <a:solidFill>
                  <a:schemeClr val="tx1"/>
                </a:solidFill>
              </a:rPr>
              <a:t>Model terlalu hafal data latih</a:t>
            </a:r>
            <a:endParaRPr lang="en-US" sz="1400" dirty="0"/>
          </a:p>
          <a:p>
            <a:pPr marL="342900" indent="-342900" algn="l">
              <a:spcAft>
                <a:spcPts val="800"/>
              </a:spcAft>
              <a:buSzPct val="100000"/>
              <a:buChar char="•"/>
            </a:pPr>
            <a:r>
              <a:rPr lang="en-US" sz="1400" dirty="0">
                <a:solidFill>
                  <a:schemeClr val="tx1"/>
                </a:solidFill>
              </a:rPr>
              <a:t>Tanda: akurasi latih jauh di atas validasi</a:t>
            </a:r>
            <a:endParaRPr lang="en-US" sz="1400" dirty="0"/>
          </a:p>
          <a:p>
            <a:pPr marL="342900" indent="-342900" algn="l">
              <a:spcAft>
                <a:spcPts val="800"/>
              </a:spcAft>
              <a:buSzPct val="100000"/>
              <a:buChar char="•"/>
            </a:pPr>
            <a:r>
              <a:rPr lang="en-US" sz="1400" dirty="0">
                <a:solidFill>
                  <a:schemeClr val="tx1"/>
                </a:solidFill>
              </a:rPr>
              <a:t>Bagus saat latihan, buruk pada data baru</a:t>
            </a:r>
            <a:endParaRPr lang="en-US" sz="1400" dirty="0"/>
          </a:p>
          <a:p>
            <a:pPr marL="342900" indent="-342900" algn="l">
              <a:spcAft>
                <a:spcPts val="800"/>
              </a:spcAft>
              <a:buSzPct val="100000"/>
              <a:buChar char="•"/>
            </a:pPr>
            <a:r>
              <a:rPr lang="en-US" sz="1400" dirty="0">
                <a:solidFill>
                  <a:schemeClr val="tx1"/>
                </a:solidFill>
              </a:rPr>
              <a:t>Dicegah dengan dropout dan augmentasi</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Epoch, batch size, learning rate, optimizer</a:t>
            </a:r>
            <a:endParaRPr lang="en-US" sz="2800" dirty="0"/>
          </a:p>
        </p:txBody>
      </p:sp>
      <p:sp>
        <p:nvSpPr>
          <p:cNvPr id="5" name="Parameter"/>
          <p:cNvSpPr/>
          <p:nvPr/>
        </p:nvSpPr>
        <p:spPr>
          <a:xfrm>
            <a:off x="457200" y="1280160"/>
            <a:ext cx="4023360" cy="1554480"/>
          </a:xfrm>
          <a:prstGeom prst="roundRect">
            <a:avLst>
              <a:gd name="adj" fmla="val 5882"/>
            </a:avLst>
          </a:prstGeom>
          <a:solidFill>
            <a:schemeClr val="bg2"/>
          </a:solidFill>
          <a:ln/>
        </p:spPr>
      </p:sp>
      <p:sp>
        <p:nvSpPr>
          <p:cNvPr id="6" name="Text 3"/>
          <p:cNvSpPr txBox="1"/>
          <p:nvPr/>
        </p:nvSpPr>
        <p:spPr>
          <a:xfrm>
            <a:off x="640080" y="1417320"/>
            <a:ext cx="1463040" cy="1280160"/>
          </a:xfrm>
          <a:prstGeom prst="rect">
            <a:avLst/>
          </a:prstGeom>
          <a:noFill/>
          <a:ln/>
        </p:spPr>
        <p:txBody>
          <a:bodyPr wrap="square" lIns="0" tIns="0" rIns="0" bIns="0" rtlCol="0" anchor="ctr"/>
          <a:lstStyle/>
          <a:p>
            <a:pPr marL="0" indent="0" algn="l">
              <a:buNone/>
            </a:pPr>
            <a:r>
              <a:rPr lang="en-US" sz="3000" b="1" dirty="0">
                <a:solidFill>
                  <a:schemeClr val="accent1"/>
                </a:solidFill>
                <a:latin typeface="Cambria" pitchFamily="34" charset="0"/>
                <a:ea typeface="Cambria" pitchFamily="34" charset="-122"/>
                <a:cs typeface="Cambria" pitchFamily="34" charset="-120"/>
              </a:rPr>
              <a:t>20</a:t>
            </a:r>
            <a:endParaRPr lang="en-US" sz="3000" dirty="0"/>
          </a:p>
        </p:txBody>
      </p:sp>
      <p:sp>
        <p:nvSpPr>
          <p:cNvPr id="7" name="Text 4"/>
          <p:cNvSpPr txBox="1"/>
          <p:nvPr/>
        </p:nvSpPr>
        <p:spPr>
          <a:xfrm>
            <a:off x="2148840" y="141732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Epoch</a:t>
            </a:r>
            <a:endParaRPr lang="en-US" sz="1600" dirty="0"/>
          </a:p>
        </p:txBody>
      </p:sp>
      <p:sp>
        <p:nvSpPr>
          <p:cNvPr id="8" name="Text 5"/>
          <p:cNvSpPr txBox="1"/>
          <p:nvPr/>
        </p:nvSpPr>
        <p:spPr>
          <a:xfrm>
            <a:off x="2148840" y="1783080"/>
            <a:ext cx="2194560" cy="960120"/>
          </a:xfrm>
          <a:prstGeom prst="rect">
            <a:avLst/>
          </a:prstGeom>
          <a:noFill/>
          <a:ln/>
        </p:spPr>
        <p:txBody>
          <a:bodyPr wrap="square" lIns="0" tIns="0" rIns="0" bIns="0" rtlCol="0" anchor="t"/>
          <a:lstStyle/>
          <a:p>
            <a:pPr marL="0" indent="0" algn="l">
              <a:buNone/>
            </a:pPr>
            <a:r>
              <a:rPr lang="en-US" sz="1400" dirty="0">
                <a:solidFill>
                  <a:schemeClr val="tx1"/>
                </a:solidFill>
              </a:rPr>
              <a:t>Satu putaran penuh model melihat seluruh data latih</a:t>
            </a:r>
            <a:endParaRPr lang="en-US" sz="1400" dirty="0"/>
          </a:p>
        </p:txBody>
      </p:sp>
      <p:sp>
        <p:nvSpPr>
          <p:cNvPr id="9" name="Parameter"/>
          <p:cNvSpPr/>
          <p:nvPr/>
        </p:nvSpPr>
        <p:spPr>
          <a:xfrm>
            <a:off x="4663440" y="1280160"/>
            <a:ext cx="4023360" cy="1554480"/>
          </a:xfrm>
          <a:prstGeom prst="roundRect">
            <a:avLst>
              <a:gd name="adj" fmla="val 5882"/>
            </a:avLst>
          </a:prstGeom>
          <a:solidFill>
            <a:schemeClr val="bg2"/>
          </a:solidFill>
          <a:ln/>
        </p:spPr>
      </p:sp>
      <p:sp>
        <p:nvSpPr>
          <p:cNvPr id="10" name="Text 7"/>
          <p:cNvSpPr txBox="1"/>
          <p:nvPr/>
        </p:nvSpPr>
        <p:spPr>
          <a:xfrm>
            <a:off x="4846320" y="1417320"/>
            <a:ext cx="1463040" cy="1280160"/>
          </a:xfrm>
          <a:prstGeom prst="rect">
            <a:avLst/>
          </a:prstGeom>
          <a:noFill/>
          <a:ln/>
        </p:spPr>
        <p:txBody>
          <a:bodyPr wrap="square" lIns="0" tIns="0" rIns="0" bIns="0" rtlCol="0" anchor="ctr"/>
          <a:lstStyle/>
          <a:p>
            <a:pPr marL="0" indent="0" algn="l">
              <a:buNone/>
            </a:pPr>
            <a:r>
              <a:rPr lang="en-US" sz="3000" b="1" dirty="0">
                <a:solidFill>
                  <a:schemeClr val="accent1"/>
                </a:solidFill>
                <a:latin typeface="Cambria" pitchFamily="34" charset="0"/>
                <a:ea typeface="Cambria" pitchFamily="34" charset="-122"/>
                <a:cs typeface="Cambria" pitchFamily="34" charset="-120"/>
              </a:rPr>
              <a:t>32</a:t>
            </a:r>
            <a:endParaRPr lang="en-US" sz="3000" dirty="0"/>
          </a:p>
        </p:txBody>
      </p:sp>
      <p:sp>
        <p:nvSpPr>
          <p:cNvPr id="11" name="Text 8"/>
          <p:cNvSpPr txBox="1"/>
          <p:nvPr/>
        </p:nvSpPr>
        <p:spPr>
          <a:xfrm>
            <a:off x="6355080" y="141732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Batch size</a:t>
            </a:r>
            <a:endParaRPr lang="en-US" sz="1600" dirty="0"/>
          </a:p>
        </p:txBody>
      </p:sp>
      <p:sp>
        <p:nvSpPr>
          <p:cNvPr id="12" name="Text 9"/>
          <p:cNvSpPr txBox="1"/>
          <p:nvPr/>
        </p:nvSpPr>
        <p:spPr>
          <a:xfrm>
            <a:off x="6355080" y="1783080"/>
            <a:ext cx="2194560" cy="960120"/>
          </a:xfrm>
          <a:prstGeom prst="rect">
            <a:avLst/>
          </a:prstGeom>
          <a:noFill/>
          <a:ln/>
        </p:spPr>
        <p:txBody>
          <a:bodyPr wrap="square" lIns="0" tIns="0" rIns="0" bIns="0" rtlCol="0" anchor="t"/>
          <a:lstStyle/>
          <a:p>
            <a:pPr marL="0" indent="0" algn="l">
              <a:buNone/>
            </a:pPr>
            <a:r>
              <a:rPr lang="en-US" sz="1400" dirty="0">
                <a:solidFill>
                  <a:schemeClr val="tx1"/>
                </a:solidFill>
              </a:rPr>
              <a:t>Jumlah gambar diproses sekaligus sebelum model memperbarui diri</a:t>
            </a:r>
            <a:endParaRPr lang="en-US" sz="1400" dirty="0"/>
          </a:p>
        </p:txBody>
      </p:sp>
      <p:sp>
        <p:nvSpPr>
          <p:cNvPr id="13" name="Parameter"/>
          <p:cNvSpPr/>
          <p:nvPr/>
        </p:nvSpPr>
        <p:spPr>
          <a:xfrm>
            <a:off x="457200" y="2971800"/>
            <a:ext cx="4023360" cy="1554480"/>
          </a:xfrm>
          <a:prstGeom prst="roundRect">
            <a:avLst>
              <a:gd name="adj" fmla="val 5882"/>
            </a:avLst>
          </a:prstGeom>
          <a:solidFill>
            <a:schemeClr val="bg2"/>
          </a:solidFill>
          <a:ln/>
        </p:spPr>
      </p:sp>
      <p:sp>
        <p:nvSpPr>
          <p:cNvPr id="14" name="Text 11"/>
          <p:cNvSpPr txBox="1"/>
          <p:nvPr/>
        </p:nvSpPr>
        <p:spPr>
          <a:xfrm>
            <a:off x="640080" y="3108960"/>
            <a:ext cx="1463040" cy="1280160"/>
          </a:xfrm>
          <a:prstGeom prst="rect">
            <a:avLst/>
          </a:prstGeom>
          <a:noFill/>
          <a:ln/>
        </p:spPr>
        <p:txBody>
          <a:bodyPr wrap="square" lIns="0" tIns="0" rIns="0" bIns="0" rtlCol="0" anchor="ctr"/>
          <a:lstStyle/>
          <a:p>
            <a:pPr marL="0" indent="0" algn="l">
              <a:buNone/>
            </a:pPr>
            <a:r>
              <a:rPr lang="en-US" sz="3000" b="1" dirty="0">
                <a:solidFill>
                  <a:schemeClr val="accent1"/>
                </a:solidFill>
                <a:latin typeface="Cambria" pitchFamily="34" charset="0"/>
                <a:ea typeface="Cambria" pitchFamily="34" charset="-122"/>
                <a:cs typeface="Cambria" pitchFamily="34" charset="-120"/>
              </a:rPr>
              <a:t>0,0005</a:t>
            </a:r>
            <a:endParaRPr lang="en-US" sz="3000" dirty="0"/>
          </a:p>
        </p:txBody>
      </p:sp>
      <p:sp>
        <p:nvSpPr>
          <p:cNvPr id="15" name="Text 12"/>
          <p:cNvSpPr txBox="1"/>
          <p:nvPr/>
        </p:nvSpPr>
        <p:spPr>
          <a:xfrm>
            <a:off x="2148840" y="310896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Learning rate</a:t>
            </a:r>
            <a:endParaRPr lang="en-US" sz="1600" dirty="0"/>
          </a:p>
        </p:txBody>
      </p:sp>
      <p:sp>
        <p:nvSpPr>
          <p:cNvPr id="16" name="Text 13"/>
          <p:cNvSpPr txBox="1"/>
          <p:nvPr/>
        </p:nvSpPr>
        <p:spPr>
          <a:xfrm>
            <a:off x="2148840" y="3474720"/>
            <a:ext cx="2194560" cy="960120"/>
          </a:xfrm>
          <a:prstGeom prst="rect">
            <a:avLst/>
          </a:prstGeom>
          <a:noFill/>
          <a:ln/>
        </p:spPr>
        <p:txBody>
          <a:bodyPr wrap="square" lIns="0" tIns="0" rIns="0" bIns="0" rtlCol="0" anchor="t"/>
          <a:lstStyle/>
          <a:p>
            <a:pPr marL="0" indent="0" algn="l">
              <a:buNone/>
            </a:pPr>
            <a:r>
              <a:rPr lang="en-US" sz="1400" dirty="0">
                <a:solidFill>
                  <a:schemeClr val="tx1"/>
                </a:solidFill>
              </a:rPr>
              <a:t>Ukuran langkah belajar: terlalu besar melompat, terlalu kecil lambat</a:t>
            </a:r>
            <a:endParaRPr lang="en-US" sz="1400" dirty="0"/>
          </a:p>
        </p:txBody>
      </p:sp>
      <p:sp>
        <p:nvSpPr>
          <p:cNvPr id="17" name="Parameter"/>
          <p:cNvSpPr/>
          <p:nvPr/>
        </p:nvSpPr>
        <p:spPr>
          <a:xfrm>
            <a:off x="4663440" y="2971800"/>
            <a:ext cx="4023360" cy="1554480"/>
          </a:xfrm>
          <a:prstGeom prst="roundRect">
            <a:avLst>
              <a:gd name="adj" fmla="val 5882"/>
            </a:avLst>
          </a:prstGeom>
          <a:solidFill>
            <a:schemeClr val="bg2"/>
          </a:solidFill>
          <a:ln/>
        </p:spPr>
      </p:sp>
      <p:sp>
        <p:nvSpPr>
          <p:cNvPr id="18" name="Text 15"/>
          <p:cNvSpPr txBox="1"/>
          <p:nvPr/>
        </p:nvSpPr>
        <p:spPr>
          <a:xfrm>
            <a:off x="4846320" y="3108960"/>
            <a:ext cx="1463040" cy="1280160"/>
          </a:xfrm>
          <a:prstGeom prst="rect">
            <a:avLst/>
          </a:prstGeom>
          <a:noFill/>
          <a:ln/>
        </p:spPr>
        <p:txBody>
          <a:bodyPr wrap="square" lIns="0" tIns="0" rIns="0" bIns="0" rtlCol="0" anchor="ctr"/>
          <a:lstStyle/>
          <a:p>
            <a:pPr marL="0" indent="0" algn="l">
              <a:buNone/>
            </a:pPr>
            <a:r>
              <a:rPr lang="en-US" sz="3000" b="1" dirty="0">
                <a:solidFill>
                  <a:schemeClr val="accent4"/>
                </a:solidFill>
                <a:latin typeface="Cambria" pitchFamily="34" charset="0"/>
                <a:ea typeface="Cambria" pitchFamily="34" charset="-122"/>
                <a:cs typeface="Cambria" pitchFamily="34" charset="-120"/>
              </a:rPr>
              <a:t>3</a:t>
            </a:r>
            <a:endParaRPr lang="en-US" sz="3000" dirty="0"/>
          </a:p>
        </p:txBody>
      </p:sp>
      <p:sp>
        <p:nvSpPr>
          <p:cNvPr id="19" name="Text 16"/>
          <p:cNvSpPr txBox="1"/>
          <p:nvPr/>
        </p:nvSpPr>
        <p:spPr>
          <a:xfrm>
            <a:off x="6355080" y="310896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Optimizer</a:t>
            </a:r>
            <a:endParaRPr lang="en-US" sz="1600" dirty="0"/>
          </a:p>
        </p:txBody>
      </p:sp>
      <p:sp>
        <p:nvSpPr>
          <p:cNvPr id="20" name="Text 17"/>
          <p:cNvSpPr txBox="1"/>
          <p:nvPr/>
        </p:nvSpPr>
        <p:spPr>
          <a:xfrm>
            <a:off x="6355080" y="3474720"/>
            <a:ext cx="2194560" cy="960120"/>
          </a:xfrm>
          <a:prstGeom prst="rect">
            <a:avLst/>
          </a:prstGeom>
          <a:noFill/>
          <a:ln/>
        </p:spPr>
        <p:txBody>
          <a:bodyPr wrap="square" lIns="0" tIns="0" rIns="0" bIns="0" rtlCol="0" anchor="t"/>
          <a:lstStyle/>
          <a:p>
            <a:pPr marL="0" indent="0" algn="l">
              <a:buNone/>
            </a:pPr>
            <a:r>
              <a:rPr lang="en-US" sz="1400" dirty="0">
                <a:solidFill>
                  <a:schemeClr val="tx1"/>
                </a:solidFill>
              </a:rPr>
              <a:t>Adam dan RMSprop (adaptif), SGD Momentum (lebih sederhana, lebih lambat bila LR kecil)</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Metrik evaluasi dan confusion matrix</a:t>
            </a:r>
            <a:endParaRPr lang="en-US" sz="2800" dirty="0"/>
          </a:p>
        </p:txBody>
      </p:sp>
      <p:graphicFrame>
        <p:nvGraphicFramePr>
          <p:cNvPr id="11" name="Tabel"/>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2194560"/>
        </p:xfrm>
        <a:graphic>
          <a:graphicData uri="http://schemas.openxmlformats.org/drawingml/2006/table">
            <a:tbl>
              <a:tblPr/>
              <a:tblGrid>
                <a:gridCol w="155448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chemeClr val="bg1"/>
                          </a:solidFill>
                        </a:rPr>
                        <a:t>Metrik</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Arti sederhana</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Rumus</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chemeClr val="tx1"/>
                          </a:solidFill>
                        </a:rPr>
                        <a:t>Accuracy</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Dari semua gambar, berapa persen ditebak benar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benar / semua</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chemeClr val="tx1"/>
                          </a:solidFill>
                        </a:rPr>
                        <a:t>Precision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Saat model menebak kelas X, seberapa sering benar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TP / (TP + FP)</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chemeClr val="tx1"/>
                          </a:solidFill>
                        </a:rPr>
                        <a:t>Recall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Dari semua gambar kelas X, berapa persen ditemukan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TP / (TP + FN)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chemeClr val="tx1"/>
                          </a:solidFill>
                        </a:rPr>
                        <a:t>F1-score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Nilai gabungan precision dan recall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2·P·R / (P + 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lgn="l">
                        <a:buNone/>
                      </a:pPr>
                      <a:r>
                        <a:rPr lang="en-US" sz="1300" b="1" dirty="0">
                          <a:solidFill>
                            <a:schemeClr val="tx1"/>
                          </a:solidFill>
                        </a:rPr>
                        <a:t>Macro average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Rata-rata 4 kelas, tiap kelas sama penting</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6" name="Callout"/>
          <p:cNvSpPr/>
          <p:nvPr/>
        </p:nvSpPr>
        <p:spPr>
          <a:xfrm>
            <a:off x="457200" y="3703320"/>
            <a:ext cx="4023360" cy="914400"/>
          </a:xfrm>
          <a:prstGeom prst="roundRect">
            <a:avLst>
              <a:gd name="adj" fmla="val 10000"/>
            </a:avLst>
          </a:prstGeom>
          <a:solidFill>
            <a:schemeClr val="bg2"/>
          </a:solidFill>
          <a:ln/>
        </p:spPr>
      </p:sp>
      <p:sp>
        <p:nvSpPr>
          <p:cNvPr id="7" name="Text 3"/>
          <p:cNvSpPr txBox="1"/>
          <p:nvPr/>
        </p:nvSpPr>
        <p:spPr>
          <a:xfrm>
            <a:off x="640080" y="3776472"/>
            <a:ext cx="3657600" cy="768096"/>
          </a:xfrm>
          <a:prstGeom prst="rect">
            <a:avLst/>
          </a:prstGeom>
          <a:noFill/>
          <a:ln/>
        </p:spPr>
        <p:txBody>
          <a:bodyPr wrap="square" lIns="0" tIns="0" rIns="0" bIns="0" rtlCol="0" anchor="ctr"/>
          <a:lstStyle/>
          <a:p>
            <a:pPr marL="0" indent="0" algn="l">
              <a:buNone/>
            </a:pPr>
            <a:r>
              <a:rPr lang="en-US" sz="1400" dirty="0">
                <a:solidFill>
                  <a:schemeClr val="tx1"/>
                </a:solidFill>
              </a:rPr>
              <a:t>Contoh: model menebak 78 gambar glioma, 72 benar. Precision glioma = 72 / 78 = 0,923.</a:t>
            </a:r>
            <a:endParaRPr lang="en-US" sz="1400" dirty="0"/>
          </a:p>
        </p:txBody>
      </p:sp>
      <p:sp>
        <p:nvSpPr>
          <p:cNvPr id="8" name="Callout"/>
          <p:cNvSpPr/>
          <p:nvPr/>
        </p:nvSpPr>
        <p:spPr>
          <a:xfrm>
            <a:off x="4663440" y="3703320"/>
            <a:ext cx="4023360" cy="914400"/>
          </a:xfrm>
          <a:prstGeom prst="roundRect">
            <a:avLst>
              <a:gd name="adj" fmla="val 10000"/>
            </a:avLst>
          </a:prstGeom>
          <a:solidFill>
            <a:schemeClr val="bg2"/>
          </a:solidFill>
          <a:ln/>
        </p:spPr>
      </p:sp>
      <p:sp>
        <p:nvSpPr>
          <p:cNvPr id="9" name="Text 5"/>
          <p:cNvSpPr txBox="1"/>
          <p:nvPr/>
        </p:nvSpPr>
        <p:spPr>
          <a:xfrm>
            <a:off x="4846320" y="3776472"/>
            <a:ext cx="3657600" cy="768096"/>
          </a:xfrm>
          <a:prstGeom prst="rect">
            <a:avLst/>
          </a:prstGeom>
          <a:noFill/>
          <a:ln/>
        </p:spPr>
        <p:txBody>
          <a:bodyPr wrap="square" lIns="0" tIns="0" rIns="0" bIns="0" rtlCol="0" anchor="ctr"/>
          <a:lstStyle/>
          <a:p>
            <a:pPr marL="0" indent="0" algn="l">
              <a:buNone/>
            </a:pPr>
            <a:r>
              <a:rPr lang="en-US" sz="1400" dirty="0">
                <a:solidFill>
                  <a:schemeClr val="tx1"/>
                </a:solidFill>
              </a:rPr>
              <a:t>Confusion matrix: baris = kelas sebenarnya, kolom = tebakan model. Diagonal = tebakan benar.</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Alur penelitian di Google Colab</a:t>
            </a:r>
            <a:endParaRPr lang="en-US" sz="2800" dirty="0"/>
          </a:p>
        </p:txBody>
      </p:sp>
      <p:sp>
        <p:nvSpPr>
          <p:cNvPr id="5" name="Tahap"/>
          <p:cNvSpPr/>
          <p:nvPr/>
        </p:nvSpPr>
        <p:spPr>
          <a:xfrm>
            <a:off x="457200" y="1280160"/>
            <a:ext cx="2651760" cy="1600200"/>
          </a:xfrm>
          <a:prstGeom prst="roundRect">
            <a:avLst>
              <a:gd name="adj" fmla="val 5714"/>
            </a:avLst>
          </a:prstGeom>
          <a:solidFill>
            <a:schemeClr val="bg2"/>
          </a:solidFill>
          <a:ln/>
        </p:spPr>
      </p:sp>
      <p:sp>
        <p:nvSpPr>
          <p:cNvPr id="6" name="Badge"/>
          <p:cNvSpPr/>
          <p:nvPr/>
        </p:nvSpPr>
        <p:spPr>
          <a:xfrm>
            <a:off x="621792" y="1444752"/>
            <a:ext cx="420624" cy="420624"/>
          </a:xfrm>
          <a:prstGeom prst="ellipse">
            <a:avLst/>
          </a:prstGeom>
          <a:solidFill>
            <a:schemeClr val="accent1"/>
          </a:solidFill>
          <a:ln/>
        </p:spPr>
      </p:sp>
      <p:sp>
        <p:nvSpPr>
          <p:cNvPr id="7" name="Text 4"/>
          <p:cNvSpPr txBox="1"/>
          <p:nvPr/>
        </p:nvSpPr>
        <p:spPr>
          <a:xfrm>
            <a:off x="621792" y="144475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8" name="Text 5"/>
          <p:cNvSpPr txBox="1"/>
          <p:nvPr/>
        </p:nvSpPr>
        <p:spPr>
          <a:xfrm>
            <a:off x="1170432" y="141732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Setup project</a:t>
            </a:r>
            <a:endParaRPr lang="en-US" sz="1400" dirty="0"/>
          </a:p>
        </p:txBody>
      </p:sp>
      <p:sp>
        <p:nvSpPr>
          <p:cNvPr id="9" name="Text 6"/>
          <p:cNvSpPr txBox="1"/>
          <p:nvPr/>
        </p:nvSpPr>
        <p:spPr>
          <a:xfrm>
            <a:off x="621792" y="202996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Impor library, hubungkan Google Drive, atur konfigurasi dan seed</a:t>
            </a:r>
            <a:endParaRPr lang="en-US" sz="1400" dirty="0"/>
          </a:p>
        </p:txBody>
      </p:sp>
      <p:sp>
        <p:nvSpPr>
          <p:cNvPr id="10" name="Tahap"/>
          <p:cNvSpPr/>
          <p:nvPr/>
        </p:nvSpPr>
        <p:spPr>
          <a:xfrm>
            <a:off x="3246120" y="1280160"/>
            <a:ext cx="2651760" cy="1600200"/>
          </a:xfrm>
          <a:prstGeom prst="roundRect">
            <a:avLst>
              <a:gd name="adj" fmla="val 5714"/>
            </a:avLst>
          </a:prstGeom>
          <a:solidFill>
            <a:schemeClr val="bg2"/>
          </a:solidFill>
          <a:ln/>
        </p:spPr>
      </p:sp>
      <p:sp>
        <p:nvSpPr>
          <p:cNvPr id="11" name="Badge"/>
          <p:cNvSpPr/>
          <p:nvPr/>
        </p:nvSpPr>
        <p:spPr>
          <a:xfrm>
            <a:off x="3410712" y="1444752"/>
            <a:ext cx="420624" cy="420624"/>
          </a:xfrm>
          <a:prstGeom prst="ellipse">
            <a:avLst/>
          </a:prstGeom>
          <a:solidFill>
            <a:schemeClr val="accent1"/>
          </a:solidFill>
          <a:ln/>
        </p:spPr>
      </p:sp>
      <p:sp>
        <p:nvSpPr>
          <p:cNvPr id="12" name="Text 9"/>
          <p:cNvSpPr txBox="1"/>
          <p:nvPr/>
        </p:nvSpPr>
        <p:spPr>
          <a:xfrm>
            <a:off x="3410712" y="144475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Text 10"/>
          <p:cNvSpPr txBox="1"/>
          <p:nvPr/>
        </p:nvSpPr>
        <p:spPr>
          <a:xfrm>
            <a:off x="3959352" y="141732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Muat dan cek dataset</a:t>
            </a:r>
            <a:endParaRPr lang="en-US" sz="1400" dirty="0"/>
          </a:p>
        </p:txBody>
      </p:sp>
      <p:sp>
        <p:nvSpPr>
          <p:cNvPr id="14" name="Text 11"/>
          <p:cNvSpPr txBox="1"/>
          <p:nvPr/>
        </p:nvSpPr>
        <p:spPr>
          <a:xfrm>
            <a:off x="3410712" y="202996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Baca semua gambar, samakan nama kelas, cek data kosong</a:t>
            </a:r>
            <a:endParaRPr lang="en-US" sz="1400" dirty="0"/>
          </a:p>
        </p:txBody>
      </p:sp>
      <p:sp>
        <p:nvSpPr>
          <p:cNvPr id="15" name="Tahap"/>
          <p:cNvSpPr/>
          <p:nvPr/>
        </p:nvSpPr>
        <p:spPr>
          <a:xfrm>
            <a:off x="6035040" y="1280160"/>
            <a:ext cx="2651760" cy="1600200"/>
          </a:xfrm>
          <a:prstGeom prst="roundRect">
            <a:avLst>
              <a:gd name="adj" fmla="val 5714"/>
            </a:avLst>
          </a:prstGeom>
          <a:solidFill>
            <a:schemeClr val="bg2"/>
          </a:solidFill>
          <a:ln/>
        </p:spPr>
      </p:sp>
      <p:sp>
        <p:nvSpPr>
          <p:cNvPr id="16" name="Badge"/>
          <p:cNvSpPr/>
          <p:nvPr/>
        </p:nvSpPr>
        <p:spPr>
          <a:xfrm>
            <a:off x="6199632" y="1444752"/>
            <a:ext cx="420624" cy="420624"/>
          </a:xfrm>
          <a:prstGeom prst="ellipse">
            <a:avLst/>
          </a:prstGeom>
          <a:solidFill>
            <a:schemeClr val="accent1"/>
          </a:solidFill>
          <a:ln/>
        </p:spPr>
      </p:sp>
      <p:sp>
        <p:nvSpPr>
          <p:cNvPr id="17" name="Text 14"/>
          <p:cNvSpPr txBox="1"/>
          <p:nvPr/>
        </p:nvSpPr>
        <p:spPr>
          <a:xfrm>
            <a:off x="6199632" y="144475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8" name="Text 15"/>
          <p:cNvSpPr txBox="1"/>
          <p:nvPr/>
        </p:nvSpPr>
        <p:spPr>
          <a:xfrm>
            <a:off x="6748272" y="141732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Preprocessing dan eksplorasi</a:t>
            </a:r>
            <a:endParaRPr lang="en-US" sz="1400" dirty="0"/>
          </a:p>
        </p:txBody>
      </p:sp>
      <p:sp>
        <p:nvSpPr>
          <p:cNvPr id="19" name="Text 16"/>
          <p:cNvSpPr txBox="1"/>
          <p:nvPr/>
        </p:nvSpPr>
        <p:spPr>
          <a:xfrm>
            <a:off x="6199632" y="202996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RGB, resize 128×128, distribusi kelas, statistik piksel</a:t>
            </a:r>
            <a:endParaRPr lang="en-US" sz="1400" dirty="0"/>
          </a:p>
        </p:txBody>
      </p:sp>
      <p:sp>
        <p:nvSpPr>
          <p:cNvPr id="20" name="Tahap"/>
          <p:cNvSpPr/>
          <p:nvPr/>
        </p:nvSpPr>
        <p:spPr>
          <a:xfrm>
            <a:off x="457200" y="3017520"/>
            <a:ext cx="2651760" cy="1600200"/>
          </a:xfrm>
          <a:prstGeom prst="roundRect">
            <a:avLst>
              <a:gd name="adj" fmla="val 5714"/>
            </a:avLst>
          </a:prstGeom>
          <a:solidFill>
            <a:schemeClr val="bg2"/>
          </a:solidFill>
          <a:ln/>
        </p:spPr>
      </p:sp>
      <p:sp>
        <p:nvSpPr>
          <p:cNvPr id="21" name="Badge"/>
          <p:cNvSpPr/>
          <p:nvPr/>
        </p:nvSpPr>
        <p:spPr>
          <a:xfrm>
            <a:off x="621792" y="3182112"/>
            <a:ext cx="420624" cy="420624"/>
          </a:xfrm>
          <a:prstGeom prst="ellipse">
            <a:avLst/>
          </a:prstGeom>
          <a:solidFill>
            <a:schemeClr val="accent1"/>
          </a:solidFill>
          <a:ln/>
        </p:spPr>
      </p:sp>
      <p:sp>
        <p:nvSpPr>
          <p:cNvPr id="22" name="Text 19"/>
          <p:cNvSpPr txBox="1"/>
          <p:nvPr/>
        </p:nvSpPr>
        <p:spPr>
          <a:xfrm>
            <a:off x="621792" y="318211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23" name="Text 20"/>
          <p:cNvSpPr txBox="1"/>
          <p:nvPr/>
        </p:nvSpPr>
        <p:spPr>
          <a:xfrm>
            <a:off x="1170432" y="315468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Arsitektur dan pipeline</a:t>
            </a:r>
            <a:endParaRPr lang="en-US" sz="1400" dirty="0"/>
          </a:p>
        </p:txBody>
      </p:sp>
      <p:sp>
        <p:nvSpPr>
          <p:cNvPr id="24" name="Text 21"/>
          <p:cNvSpPr txBox="1"/>
          <p:nvPr/>
        </p:nvSpPr>
        <p:spPr>
          <a:xfrm>
            <a:off x="621792" y="376732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CNN baseline, normalisasi, augmentasi, checkpoint</a:t>
            </a:r>
            <a:endParaRPr lang="en-US" sz="1400" dirty="0"/>
          </a:p>
        </p:txBody>
      </p:sp>
      <p:sp>
        <p:nvSpPr>
          <p:cNvPr id="25" name="Tahap"/>
          <p:cNvSpPr/>
          <p:nvPr/>
        </p:nvSpPr>
        <p:spPr>
          <a:xfrm>
            <a:off x="3246120" y="3017520"/>
            <a:ext cx="2651760" cy="1600200"/>
          </a:xfrm>
          <a:prstGeom prst="roundRect">
            <a:avLst>
              <a:gd name="adj" fmla="val 5714"/>
            </a:avLst>
          </a:prstGeom>
          <a:solidFill>
            <a:schemeClr val="bg2"/>
          </a:solidFill>
          <a:ln/>
        </p:spPr>
      </p:sp>
      <p:sp>
        <p:nvSpPr>
          <p:cNvPr id="26" name="Badge"/>
          <p:cNvSpPr/>
          <p:nvPr/>
        </p:nvSpPr>
        <p:spPr>
          <a:xfrm>
            <a:off x="3410712" y="3182112"/>
            <a:ext cx="420624" cy="420624"/>
          </a:xfrm>
          <a:prstGeom prst="ellipse">
            <a:avLst/>
          </a:prstGeom>
          <a:solidFill>
            <a:schemeClr val="accent2"/>
          </a:solidFill>
          <a:ln/>
        </p:spPr>
      </p:sp>
      <p:sp>
        <p:nvSpPr>
          <p:cNvPr id="27" name="Text 24"/>
          <p:cNvSpPr txBox="1"/>
          <p:nvPr/>
        </p:nvSpPr>
        <p:spPr>
          <a:xfrm>
            <a:off x="3410712" y="318211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28" name="Text 25"/>
          <p:cNvSpPr txBox="1"/>
          <p:nvPr/>
        </p:nvSpPr>
        <p:spPr>
          <a:xfrm>
            <a:off x="3959352" y="315468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Empat skenario</a:t>
            </a:r>
            <a:endParaRPr lang="en-US" sz="1400" dirty="0"/>
          </a:p>
        </p:txBody>
      </p:sp>
      <p:sp>
        <p:nvSpPr>
          <p:cNvPr id="29" name="Text 26"/>
          <p:cNvSpPr txBox="1"/>
          <p:nvPr/>
        </p:nvSpPr>
        <p:spPr>
          <a:xfrm>
            <a:off x="3410712" y="376732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Split data, augmentasi, optimizer, dropout</a:t>
            </a:r>
            <a:endParaRPr lang="en-US" sz="1400" dirty="0"/>
          </a:p>
        </p:txBody>
      </p:sp>
      <p:sp>
        <p:nvSpPr>
          <p:cNvPr id="30" name="Tahap"/>
          <p:cNvSpPr/>
          <p:nvPr/>
        </p:nvSpPr>
        <p:spPr>
          <a:xfrm>
            <a:off x="6035040" y="3017520"/>
            <a:ext cx="2651760" cy="1600200"/>
          </a:xfrm>
          <a:prstGeom prst="roundRect">
            <a:avLst>
              <a:gd name="adj" fmla="val 5714"/>
            </a:avLst>
          </a:prstGeom>
          <a:solidFill>
            <a:schemeClr val="bg2"/>
          </a:solidFill>
          <a:ln/>
        </p:spPr>
      </p:sp>
      <p:sp>
        <p:nvSpPr>
          <p:cNvPr id="31" name="Badge"/>
          <p:cNvSpPr/>
          <p:nvPr/>
        </p:nvSpPr>
        <p:spPr>
          <a:xfrm>
            <a:off x="6199632" y="3182112"/>
            <a:ext cx="420624" cy="420624"/>
          </a:xfrm>
          <a:prstGeom prst="ellipse">
            <a:avLst/>
          </a:prstGeom>
          <a:solidFill>
            <a:schemeClr val="accent1"/>
          </a:solidFill>
          <a:ln/>
        </p:spPr>
      </p:sp>
      <p:sp>
        <p:nvSpPr>
          <p:cNvPr id="32" name="Text 29"/>
          <p:cNvSpPr txBox="1"/>
          <p:nvPr/>
        </p:nvSpPr>
        <p:spPr>
          <a:xfrm>
            <a:off x="6199632" y="3182112"/>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6</a:t>
            </a:r>
            <a:endParaRPr lang="en-US" sz="1500" dirty="0"/>
          </a:p>
        </p:txBody>
      </p:sp>
      <p:sp>
        <p:nvSpPr>
          <p:cNvPr id="33" name="Text 30"/>
          <p:cNvSpPr txBox="1"/>
          <p:nvPr/>
        </p:nvSpPr>
        <p:spPr>
          <a:xfrm>
            <a:off x="6748272" y="3154680"/>
            <a:ext cx="1828800" cy="475488"/>
          </a:xfrm>
          <a:prstGeom prst="rect">
            <a:avLst/>
          </a:prstGeom>
          <a:noFill/>
          <a:ln/>
        </p:spPr>
        <p:txBody>
          <a:bodyPr wrap="square" lIns="0" tIns="0" rIns="0" bIns="0" rtlCol="0" anchor="ctr"/>
          <a:lstStyle/>
          <a:p>
            <a:pPr marL="0" indent="0" algn="l">
              <a:buNone/>
            </a:pPr>
            <a:r>
              <a:rPr lang="en-US" sz="1400" b="1" dirty="0">
                <a:solidFill>
                  <a:schemeClr val="tx2"/>
                </a:solidFill>
              </a:rPr>
              <a:t>Evaluasi dan backup</a:t>
            </a:r>
            <a:endParaRPr lang="en-US" sz="1400" dirty="0"/>
          </a:p>
        </p:txBody>
      </p:sp>
      <p:sp>
        <p:nvSpPr>
          <p:cNvPr id="34" name="Text 31"/>
          <p:cNvSpPr txBox="1"/>
          <p:nvPr/>
        </p:nvSpPr>
        <p:spPr>
          <a:xfrm>
            <a:off x="6199632" y="3767328"/>
            <a:ext cx="2331720" cy="804672"/>
          </a:xfrm>
          <a:prstGeom prst="rect">
            <a:avLst/>
          </a:prstGeom>
          <a:noFill/>
          <a:ln/>
        </p:spPr>
        <p:txBody>
          <a:bodyPr wrap="square" lIns="0" tIns="0" rIns="0" bIns="0" rtlCol="0" anchor="t"/>
          <a:lstStyle/>
          <a:p>
            <a:pPr marL="0" indent="0" algn="l">
              <a:buNone/>
            </a:pPr>
            <a:r>
              <a:rPr lang="en-US" sz="1400" dirty="0">
                <a:solidFill>
                  <a:schemeClr val="tx1"/>
                </a:solidFill>
              </a:rPr>
              <a:t>Metrik, confusion matrix, kurva, arsip ZIP 111 file</a:t>
            </a:r>
            <a:endParaRPr lang="en-US" sz="14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Lingkungan dan konfigurasi</a:t>
            </a:r>
            <a:endParaRPr lang="en-US" sz="2800" dirty="0"/>
          </a:p>
        </p:txBody>
      </p:sp>
      <p:graphicFrame>
        <p:nvGraphicFramePr>
          <p:cNvPr id="13" name="Tabel"/>
          <p:cNvGraphicFramePr>
            <a:graphicFrameLocks noGrp="1"/>
          </p:cNvGraphicFramePr>
          <p:nvPr>
            <p:extLst>
              <p:ext uri="{D42A27DB-BD31-4B8C-83A1-F6EECF244321}">
                <p14:modId xmlns:p14="http://schemas.microsoft.com/office/powerpoint/2010/main" val="1579011935"/>
              </p:ext>
            </p:extLst>
          </p:nvPr>
        </p:nvGraphicFramePr>
        <p:xfrm>
          <a:off x="457200" y="1280160"/>
          <a:ext cx="5394960" cy="3377184"/>
        </p:xfrm>
        <a:graphic>
          <a:graphicData uri="http://schemas.openxmlformats.org/drawingml/2006/table">
            <a:tbl>
              <a:tblPr/>
              <a:tblGrid>
                <a:gridCol w="17373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65760">
                <a:tc>
                  <a:txBody>
                    <a:bodyPr/>
                    <a:lstStyle/>
                    <a:p>
                      <a:pPr marL="0" indent="0" algn="l">
                        <a:buNone/>
                      </a:pPr>
                      <a:r>
                        <a:rPr lang="en-US" sz="1300" b="1" dirty="0">
                          <a:solidFill>
                            <a:schemeClr val="bg1"/>
                          </a:solidFill>
                        </a:rPr>
                        <a:t>Parameter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Nilai</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chemeClr val="tx1"/>
                          </a:solidFill>
                        </a:rPr>
                        <a:t>Platform</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Google Colab + Google Drive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chemeClr val="tx1"/>
                          </a:solidFill>
                        </a:rPr>
                        <a:t>Library utama</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TensorFlow 2.20.0, scikit-learn, pandas, NumPy, Matplotlib</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chemeClr val="tx1"/>
                          </a:solidFill>
                        </a:rPr>
                        <a:t>Perangkat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CPU (GPU tidak terdeteksi)</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chemeClr val="tx1"/>
                          </a:solidFill>
                        </a:rPr>
                        <a:t>Input CNN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128 × 128 × 3, 4 kelas</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lgn="l">
                        <a:buNone/>
                      </a:pPr>
                      <a:r>
                        <a:rPr lang="en-US" sz="1300" b="1" dirty="0">
                          <a:solidFill>
                            <a:schemeClr val="tx1"/>
                          </a:solidFill>
                        </a:rPr>
                        <a:t>Epoch / batch size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20 / 32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lgn="l">
                        <a:buNone/>
                      </a:pPr>
                      <a:r>
                        <a:rPr lang="en-US" sz="1300" b="1" dirty="0">
                          <a:solidFill>
                            <a:schemeClr val="tx1"/>
                          </a:solidFill>
                        </a:rPr>
                        <a:t>Learning rate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0,0005</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65760">
                <a:tc>
                  <a:txBody>
                    <a:bodyPr/>
                    <a:lstStyle/>
                    <a:p>
                      <a:pPr marL="0" indent="0" algn="l">
                        <a:buNone/>
                      </a:pPr>
                      <a:r>
                        <a:rPr lang="en-US" sz="1300" b="1" dirty="0">
                          <a:solidFill>
                            <a:schemeClr val="tx1"/>
                          </a:solidFill>
                        </a:rPr>
                        <a:t>Loss function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Sparse Categorical Crossentropy</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lgn="l">
                        <a:buNone/>
                      </a:pPr>
                      <a:r>
                        <a:rPr lang="en-US" sz="1300" b="1" dirty="0">
                          <a:solidFill>
                            <a:schemeClr val="tx1"/>
                          </a:solidFill>
                        </a:rPr>
                        <a:t>Random seed</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42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6" name="Folder"/>
          <p:cNvSpPr/>
          <p:nvPr/>
        </p:nvSpPr>
        <p:spPr>
          <a:xfrm>
            <a:off x="6080760" y="1280160"/>
            <a:ext cx="2606040" cy="3291840"/>
          </a:xfrm>
          <a:prstGeom prst="roundRect">
            <a:avLst>
              <a:gd name="adj" fmla="val 3509"/>
            </a:avLst>
          </a:prstGeom>
          <a:solidFill>
            <a:schemeClr val="bg2"/>
          </a:solidFill>
          <a:ln/>
        </p:spPr>
      </p:sp>
      <p:sp>
        <p:nvSpPr>
          <p:cNvPr id="7" name="Text 3"/>
          <p:cNvSpPr txBox="1"/>
          <p:nvPr/>
        </p:nvSpPr>
        <p:spPr>
          <a:xfrm>
            <a:off x="6263640" y="1417320"/>
            <a:ext cx="2286000" cy="274320"/>
          </a:xfrm>
          <a:prstGeom prst="rect">
            <a:avLst/>
          </a:prstGeom>
          <a:noFill/>
          <a:ln/>
        </p:spPr>
        <p:txBody>
          <a:bodyPr wrap="square" lIns="0" tIns="0" rIns="0" bIns="0" rtlCol="0" anchor="t"/>
          <a:lstStyle/>
          <a:p>
            <a:pPr marL="0" indent="0" algn="l">
              <a:buNone/>
            </a:pPr>
            <a:r>
              <a:rPr lang="en-US" sz="1500" b="1" dirty="0">
                <a:solidFill>
                  <a:schemeClr val="tx2"/>
                </a:solidFill>
              </a:rPr>
              <a:t>Folder di Google Drive</a:t>
            </a:r>
            <a:endParaRPr lang="en-US" sz="1500" dirty="0"/>
          </a:p>
        </p:txBody>
      </p:sp>
      <p:sp>
        <p:nvSpPr>
          <p:cNvPr id="8" name="Text 4"/>
          <p:cNvSpPr txBox="1"/>
          <p:nvPr/>
        </p:nvSpPr>
        <p:spPr>
          <a:xfrm>
            <a:off x="6263640" y="1828800"/>
            <a:ext cx="2286000" cy="2651760"/>
          </a:xfrm>
          <a:prstGeom prst="rect">
            <a:avLst/>
          </a:prstGeom>
          <a:noFill/>
          <a:ln/>
        </p:spPr>
        <p:txBody>
          <a:bodyPr wrap="square" lIns="0" tIns="0" rIns="0" bIns="0" rtlCol="0" anchor="t"/>
          <a:lstStyle/>
          <a:p>
            <a:pPr marL="342900" indent="-342900" algn="l">
              <a:spcAft>
                <a:spcPts val="400"/>
              </a:spcAft>
              <a:buSzPct val="100000"/>
              <a:buChar char="•"/>
            </a:pPr>
            <a:r>
              <a:rPr lang="en-US" sz="1400" dirty="0">
                <a:solidFill>
                  <a:schemeClr val="tx1"/>
                </a:solidFill>
              </a:rPr>
              <a:t>dataset</a:t>
            </a:r>
            <a:endParaRPr lang="en-US" sz="1400" dirty="0"/>
          </a:p>
          <a:p>
            <a:pPr marL="342900" indent="-342900" algn="l">
              <a:spcAft>
                <a:spcPts val="400"/>
              </a:spcAft>
              <a:buSzPct val="100000"/>
              <a:buChar char="•"/>
            </a:pPr>
            <a:r>
              <a:rPr lang="en-US" sz="1400" dirty="0">
                <a:solidFill>
                  <a:schemeClr val="tx1"/>
                </a:solidFill>
              </a:rPr>
              <a:t>models</a:t>
            </a:r>
            <a:endParaRPr lang="en-US" sz="1400" dirty="0"/>
          </a:p>
          <a:p>
            <a:pPr marL="342900" indent="-342900" algn="l">
              <a:spcAft>
                <a:spcPts val="400"/>
              </a:spcAft>
              <a:buSzPct val="100000"/>
              <a:buChar char="•"/>
            </a:pPr>
            <a:r>
              <a:rPr lang="en-US" sz="1400" dirty="0">
                <a:solidFill>
                  <a:schemeClr val="tx1"/>
                </a:solidFill>
              </a:rPr>
              <a:t>grafik</a:t>
            </a:r>
            <a:endParaRPr lang="en-US" sz="1400" dirty="0"/>
          </a:p>
          <a:p>
            <a:pPr marL="342900" indent="-342900" algn="l">
              <a:spcAft>
                <a:spcPts val="400"/>
              </a:spcAft>
              <a:buSzPct val="100000"/>
              <a:buChar char="•"/>
            </a:pPr>
            <a:r>
              <a:rPr lang="en-US" sz="1400" dirty="0">
                <a:solidFill>
                  <a:schemeClr val="tx1"/>
                </a:solidFill>
              </a:rPr>
              <a:t>cache</a:t>
            </a:r>
            <a:endParaRPr lang="en-US" sz="1400" dirty="0"/>
          </a:p>
          <a:p>
            <a:pPr marL="342900" indent="-342900" algn="l">
              <a:spcAft>
                <a:spcPts val="400"/>
              </a:spcAft>
              <a:buSzPct val="100000"/>
              <a:buChar char="•"/>
            </a:pPr>
            <a:r>
              <a:rPr lang="en-US" sz="1400" dirty="0">
                <a:solidFill>
                  <a:schemeClr val="tx1"/>
                </a:solidFill>
              </a:rPr>
              <a:t>dokumen</a:t>
            </a:r>
            <a:endParaRPr lang="en-US" sz="1400" dirty="0"/>
          </a:p>
          <a:p>
            <a:pPr marL="342900" indent="-342900" algn="l">
              <a:spcAft>
                <a:spcPts val="400"/>
              </a:spcAft>
              <a:buSzPct val="100000"/>
              <a:buChar char="•"/>
            </a:pPr>
            <a:r>
              <a:rPr lang="en-US" sz="1400" dirty="0">
                <a:solidFill>
                  <a:schemeClr val="tx1"/>
                </a:solidFill>
              </a:rPr>
              <a:t>hasil</a:t>
            </a:r>
            <a:endParaRPr lang="en-US" sz="1400" dirty="0"/>
          </a:p>
          <a:p>
            <a:pPr marL="342900" indent="-342900" algn="l">
              <a:spcAft>
                <a:spcPts val="400"/>
              </a:spcAft>
              <a:buSzPct val="100000"/>
              <a:buChar char="•"/>
            </a:pPr>
            <a:r>
              <a:rPr lang="en-US" sz="1400" dirty="0">
                <a:solidFill>
                  <a:schemeClr val="tx1"/>
                </a:solidFill>
              </a:rPr>
              <a:t>checkpoints</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Dataset: 7.200 gambar, 4 kelas seimbang</a:t>
            </a:r>
            <a:endParaRPr lang="en-US" sz="2800" dirty="0"/>
          </a:p>
        </p:txBody>
      </p:sp>
      <p:sp>
        <p:nvSpPr>
          <p:cNvPr id="5" name="Frame"/>
          <p:cNvSpPr/>
          <p:nvPr/>
        </p:nvSpPr>
        <p:spPr>
          <a:xfrm>
            <a:off x="411480" y="1234961"/>
            <a:ext cx="4846320" cy="2787878"/>
          </a:xfrm>
          <a:prstGeom prst="rect">
            <a:avLst/>
          </a:prstGeom>
          <a:solidFill>
            <a:schemeClr val="bg1"/>
          </a:solidFill>
          <a:ln w="12700">
            <a:solidFill>
              <a:schemeClr val="bg2"/>
            </a:solidFill>
            <a:prstDash val="solid"/>
          </a:ln>
        </p:spPr>
      </p:sp>
      <p:pic>
        <p:nvPicPr>
          <p:cNvPr id="6" name="Gambar 3" descr="/tmp/claude-0/-home-claude/949ac0f0-f744-5c10-baa6-0b053e3f7a1d/scratchpad/doc/img/image3.png"/>
          <p:cNvPicPr>
            <a:picLocks noChangeAspect="1"/>
          </p:cNvPicPr>
          <p:nvPr/>
        </p:nvPicPr>
        <p:blipFill>
          <a:blip r:embed="rId3"/>
          <a:stretch>
            <a:fillRect/>
          </a:stretch>
        </p:blipFill>
        <p:spPr>
          <a:xfrm>
            <a:off x="457200" y="1280681"/>
            <a:ext cx="4754880" cy="2696438"/>
          </a:xfrm>
          <a:prstGeom prst="rect">
            <a:avLst/>
          </a:prstGeom>
        </p:spPr>
      </p:pic>
      <p:sp>
        <p:nvSpPr>
          <p:cNvPr id="7" name="Text 3"/>
          <p:cNvSpPr txBox="1"/>
          <p:nvPr/>
        </p:nvSpPr>
        <p:spPr>
          <a:xfrm>
            <a:off x="457200" y="4023360"/>
            <a:ext cx="4754880" cy="228600"/>
          </a:xfrm>
          <a:prstGeom prst="rect">
            <a:avLst/>
          </a:prstGeom>
          <a:noFill/>
          <a:ln/>
        </p:spPr>
        <p:txBody>
          <a:bodyPr wrap="square" lIns="0" tIns="0" rIns="0" bIns="0" rtlCol="0" anchor="t"/>
          <a:lstStyle/>
          <a:p>
            <a:pPr marL="0" indent="0" algn="ctr">
              <a:buNone/>
            </a:pPr>
            <a:r>
              <a:rPr lang="en-US" sz="1100" i="1" dirty="0">
                <a:solidFill>
                  <a:schemeClr val="accent4"/>
                </a:solidFill>
              </a:rPr>
              <a:t>Gambar: distribusi jumlah gambar per kelas</a:t>
            </a:r>
            <a:endParaRPr lang="en-US" sz="1100" dirty="0"/>
          </a:p>
        </p:txBody>
      </p:sp>
      <p:sp>
        <p:nvSpPr>
          <p:cNvPr id="8" name="Stat"/>
          <p:cNvSpPr/>
          <p:nvPr/>
        </p:nvSpPr>
        <p:spPr>
          <a:xfrm>
            <a:off x="5486400" y="1280160"/>
            <a:ext cx="3200400" cy="1005840"/>
          </a:xfrm>
          <a:prstGeom prst="roundRect">
            <a:avLst>
              <a:gd name="adj" fmla="val 9091"/>
            </a:avLst>
          </a:prstGeom>
          <a:solidFill>
            <a:schemeClr val="bg2"/>
          </a:solidFill>
          <a:ln/>
        </p:spPr>
      </p:sp>
      <p:sp>
        <p:nvSpPr>
          <p:cNvPr id="9" name="Text 5"/>
          <p:cNvSpPr txBox="1"/>
          <p:nvPr/>
        </p:nvSpPr>
        <p:spPr>
          <a:xfrm>
            <a:off x="5596128" y="1371600"/>
            <a:ext cx="2980944" cy="523037"/>
          </a:xfrm>
          <a:prstGeom prst="rect">
            <a:avLst/>
          </a:prstGeom>
          <a:noFill/>
          <a:ln/>
        </p:spPr>
        <p:txBody>
          <a:bodyPr wrap="square" lIns="0" tIns="0" rIns="0" bIns="0" rtlCol="0" anchor="ctr"/>
          <a:lstStyle/>
          <a:p>
            <a:pPr marL="0" indent="0" algn="ctr">
              <a:buNone/>
            </a:pPr>
            <a:r>
              <a:rPr lang="en-US" sz="2800" b="1" dirty="0">
                <a:solidFill>
                  <a:schemeClr val="accent1"/>
                </a:solidFill>
                <a:latin typeface="Cambria" pitchFamily="34" charset="0"/>
                <a:ea typeface="Cambria" pitchFamily="34" charset="-122"/>
                <a:cs typeface="Cambria" pitchFamily="34" charset="-120"/>
              </a:rPr>
              <a:t>7.200</a:t>
            </a:r>
            <a:endParaRPr lang="en-US" sz="2800" dirty="0"/>
          </a:p>
        </p:txBody>
      </p:sp>
      <p:sp>
        <p:nvSpPr>
          <p:cNvPr id="10" name="Text 6"/>
          <p:cNvSpPr txBox="1"/>
          <p:nvPr/>
        </p:nvSpPr>
        <p:spPr>
          <a:xfrm>
            <a:off x="5596128" y="1883664"/>
            <a:ext cx="2980944" cy="362102"/>
          </a:xfrm>
          <a:prstGeom prst="rect">
            <a:avLst/>
          </a:prstGeom>
          <a:noFill/>
          <a:ln/>
        </p:spPr>
        <p:txBody>
          <a:bodyPr wrap="square" lIns="0" tIns="0" rIns="0" bIns="0" rtlCol="0" anchor="t"/>
          <a:lstStyle/>
          <a:p>
            <a:pPr marL="0" indent="0" algn="ctr">
              <a:buNone/>
            </a:pPr>
            <a:r>
              <a:rPr lang="en-US" sz="1300" dirty="0">
                <a:solidFill>
                  <a:schemeClr val="tx1"/>
                </a:solidFill>
              </a:rPr>
              <a:t>gambar, 0 data kosong (NaN)</a:t>
            </a:r>
            <a:endParaRPr lang="en-US" sz="1300" dirty="0"/>
          </a:p>
        </p:txBody>
      </p:sp>
      <p:sp>
        <p:nvSpPr>
          <p:cNvPr id="11" name="Stat"/>
          <p:cNvSpPr/>
          <p:nvPr/>
        </p:nvSpPr>
        <p:spPr>
          <a:xfrm>
            <a:off x="5486400" y="2395728"/>
            <a:ext cx="3200400" cy="1005840"/>
          </a:xfrm>
          <a:prstGeom prst="roundRect">
            <a:avLst>
              <a:gd name="adj" fmla="val 9091"/>
            </a:avLst>
          </a:prstGeom>
          <a:solidFill>
            <a:schemeClr val="bg2"/>
          </a:solidFill>
          <a:ln/>
        </p:spPr>
      </p:sp>
      <p:sp>
        <p:nvSpPr>
          <p:cNvPr id="12" name="Text 8"/>
          <p:cNvSpPr txBox="1"/>
          <p:nvPr/>
        </p:nvSpPr>
        <p:spPr>
          <a:xfrm>
            <a:off x="5596128" y="2487168"/>
            <a:ext cx="2980944" cy="523037"/>
          </a:xfrm>
          <a:prstGeom prst="rect">
            <a:avLst/>
          </a:prstGeom>
          <a:noFill/>
          <a:ln/>
        </p:spPr>
        <p:txBody>
          <a:bodyPr wrap="square" lIns="0" tIns="0" rIns="0" bIns="0" rtlCol="0" anchor="ctr"/>
          <a:lstStyle/>
          <a:p>
            <a:pPr marL="0" indent="0" algn="ctr">
              <a:buNone/>
            </a:pPr>
            <a:r>
              <a:rPr lang="en-US" sz="2400" b="1" dirty="0">
                <a:solidFill>
                  <a:schemeClr val="accent4"/>
                </a:solidFill>
                <a:latin typeface="Cambria" pitchFamily="34" charset="0"/>
                <a:ea typeface="Cambria" pitchFamily="34" charset="-122"/>
                <a:cs typeface="Cambria" pitchFamily="34" charset="-120"/>
              </a:rPr>
              <a:t>4 × 1.800</a:t>
            </a:r>
            <a:endParaRPr lang="en-US" sz="2400" dirty="0"/>
          </a:p>
        </p:txBody>
      </p:sp>
      <p:sp>
        <p:nvSpPr>
          <p:cNvPr id="13" name="Text 9"/>
          <p:cNvSpPr txBox="1"/>
          <p:nvPr/>
        </p:nvSpPr>
        <p:spPr>
          <a:xfrm>
            <a:off x="5596128" y="2999232"/>
            <a:ext cx="2980944" cy="362102"/>
          </a:xfrm>
          <a:prstGeom prst="rect">
            <a:avLst/>
          </a:prstGeom>
          <a:noFill/>
          <a:ln/>
        </p:spPr>
        <p:txBody>
          <a:bodyPr wrap="square" lIns="0" tIns="0" rIns="0" bIns="0" rtlCol="0" anchor="t"/>
          <a:lstStyle/>
          <a:p>
            <a:pPr marL="0" indent="0" algn="ctr">
              <a:buNone/>
            </a:pPr>
            <a:r>
              <a:rPr lang="en-US" sz="1300" dirty="0">
                <a:solidFill>
                  <a:schemeClr val="tx1"/>
                </a:solidFill>
              </a:rPr>
              <a:t>glioma, meningioma, no tumor, pituitary</a:t>
            </a:r>
            <a:endParaRPr lang="en-US" sz="1300" dirty="0"/>
          </a:p>
        </p:txBody>
      </p:sp>
      <p:sp>
        <p:nvSpPr>
          <p:cNvPr id="14" name="Stat"/>
          <p:cNvSpPr/>
          <p:nvPr/>
        </p:nvSpPr>
        <p:spPr>
          <a:xfrm>
            <a:off x="5486400" y="3511296"/>
            <a:ext cx="3200400" cy="1005840"/>
          </a:xfrm>
          <a:prstGeom prst="roundRect">
            <a:avLst>
              <a:gd name="adj" fmla="val 9091"/>
            </a:avLst>
          </a:prstGeom>
          <a:solidFill>
            <a:schemeClr val="bg2"/>
          </a:solidFill>
          <a:ln/>
        </p:spPr>
      </p:sp>
      <p:sp>
        <p:nvSpPr>
          <p:cNvPr id="15" name="Text 11"/>
          <p:cNvSpPr txBox="1"/>
          <p:nvPr/>
        </p:nvSpPr>
        <p:spPr>
          <a:xfrm>
            <a:off x="5596128" y="3602736"/>
            <a:ext cx="2980944" cy="523037"/>
          </a:xfrm>
          <a:prstGeom prst="rect">
            <a:avLst/>
          </a:prstGeom>
          <a:noFill/>
          <a:ln/>
        </p:spPr>
        <p:txBody>
          <a:bodyPr wrap="square" lIns="0" tIns="0" rIns="0" bIns="0" rtlCol="0" anchor="ctr"/>
          <a:lstStyle/>
          <a:p>
            <a:pPr marL="0" indent="0" algn="ctr">
              <a:buNone/>
            </a:pPr>
            <a:r>
              <a:rPr lang="en-US" sz="2400" b="1" dirty="0">
                <a:solidFill>
                  <a:schemeClr val="accent6"/>
                </a:solidFill>
                <a:latin typeface="Cambria" pitchFamily="34" charset="0"/>
                <a:ea typeface="Cambria" pitchFamily="34" charset="-122"/>
                <a:cs typeface="Cambria" pitchFamily="34" charset="-120"/>
              </a:rPr>
              <a:t>Rasio 1,0</a:t>
            </a:r>
            <a:endParaRPr lang="en-US" sz="2400" dirty="0"/>
          </a:p>
        </p:txBody>
      </p:sp>
      <p:sp>
        <p:nvSpPr>
          <p:cNvPr id="16" name="Text 12"/>
          <p:cNvSpPr txBox="1"/>
          <p:nvPr/>
        </p:nvSpPr>
        <p:spPr>
          <a:xfrm>
            <a:off x="5596128" y="4114800"/>
            <a:ext cx="2980944" cy="362102"/>
          </a:xfrm>
          <a:prstGeom prst="rect">
            <a:avLst/>
          </a:prstGeom>
          <a:noFill/>
          <a:ln/>
        </p:spPr>
        <p:txBody>
          <a:bodyPr wrap="square" lIns="0" tIns="0" rIns="0" bIns="0" rtlCol="0" anchor="t"/>
          <a:lstStyle/>
          <a:p>
            <a:pPr marL="0" indent="0" algn="ctr">
              <a:buNone/>
            </a:pPr>
            <a:r>
              <a:rPr lang="en-US" sz="1300" dirty="0">
                <a:solidFill>
                  <a:schemeClr val="tx1"/>
                </a:solidFill>
              </a:rPr>
              <a:t>dataset seimbang sempurna</a:t>
            </a:r>
            <a:endParaRPr lang="en-US" sz="1300" dirty="0"/>
          </a:p>
        </p:txBody>
      </p:sp>
      <p:sp>
        <p:nvSpPr>
          <p:cNvPr id="17" name="Text 13"/>
          <p:cNvSpPr txBox="1"/>
          <p:nvPr/>
        </p:nvSpPr>
        <p:spPr>
          <a:xfrm>
            <a:off x="457200" y="4297680"/>
            <a:ext cx="4754880" cy="365760"/>
          </a:xfrm>
          <a:prstGeom prst="rect">
            <a:avLst/>
          </a:prstGeom>
          <a:noFill/>
          <a:ln/>
        </p:spPr>
        <p:txBody>
          <a:bodyPr wrap="square" lIns="0" tIns="0" rIns="0" bIns="0" rtlCol="0" anchor="t"/>
          <a:lstStyle/>
          <a:p>
            <a:pPr marL="0" indent="0" algn="l">
              <a:buNone/>
            </a:pPr>
            <a:r>
              <a:rPr lang="en-US" sz="1300" dirty="0">
                <a:solidFill>
                  <a:schemeClr val="tx1"/>
                </a:solidFill>
              </a:rPr>
              <a:t>Folder Training dan Testing digabung, lalu dibagi ulang di Skenario 1.</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Preprocessing citra</a:t>
            </a:r>
            <a:endParaRPr lang="en-US" sz="2800" dirty="0"/>
          </a:p>
        </p:txBody>
      </p:sp>
      <p:sp>
        <p:nvSpPr>
          <p:cNvPr id="5" name="Badge"/>
          <p:cNvSpPr/>
          <p:nvPr/>
        </p:nvSpPr>
        <p:spPr>
          <a:xfrm>
            <a:off x="457200" y="1307592"/>
            <a:ext cx="384048" cy="384048"/>
          </a:xfrm>
          <a:prstGeom prst="ellipse">
            <a:avLst/>
          </a:prstGeom>
          <a:solidFill>
            <a:schemeClr val="accent1"/>
          </a:solidFill>
          <a:ln/>
        </p:spPr>
      </p:sp>
      <p:sp>
        <p:nvSpPr>
          <p:cNvPr id="6" name="Text 3"/>
          <p:cNvSpPr txBox="1"/>
          <p:nvPr/>
        </p:nvSpPr>
        <p:spPr>
          <a:xfrm>
            <a:off x="457200" y="1307592"/>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4"/>
          <p:cNvSpPr txBox="1"/>
          <p:nvPr/>
        </p:nvSpPr>
        <p:spPr>
          <a:xfrm>
            <a:off x="1005840" y="1280160"/>
            <a:ext cx="3291840" cy="438912"/>
          </a:xfrm>
          <a:prstGeom prst="rect">
            <a:avLst/>
          </a:prstGeom>
          <a:noFill/>
          <a:ln/>
        </p:spPr>
        <p:txBody>
          <a:bodyPr wrap="square" lIns="0" tIns="0" rIns="0" bIns="0" rtlCol="0" anchor="ctr"/>
          <a:lstStyle/>
          <a:p>
            <a:pPr marL="0" indent="0" algn="l">
              <a:buNone/>
            </a:pPr>
            <a:r>
              <a:rPr lang="en-US" sz="1400" dirty="0">
                <a:solidFill>
                  <a:schemeClr val="tx1"/>
                </a:solidFill>
              </a:rPr>
              <a:t>Buka gambar dari file</a:t>
            </a:r>
            <a:endParaRPr lang="en-US" sz="1400" dirty="0"/>
          </a:p>
        </p:txBody>
      </p:sp>
      <p:sp>
        <p:nvSpPr>
          <p:cNvPr id="8" name="Badge"/>
          <p:cNvSpPr/>
          <p:nvPr/>
        </p:nvSpPr>
        <p:spPr>
          <a:xfrm>
            <a:off x="457200" y="1837944"/>
            <a:ext cx="384048" cy="384048"/>
          </a:xfrm>
          <a:prstGeom prst="ellipse">
            <a:avLst/>
          </a:prstGeom>
          <a:solidFill>
            <a:schemeClr val="accent1"/>
          </a:solidFill>
          <a:ln/>
        </p:spPr>
      </p:sp>
      <p:sp>
        <p:nvSpPr>
          <p:cNvPr id="9" name="Text 6"/>
          <p:cNvSpPr txBox="1"/>
          <p:nvPr/>
        </p:nvSpPr>
        <p:spPr>
          <a:xfrm>
            <a:off x="457200" y="183794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Text 7"/>
          <p:cNvSpPr txBox="1"/>
          <p:nvPr/>
        </p:nvSpPr>
        <p:spPr>
          <a:xfrm>
            <a:off x="1005840" y="1810512"/>
            <a:ext cx="3291840" cy="438912"/>
          </a:xfrm>
          <a:prstGeom prst="rect">
            <a:avLst/>
          </a:prstGeom>
          <a:noFill/>
          <a:ln/>
        </p:spPr>
        <p:txBody>
          <a:bodyPr wrap="square" lIns="0" tIns="0" rIns="0" bIns="0" rtlCol="0" anchor="ctr"/>
          <a:lstStyle/>
          <a:p>
            <a:pPr marL="0" indent="0" algn="l">
              <a:buNone/>
            </a:pPr>
            <a:r>
              <a:rPr lang="en-US" sz="1400" dirty="0">
                <a:solidFill>
                  <a:schemeClr val="tx1"/>
                </a:solidFill>
              </a:rPr>
              <a:t>Ubah ke RGB (3 kanal)</a:t>
            </a:r>
            <a:endParaRPr lang="en-US" sz="1400" dirty="0"/>
          </a:p>
        </p:txBody>
      </p:sp>
      <p:sp>
        <p:nvSpPr>
          <p:cNvPr id="11" name="Badge"/>
          <p:cNvSpPr/>
          <p:nvPr/>
        </p:nvSpPr>
        <p:spPr>
          <a:xfrm>
            <a:off x="457200" y="2368296"/>
            <a:ext cx="384048" cy="384048"/>
          </a:xfrm>
          <a:prstGeom prst="ellipse">
            <a:avLst/>
          </a:prstGeom>
          <a:solidFill>
            <a:schemeClr val="accent1"/>
          </a:solidFill>
          <a:ln/>
        </p:spPr>
      </p:sp>
      <p:sp>
        <p:nvSpPr>
          <p:cNvPr id="12" name="Text 9"/>
          <p:cNvSpPr txBox="1"/>
          <p:nvPr/>
        </p:nvSpPr>
        <p:spPr>
          <a:xfrm>
            <a:off x="457200" y="236829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Text 10"/>
          <p:cNvSpPr txBox="1"/>
          <p:nvPr/>
        </p:nvSpPr>
        <p:spPr>
          <a:xfrm>
            <a:off x="1005840" y="2340864"/>
            <a:ext cx="3291840" cy="438912"/>
          </a:xfrm>
          <a:prstGeom prst="rect">
            <a:avLst/>
          </a:prstGeom>
          <a:noFill/>
          <a:ln/>
        </p:spPr>
        <p:txBody>
          <a:bodyPr wrap="square" lIns="0" tIns="0" rIns="0" bIns="0" rtlCol="0" anchor="ctr"/>
          <a:lstStyle/>
          <a:p>
            <a:pPr marL="0" indent="0" algn="l">
              <a:buNone/>
            </a:pPr>
            <a:r>
              <a:rPr lang="en-US" sz="1400" dirty="0">
                <a:solidFill>
                  <a:schemeClr val="tx1"/>
                </a:solidFill>
              </a:rPr>
              <a:t>Resize 128×128 (LANCZOS)</a:t>
            </a:r>
            <a:endParaRPr lang="en-US" sz="1400" dirty="0"/>
          </a:p>
        </p:txBody>
      </p:sp>
      <p:sp>
        <p:nvSpPr>
          <p:cNvPr id="14" name="Badge"/>
          <p:cNvSpPr/>
          <p:nvPr/>
        </p:nvSpPr>
        <p:spPr>
          <a:xfrm>
            <a:off x="457200" y="2898648"/>
            <a:ext cx="384048" cy="384048"/>
          </a:xfrm>
          <a:prstGeom prst="ellipse">
            <a:avLst/>
          </a:prstGeom>
          <a:solidFill>
            <a:schemeClr val="accent1"/>
          </a:solidFill>
          <a:ln/>
        </p:spPr>
      </p:sp>
      <p:sp>
        <p:nvSpPr>
          <p:cNvPr id="15" name="Text 12"/>
          <p:cNvSpPr txBox="1"/>
          <p:nvPr/>
        </p:nvSpPr>
        <p:spPr>
          <a:xfrm>
            <a:off x="457200" y="289864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Text 13"/>
          <p:cNvSpPr txBox="1"/>
          <p:nvPr/>
        </p:nvSpPr>
        <p:spPr>
          <a:xfrm>
            <a:off x="1005840" y="2871216"/>
            <a:ext cx="3291840" cy="438912"/>
          </a:xfrm>
          <a:prstGeom prst="rect">
            <a:avLst/>
          </a:prstGeom>
          <a:noFill/>
          <a:ln/>
        </p:spPr>
        <p:txBody>
          <a:bodyPr wrap="square" lIns="0" tIns="0" rIns="0" bIns="0" rtlCol="0" anchor="ctr"/>
          <a:lstStyle/>
          <a:p>
            <a:pPr marL="0" indent="0" algn="l">
              <a:buNone/>
            </a:pPr>
            <a:r>
              <a:rPr lang="en-US" sz="1400" dirty="0">
                <a:solidFill>
                  <a:schemeClr val="tx1"/>
                </a:solidFill>
              </a:rPr>
              <a:t>Jadikan array uint8 (0–255)</a:t>
            </a:r>
            <a:endParaRPr lang="en-US" sz="1400" dirty="0"/>
          </a:p>
        </p:txBody>
      </p:sp>
      <p:sp>
        <p:nvSpPr>
          <p:cNvPr id="17" name="Badge"/>
          <p:cNvSpPr/>
          <p:nvPr/>
        </p:nvSpPr>
        <p:spPr>
          <a:xfrm>
            <a:off x="457200" y="3429000"/>
            <a:ext cx="384048" cy="384048"/>
          </a:xfrm>
          <a:prstGeom prst="ellipse">
            <a:avLst/>
          </a:prstGeom>
          <a:solidFill>
            <a:schemeClr val="accent1"/>
          </a:solidFill>
          <a:ln/>
        </p:spPr>
      </p:sp>
      <p:sp>
        <p:nvSpPr>
          <p:cNvPr id="18" name="Text 15"/>
          <p:cNvSpPr txBox="1"/>
          <p:nvPr/>
        </p:nvSpPr>
        <p:spPr>
          <a:xfrm>
            <a:off x="457200" y="342900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9" name="Text 16"/>
          <p:cNvSpPr txBox="1"/>
          <p:nvPr/>
        </p:nvSpPr>
        <p:spPr>
          <a:xfrm>
            <a:off x="1005840" y="3401568"/>
            <a:ext cx="3291840" cy="438912"/>
          </a:xfrm>
          <a:prstGeom prst="rect">
            <a:avLst/>
          </a:prstGeom>
          <a:noFill/>
          <a:ln/>
        </p:spPr>
        <p:txBody>
          <a:bodyPr wrap="square" lIns="0" tIns="0" rIns="0" bIns="0" rtlCol="0" anchor="ctr"/>
          <a:lstStyle/>
          <a:p>
            <a:pPr marL="0" indent="0" algn="l">
              <a:buNone/>
            </a:pPr>
            <a:r>
              <a:rPr lang="en-US" sz="1400" dirty="0">
                <a:solidFill>
                  <a:schemeClr val="tx1"/>
                </a:solidFill>
              </a:rPr>
              <a:t>Simpan X (7200,128,128,3) dan y</a:t>
            </a:r>
            <a:endParaRPr lang="en-US" sz="1400" dirty="0"/>
          </a:p>
        </p:txBody>
      </p:sp>
      <p:sp>
        <p:nvSpPr>
          <p:cNvPr id="20" name="Callout"/>
          <p:cNvSpPr/>
          <p:nvPr/>
        </p:nvSpPr>
        <p:spPr>
          <a:xfrm>
            <a:off x="457200" y="3977640"/>
            <a:ext cx="3840480" cy="685800"/>
          </a:xfrm>
          <a:prstGeom prst="roundRect">
            <a:avLst>
              <a:gd name="adj" fmla="val 13333"/>
            </a:avLst>
          </a:prstGeom>
          <a:solidFill>
            <a:schemeClr val="bg2"/>
          </a:solidFill>
          <a:ln/>
        </p:spPr>
      </p:sp>
      <p:sp>
        <p:nvSpPr>
          <p:cNvPr id="21" name="Text 18"/>
          <p:cNvSpPr txBox="1"/>
          <p:nvPr/>
        </p:nvSpPr>
        <p:spPr>
          <a:xfrm>
            <a:off x="640080" y="4050792"/>
            <a:ext cx="3474720" cy="539496"/>
          </a:xfrm>
          <a:prstGeom prst="rect">
            <a:avLst/>
          </a:prstGeom>
          <a:noFill/>
          <a:ln/>
        </p:spPr>
        <p:txBody>
          <a:bodyPr wrap="square" lIns="0" tIns="0" rIns="0" bIns="0" rtlCol="0" anchor="ctr"/>
          <a:lstStyle/>
          <a:p>
            <a:pPr marL="0" indent="0" algn="l">
              <a:buNone/>
            </a:pPr>
            <a:r>
              <a:rPr lang="en-US" sz="1400" dirty="0">
                <a:solidFill>
                  <a:schemeClr val="tx1"/>
                </a:solidFill>
              </a:rPr>
              <a:t>7.200 berhasil diproses, 0 gagal. Normalisasi (÷255) dilakukan belakangan.</a:t>
            </a:r>
            <a:endParaRPr lang="en-US" sz="1400" dirty="0"/>
          </a:p>
        </p:txBody>
      </p:sp>
      <p:sp>
        <p:nvSpPr>
          <p:cNvPr id="22" name="Frame"/>
          <p:cNvSpPr/>
          <p:nvPr/>
        </p:nvSpPr>
        <p:spPr>
          <a:xfrm>
            <a:off x="4526280" y="1274891"/>
            <a:ext cx="4206240" cy="2205097"/>
          </a:xfrm>
          <a:prstGeom prst="rect">
            <a:avLst/>
          </a:prstGeom>
          <a:solidFill>
            <a:schemeClr val="bg1"/>
          </a:solidFill>
          <a:ln w="12700">
            <a:solidFill>
              <a:schemeClr val="bg2"/>
            </a:solidFill>
            <a:prstDash val="solid"/>
          </a:ln>
        </p:spPr>
      </p:sp>
      <p:pic>
        <p:nvPicPr>
          <p:cNvPr id="23" name="Gambar 4" descr="/tmp/claude-0/-home-claude/949ac0f0-f744-5c10-baa6-0b053e3f7a1d/scratchpad/doc/img/image4.png"/>
          <p:cNvPicPr>
            <a:picLocks noChangeAspect="1"/>
          </p:cNvPicPr>
          <p:nvPr/>
        </p:nvPicPr>
        <p:blipFill>
          <a:blip r:embed="rId3"/>
          <a:stretch>
            <a:fillRect/>
          </a:stretch>
        </p:blipFill>
        <p:spPr>
          <a:xfrm>
            <a:off x="4572000" y="1320611"/>
            <a:ext cx="4114800" cy="2113657"/>
          </a:xfrm>
          <a:prstGeom prst="rect">
            <a:avLst/>
          </a:prstGeom>
        </p:spPr>
      </p:pic>
      <p:sp>
        <p:nvSpPr>
          <p:cNvPr id="24" name="Stat"/>
          <p:cNvSpPr/>
          <p:nvPr/>
        </p:nvSpPr>
        <p:spPr>
          <a:xfrm>
            <a:off x="4572000" y="3657600"/>
            <a:ext cx="960120" cy="1005840"/>
          </a:xfrm>
          <a:prstGeom prst="roundRect">
            <a:avLst>
              <a:gd name="adj" fmla="val 9524"/>
            </a:avLst>
          </a:prstGeom>
          <a:solidFill>
            <a:schemeClr val="bg2"/>
          </a:solidFill>
          <a:ln/>
        </p:spPr>
      </p:sp>
      <p:sp>
        <p:nvSpPr>
          <p:cNvPr id="25" name="Text 21"/>
          <p:cNvSpPr txBox="1"/>
          <p:nvPr/>
        </p:nvSpPr>
        <p:spPr>
          <a:xfrm>
            <a:off x="4681728" y="3749040"/>
            <a:ext cx="740664" cy="523037"/>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0</a:t>
            </a:r>
            <a:endParaRPr lang="en-US" sz="1800" dirty="0"/>
          </a:p>
        </p:txBody>
      </p:sp>
      <p:sp>
        <p:nvSpPr>
          <p:cNvPr id="26" name="Text 22"/>
          <p:cNvSpPr txBox="1"/>
          <p:nvPr/>
        </p:nvSpPr>
        <p:spPr>
          <a:xfrm>
            <a:off x="4681728" y="4261104"/>
            <a:ext cx="740664" cy="362102"/>
          </a:xfrm>
          <a:prstGeom prst="rect">
            <a:avLst/>
          </a:prstGeom>
          <a:noFill/>
          <a:ln/>
        </p:spPr>
        <p:txBody>
          <a:bodyPr wrap="square" lIns="0" tIns="0" rIns="0" bIns="0" rtlCol="0" anchor="t"/>
          <a:lstStyle/>
          <a:p>
            <a:pPr marL="0" indent="0" algn="ctr">
              <a:buNone/>
            </a:pPr>
            <a:r>
              <a:rPr lang="en-US" sz="1100" dirty="0">
                <a:solidFill>
                  <a:schemeClr val="tx1"/>
                </a:solidFill>
              </a:rPr>
              <a:t>min piksel</a:t>
            </a:r>
            <a:endParaRPr lang="en-US" sz="1100" dirty="0"/>
          </a:p>
        </p:txBody>
      </p:sp>
      <p:sp>
        <p:nvSpPr>
          <p:cNvPr id="27" name="Stat"/>
          <p:cNvSpPr/>
          <p:nvPr/>
        </p:nvSpPr>
        <p:spPr>
          <a:xfrm>
            <a:off x="5623560" y="3657600"/>
            <a:ext cx="960120" cy="1005840"/>
          </a:xfrm>
          <a:prstGeom prst="roundRect">
            <a:avLst>
              <a:gd name="adj" fmla="val 9524"/>
            </a:avLst>
          </a:prstGeom>
          <a:solidFill>
            <a:schemeClr val="bg2"/>
          </a:solidFill>
          <a:ln/>
        </p:spPr>
      </p:sp>
      <p:sp>
        <p:nvSpPr>
          <p:cNvPr id="28" name="Text 24"/>
          <p:cNvSpPr txBox="1"/>
          <p:nvPr/>
        </p:nvSpPr>
        <p:spPr>
          <a:xfrm>
            <a:off x="5733288" y="3749040"/>
            <a:ext cx="740664" cy="523037"/>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255</a:t>
            </a:r>
            <a:endParaRPr lang="en-US" sz="1800" dirty="0"/>
          </a:p>
        </p:txBody>
      </p:sp>
      <p:sp>
        <p:nvSpPr>
          <p:cNvPr id="29" name="Text 25"/>
          <p:cNvSpPr txBox="1"/>
          <p:nvPr/>
        </p:nvSpPr>
        <p:spPr>
          <a:xfrm>
            <a:off x="5733288" y="4261104"/>
            <a:ext cx="740664" cy="362102"/>
          </a:xfrm>
          <a:prstGeom prst="rect">
            <a:avLst/>
          </a:prstGeom>
          <a:noFill/>
          <a:ln/>
        </p:spPr>
        <p:txBody>
          <a:bodyPr wrap="square" lIns="0" tIns="0" rIns="0" bIns="0" rtlCol="0" anchor="t"/>
          <a:lstStyle/>
          <a:p>
            <a:pPr marL="0" indent="0" algn="ctr">
              <a:buNone/>
            </a:pPr>
            <a:r>
              <a:rPr lang="en-US" sz="1100" dirty="0">
                <a:solidFill>
                  <a:schemeClr val="tx1"/>
                </a:solidFill>
              </a:rPr>
              <a:t>maks piksel</a:t>
            </a:r>
            <a:endParaRPr lang="en-US" sz="1100" dirty="0"/>
          </a:p>
        </p:txBody>
      </p:sp>
      <p:sp>
        <p:nvSpPr>
          <p:cNvPr id="30" name="Stat"/>
          <p:cNvSpPr/>
          <p:nvPr/>
        </p:nvSpPr>
        <p:spPr>
          <a:xfrm>
            <a:off x="6675120" y="3657600"/>
            <a:ext cx="960120" cy="1005840"/>
          </a:xfrm>
          <a:prstGeom prst="roundRect">
            <a:avLst>
              <a:gd name="adj" fmla="val 9524"/>
            </a:avLst>
          </a:prstGeom>
          <a:solidFill>
            <a:schemeClr val="bg2"/>
          </a:solidFill>
          <a:ln/>
        </p:spPr>
      </p:sp>
      <p:sp>
        <p:nvSpPr>
          <p:cNvPr id="31" name="Text 27"/>
          <p:cNvSpPr txBox="1"/>
          <p:nvPr/>
        </p:nvSpPr>
        <p:spPr>
          <a:xfrm>
            <a:off x="6784848" y="3749040"/>
            <a:ext cx="740664" cy="523037"/>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47,57</a:t>
            </a:r>
            <a:endParaRPr lang="en-US" sz="1800" dirty="0"/>
          </a:p>
        </p:txBody>
      </p:sp>
      <p:sp>
        <p:nvSpPr>
          <p:cNvPr id="32" name="Text 28"/>
          <p:cNvSpPr txBox="1"/>
          <p:nvPr/>
        </p:nvSpPr>
        <p:spPr>
          <a:xfrm>
            <a:off x="6784848" y="4261104"/>
            <a:ext cx="740664" cy="362102"/>
          </a:xfrm>
          <a:prstGeom prst="rect">
            <a:avLst/>
          </a:prstGeom>
          <a:noFill/>
          <a:ln/>
        </p:spPr>
        <p:txBody>
          <a:bodyPr wrap="square" lIns="0" tIns="0" rIns="0" bIns="0" rtlCol="0" anchor="t"/>
          <a:lstStyle/>
          <a:p>
            <a:pPr marL="0" indent="0" algn="ctr">
              <a:buNone/>
            </a:pPr>
            <a:r>
              <a:rPr lang="en-US" sz="1100" dirty="0">
                <a:solidFill>
                  <a:schemeClr val="tx1"/>
                </a:solidFill>
              </a:rPr>
              <a:t>rata-rata</a:t>
            </a:r>
            <a:endParaRPr lang="en-US" sz="1100" dirty="0"/>
          </a:p>
        </p:txBody>
      </p:sp>
      <p:sp>
        <p:nvSpPr>
          <p:cNvPr id="33" name="Stat"/>
          <p:cNvSpPr/>
          <p:nvPr/>
        </p:nvSpPr>
        <p:spPr>
          <a:xfrm>
            <a:off x="7726680" y="3657600"/>
            <a:ext cx="960120" cy="1005840"/>
          </a:xfrm>
          <a:prstGeom prst="roundRect">
            <a:avLst>
              <a:gd name="adj" fmla="val 9524"/>
            </a:avLst>
          </a:prstGeom>
          <a:solidFill>
            <a:schemeClr val="bg2"/>
          </a:solidFill>
          <a:ln/>
        </p:spPr>
      </p:sp>
      <p:sp>
        <p:nvSpPr>
          <p:cNvPr id="34" name="Text 30"/>
          <p:cNvSpPr txBox="1"/>
          <p:nvPr/>
        </p:nvSpPr>
        <p:spPr>
          <a:xfrm>
            <a:off x="7836408" y="3749040"/>
            <a:ext cx="740664" cy="523037"/>
          </a:xfrm>
          <a:prstGeom prst="rect">
            <a:avLst/>
          </a:prstGeom>
          <a:noFill/>
          <a:ln/>
        </p:spPr>
        <p:txBody>
          <a:bodyPr wrap="square" lIns="0" tIns="0" rIns="0" bIns="0" rtlCol="0" anchor="ctr"/>
          <a:lstStyle/>
          <a:p>
            <a:pPr marL="0" indent="0" algn="ctr">
              <a:buNone/>
            </a:pPr>
            <a:r>
              <a:rPr lang="en-US" sz="1800" b="1" dirty="0">
                <a:solidFill>
                  <a:schemeClr val="accent1"/>
                </a:solidFill>
                <a:latin typeface="Cambria" pitchFamily="34" charset="0"/>
                <a:ea typeface="Cambria" pitchFamily="34" charset="-122"/>
                <a:cs typeface="Cambria" pitchFamily="34" charset="-120"/>
              </a:rPr>
              <a:t>51,21</a:t>
            </a:r>
            <a:endParaRPr lang="en-US" sz="1800" dirty="0"/>
          </a:p>
        </p:txBody>
      </p:sp>
      <p:sp>
        <p:nvSpPr>
          <p:cNvPr id="35" name="Text 31"/>
          <p:cNvSpPr txBox="1"/>
          <p:nvPr/>
        </p:nvSpPr>
        <p:spPr>
          <a:xfrm>
            <a:off x="7836408" y="4261104"/>
            <a:ext cx="740664" cy="362102"/>
          </a:xfrm>
          <a:prstGeom prst="rect">
            <a:avLst/>
          </a:prstGeom>
          <a:noFill/>
          <a:ln/>
        </p:spPr>
        <p:txBody>
          <a:bodyPr wrap="square" lIns="0" tIns="0" rIns="0" bIns="0" rtlCol="0" anchor="t"/>
          <a:lstStyle/>
          <a:p>
            <a:pPr marL="0" indent="0" algn="ctr">
              <a:buNone/>
            </a:pPr>
            <a:r>
              <a:rPr lang="en-US" sz="1100" dirty="0">
                <a:solidFill>
                  <a:schemeClr val="tx1"/>
                </a:solidFill>
              </a:rPr>
              <a:t>std deviasi</a:t>
            </a:r>
            <a:endParaRPr lang="en-US" sz="11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Arsitektur CNN baseline</a:t>
            </a:r>
            <a:endParaRPr lang="en-US" sz="2800" dirty="0"/>
          </a:p>
        </p:txBody>
      </p:sp>
      <p:sp>
        <p:nvSpPr>
          <p:cNvPr id="5" name="Frame"/>
          <p:cNvSpPr/>
          <p:nvPr/>
        </p:nvSpPr>
        <p:spPr>
          <a:xfrm>
            <a:off x="414374" y="1188720"/>
            <a:ext cx="8315253" cy="2331720"/>
          </a:xfrm>
          <a:prstGeom prst="rect">
            <a:avLst/>
          </a:prstGeom>
          <a:solidFill>
            <a:schemeClr val="bg1"/>
          </a:solidFill>
          <a:ln w="12700">
            <a:solidFill>
              <a:schemeClr val="bg2"/>
            </a:solidFill>
            <a:prstDash val="solid"/>
          </a:ln>
        </p:spPr>
      </p:sp>
      <p:pic>
        <p:nvPicPr>
          <p:cNvPr id="6" name="Gambar 5" descr="/tmp/claude-0/-home-claude/949ac0f0-f744-5c10-baa6-0b053e3f7a1d/scratchpad/doc/img/image5.png"/>
          <p:cNvPicPr>
            <a:picLocks noChangeAspect="1"/>
          </p:cNvPicPr>
          <p:nvPr/>
        </p:nvPicPr>
        <p:blipFill>
          <a:blip r:embed="rId3"/>
          <a:stretch>
            <a:fillRect/>
          </a:stretch>
        </p:blipFill>
        <p:spPr>
          <a:xfrm>
            <a:off x="460094" y="1234440"/>
            <a:ext cx="8223813" cy="2240280"/>
          </a:xfrm>
          <a:prstGeom prst="rect">
            <a:avLst/>
          </a:prstGeom>
        </p:spPr>
      </p:pic>
      <p:sp>
        <p:nvSpPr>
          <p:cNvPr id="7" name="Stat"/>
          <p:cNvSpPr/>
          <p:nvPr/>
        </p:nvSpPr>
        <p:spPr>
          <a:xfrm>
            <a:off x="457200" y="3657600"/>
            <a:ext cx="1965960" cy="1005840"/>
          </a:xfrm>
          <a:prstGeom prst="roundRect">
            <a:avLst>
              <a:gd name="adj" fmla="val 9091"/>
            </a:avLst>
          </a:prstGeom>
          <a:solidFill>
            <a:schemeClr val="bg2"/>
          </a:solidFill>
          <a:ln/>
        </p:spPr>
      </p:sp>
      <p:sp>
        <p:nvSpPr>
          <p:cNvPr id="8" name="Text 4"/>
          <p:cNvSpPr txBox="1"/>
          <p:nvPr/>
        </p:nvSpPr>
        <p:spPr>
          <a:xfrm>
            <a:off x="566928" y="3749040"/>
            <a:ext cx="1746504" cy="523037"/>
          </a:xfrm>
          <a:prstGeom prst="rect">
            <a:avLst/>
          </a:prstGeom>
          <a:noFill/>
          <a:ln/>
        </p:spPr>
        <p:txBody>
          <a:bodyPr wrap="square" lIns="0" tIns="0" rIns="0" bIns="0" rtlCol="0" anchor="ctr"/>
          <a:lstStyle/>
          <a:p>
            <a:pPr marL="0" indent="0" algn="ctr">
              <a:buNone/>
            </a:pPr>
            <a:r>
              <a:rPr lang="en-US" sz="2000" b="1" dirty="0">
                <a:solidFill>
                  <a:schemeClr val="accent1"/>
                </a:solidFill>
                <a:latin typeface="Cambria" pitchFamily="34" charset="0"/>
                <a:ea typeface="Cambria" pitchFamily="34" charset="-122"/>
                <a:cs typeface="Cambria" pitchFamily="34" charset="-120"/>
              </a:rPr>
              <a:t>4 blok</a:t>
            </a:r>
            <a:endParaRPr lang="en-US" sz="2000" dirty="0"/>
          </a:p>
        </p:txBody>
      </p:sp>
      <p:sp>
        <p:nvSpPr>
          <p:cNvPr id="9" name="Text 5"/>
          <p:cNvSpPr txBox="1"/>
          <p:nvPr/>
        </p:nvSpPr>
        <p:spPr>
          <a:xfrm>
            <a:off x="566928" y="4261104"/>
            <a:ext cx="1746504" cy="362102"/>
          </a:xfrm>
          <a:prstGeom prst="rect">
            <a:avLst/>
          </a:prstGeom>
          <a:noFill/>
          <a:ln/>
        </p:spPr>
        <p:txBody>
          <a:bodyPr wrap="square" lIns="0" tIns="0" rIns="0" bIns="0" rtlCol="0" anchor="t"/>
          <a:lstStyle/>
          <a:p>
            <a:pPr marL="0" indent="0" algn="ctr">
              <a:buNone/>
            </a:pPr>
            <a:r>
              <a:rPr lang="en-US" sz="1200" dirty="0">
                <a:solidFill>
                  <a:schemeClr val="tx1"/>
                </a:solidFill>
              </a:rPr>
              <a:t>konvolusi: 32, 64, 128, 128 filter</a:t>
            </a:r>
            <a:endParaRPr lang="en-US" sz="1200" dirty="0"/>
          </a:p>
        </p:txBody>
      </p:sp>
      <p:sp>
        <p:nvSpPr>
          <p:cNvPr id="10" name="Stat"/>
          <p:cNvSpPr/>
          <p:nvPr/>
        </p:nvSpPr>
        <p:spPr>
          <a:xfrm>
            <a:off x="2560320" y="3657600"/>
            <a:ext cx="1965960" cy="1005840"/>
          </a:xfrm>
          <a:prstGeom prst="roundRect">
            <a:avLst>
              <a:gd name="adj" fmla="val 9091"/>
            </a:avLst>
          </a:prstGeom>
          <a:solidFill>
            <a:schemeClr val="bg2"/>
          </a:solidFill>
          <a:ln/>
        </p:spPr>
      </p:sp>
      <p:sp>
        <p:nvSpPr>
          <p:cNvPr id="11" name="Text 7"/>
          <p:cNvSpPr txBox="1"/>
          <p:nvPr/>
        </p:nvSpPr>
        <p:spPr>
          <a:xfrm>
            <a:off x="2670048" y="3749040"/>
            <a:ext cx="1746504" cy="523037"/>
          </a:xfrm>
          <a:prstGeom prst="rect">
            <a:avLst/>
          </a:prstGeom>
          <a:noFill/>
          <a:ln/>
        </p:spPr>
        <p:txBody>
          <a:bodyPr wrap="square" lIns="0" tIns="0" rIns="0" bIns="0" rtlCol="0" anchor="ctr"/>
          <a:lstStyle/>
          <a:p>
            <a:pPr marL="0" indent="0" algn="ctr">
              <a:buNone/>
            </a:pPr>
            <a:r>
              <a:rPr lang="en-US" sz="2000" b="1" dirty="0">
                <a:solidFill>
                  <a:schemeClr val="accent4"/>
                </a:solidFill>
                <a:latin typeface="Cambria" pitchFamily="34" charset="0"/>
                <a:ea typeface="Cambria" pitchFamily="34" charset="-122"/>
                <a:cs typeface="Cambria" pitchFamily="34" charset="-120"/>
              </a:rPr>
              <a:t>128 → 8</a:t>
            </a:r>
            <a:endParaRPr lang="en-US" sz="2000" dirty="0"/>
          </a:p>
        </p:txBody>
      </p:sp>
      <p:sp>
        <p:nvSpPr>
          <p:cNvPr id="12" name="Text 8"/>
          <p:cNvSpPr txBox="1"/>
          <p:nvPr/>
        </p:nvSpPr>
        <p:spPr>
          <a:xfrm>
            <a:off x="2670048" y="4261104"/>
            <a:ext cx="1746504" cy="362102"/>
          </a:xfrm>
          <a:prstGeom prst="rect">
            <a:avLst/>
          </a:prstGeom>
          <a:noFill/>
          <a:ln/>
        </p:spPr>
        <p:txBody>
          <a:bodyPr wrap="square" lIns="0" tIns="0" rIns="0" bIns="0" rtlCol="0" anchor="t"/>
          <a:lstStyle/>
          <a:p>
            <a:pPr marL="0" indent="0" algn="ctr">
              <a:buNone/>
            </a:pPr>
            <a:r>
              <a:rPr lang="en-US" sz="1200" dirty="0">
                <a:solidFill>
                  <a:schemeClr val="tx1"/>
                </a:solidFill>
              </a:rPr>
              <a:t>ukuran gambar setelah 4× pooling</a:t>
            </a:r>
            <a:endParaRPr lang="en-US" sz="1200" dirty="0"/>
          </a:p>
        </p:txBody>
      </p:sp>
      <p:sp>
        <p:nvSpPr>
          <p:cNvPr id="13" name="Stat"/>
          <p:cNvSpPr/>
          <p:nvPr/>
        </p:nvSpPr>
        <p:spPr>
          <a:xfrm>
            <a:off x="4663440" y="3657600"/>
            <a:ext cx="1965960" cy="1005840"/>
          </a:xfrm>
          <a:prstGeom prst="roundRect">
            <a:avLst>
              <a:gd name="adj" fmla="val 9091"/>
            </a:avLst>
          </a:prstGeom>
          <a:solidFill>
            <a:schemeClr val="bg2"/>
          </a:solidFill>
          <a:ln/>
        </p:spPr>
      </p:sp>
      <p:sp>
        <p:nvSpPr>
          <p:cNvPr id="14" name="Text 10"/>
          <p:cNvSpPr txBox="1"/>
          <p:nvPr/>
        </p:nvSpPr>
        <p:spPr>
          <a:xfrm>
            <a:off x="4773168" y="3749040"/>
            <a:ext cx="1746504" cy="523037"/>
          </a:xfrm>
          <a:prstGeom prst="rect">
            <a:avLst/>
          </a:prstGeom>
          <a:noFill/>
          <a:ln/>
        </p:spPr>
        <p:txBody>
          <a:bodyPr wrap="square" lIns="0" tIns="0" rIns="0" bIns="0" rtlCol="0" anchor="ctr"/>
          <a:lstStyle/>
          <a:p>
            <a:pPr marL="0" indent="0" algn="ctr">
              <a:buNone/>
            </a:pPr>
            <a:r>
              <a:rPr lang="en-US" sz="2000" b="1" dirty="0">
                <a:solidFill>
                  <a:schemeClr val="accent1"/>
                </a:solidFill>
                <a:latin typeface="Cambria" pitchFamily="34" charset="0"/>
                <a:ea typeface="Cambria" pitchFamily="34" charset="-122"/>
                <a:cs typeface="Cambria" pitchFamily="34" charset="-120"/>
              </a:rPr>
              <a:t>8.192</a:t>
            </a:r>
            <a:endParaRPr lang="en-US" sz="2000" dirty="0"/>
          </a:p>
        </p:txBody>
      </p:sp>
      <p:sp>
        <p:nvSpPr>
          <p:cNvPr id="15" name="Text 11"/>
          <p:cNvSpPr txBox="1"/>
          <p:nvPr/>
        </p:nvSpPr>
        <p:spPr>
          <a:xfrm>
            <a:off x="4773168" y="4261104"/>
            <a:ext cx="1746504" cy="362102"/>
          </a:xfrm>
          <a:prstGeom prst="rect">
            <a:avLst/>
          </a:prstGeom>
          <a:noFill/>
          <a:ln/>
        </p:spPr>
        <p:txBody>
          <a:bodyPr wrap="square" lIns="0" tIns="0" rIns="0" bIns="0" rtlCol="0" anchor="t"/>
          <a:lstStyle/>
          <a:p>
            <a:pPr marL="0" indent="0" algn="ctr">
              <a:buNone/>
            </a:pPr>
            <a:r>
              <a:rPr lang="en-US" sz="1200" dirty="0">
                <a:solidFill>
                  <a:schemeClr val="tx1"/>
                </a:solidFill>
              </a:rPr>
              <a:t>angka (8×8×128) masuk Dense 128</a:t>
            </a:r>
            <a:endParaRPr lang="en-US" sz="1200" dirty="0"/>
          </a:p>
        </p:txBody>
      </p:sp>
      <p:sp>
        <p:nvSpPr>
          <p:cNvPr id="16" name="Stat"/>
          <p:cNvSpPr/>
          <p:nvPr/>
        </p:nvSpPr>
        <p:spPr>
          <a:xfrm>
            <a:off x="6766560" y="3657600"/>
            <a:ext cx="1965960" cy="1005840"/>
          </a:xfrm>
          <a:prstGeom prst="roundRect">
            <a:avLst>
              <a:gd name="adj" fmla="val 9091"/>
            </a:avLst>
          </a:prstGeom>
          <a:solidFill>
            <a:schemeClr val="bg2"/>
          </a:solidFill>
          <a:ln/>
        </p:spPr>
      </p:sp>
      <p:sp>
        <p:nvSpPr>
          <p:cNvPr id="17" name="Text 13"/>
          <p:cNvSpPr txBox="1"/>
          <p:nvPr/>
        </p:nvSpPr>
        <p:spPr>
          <a:xfrm>
            <a:off x="6876288" y="3749040"/>
            <a:ext cx="1746504" cy="523037"/>
          </a:xfrm>
          <a:prstGeom prst="rect">
            <a:avLst/>
          </a:prstGeom>
          <a:noFill/>
          <a:ln/>
        </p:spPr>
        <p:txBody>
          <a:bodyPr wrap="square" lIns="0" tIns="0" rIns="0" bIns="0" rtlCol="0" anchor="ctr"/>
          <a:lstStyle/>
          <a:p>
            <a:pPr marL="0" indent="0" algn="ctr">
              <a:buNone/>
            </a:pPr>
            <a:r>
              <a:rPr lang="en-US" sz="2000" b="1" dirty="0">
                <a:solidFill>
                  <a:schemeClr val="accent4"/>
                </a:solidFill>
                <a:latin typeface="Cambria" pitchFamily="34" charset="0"/>
                <a:ea typeface="Cambria" pitchFamily="34" charset="-122"/>
                <a:cs typeface="Cambria" pitchFamily="34" charset="-120"/>
              </a:rPr>
              <a:t>1,29 juta</a:t>
            </a:r>
            <a:endParaRPr lang="en-US" sz="2000" dirty="0"/>
          </a:p>
        </p:txBody>
      </p:sp>
      <p:sp>
        <p:nvSpPr>
          <p:cNvPr id="18" name="Text 14"/>
          <p:cNvSpPr txBox="1"/>
          <p:nvPr/>
        </p:nvSpPr>
        <p:spPr>
          <a:xfrm>
            <a:off x="6876288" y="4261104"/>
            <a:ext cx="1746504" cy="362102"/>
          </a:xfrm>
          <a:prstGeom prst="rect">
            <a:avLst/>
          </a:prstGeom>
          <a:noFill/>
          <a:ln/>
        </p:spPr>
        <p:txBody>
          <a:bodyPr wrap="square" lIns="0" tIns="0" rIns="0" bIns="0" rtlCol="0" anchor="t"/>
          <a:lstStyle/>
          <a:p>
            <a:pPr marL="0" indent="0" algn="ctr">
              <a:buNone/>
            </a:pPr>
            <a:r>
              <a:rPr lang="en-US" sz="1200" dirty="0">
                <a:solidFill>
                  <a:schemeClr val="tx1"/>
                </a:solidFill>
              </a:rPr>
              <a:t>parameter (4,92 MB)</a:t>
            </a:r>
            <a:endParaRPr lang="en-US" sz="12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Susunan lapisan dan jumlah parameter</a:t>
            </a:r>
            <a:endParaRPr lang="en-US" sz="2800" dirty="0"/>
          </a:p>
        </p:txBody>
      </p:sp>
      <p:graphicFrame>
        <p:nvGraphicFramePr>
          <p:cNvPr id="17" name="Tabel"/>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3017520"/>
        </p:xfrm>
        <a:graphic>
          <a:graphicData uri="http://schemas.openxmlformats.org/drawingml/2006/table">
            <a:tbl>
              <a:tblPr/>
              <a:tblGrid>
                <a:gridCol w="13716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01752">
                <a:tc>
                  <a:txBody>
                    <a:bodyPr/>
                    <a:lstStyle/>
                    <a:p>
                      <a:pPr marL="0" indent="0" algn="l">
                        <a:buNone/>
                      </a:pPr>
                      <a:r>
                        <a:rPr lang="en-US" sz="1300" b="1" dirty="0">
                          <a:solidFill>
                            <a:schemeClr val="bg1"/>
                          </a:solidFill>
                        </a:rPr>
                        <a:t>Lapisan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Tipe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Output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r">
                        <a:buNone/>
                      </a:pPr>
                      <a:r>
                        <a:rPr lang="en-US" sz="1300" b="1" dirty="0">
                          <a:solidFill>
                            <a:schemeClr val="bg1"/>
                          </a:solidFill>
                        </a:rPr>
                        <a:t>Parameter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01752">
                <a:tc>
                  <a:txBody>
                    <a:bodyPr/>
                    <a:lstStyle/>
                    <a:p>
                      <a:pPr marL="0" indent="0" algn="l">
                        <a:buNone/>
                      </a:pPr>
                      <a:r>
                        <a:rPr lang="en-US" sz="1300" b="1" dirty="0">
                          <a:solidFill>
                            <a:schemeClr val="tx1"/>
                          </a:solidFill>
                        </a:rPr>
                        <a:t>Blok 1</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Conv2D 32 filter 3×3 + MaxPool 2×2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64 × 64 × 32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896</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01752">
                <a:tc>
                  <a:txBody>
                    <a:bodyPr/>
                    <a:lstStyle/>
                    <a:p>
                      <a:pPr marL="0" indent="0" algn="l">
                        <a:buNone/>
                      </a:pPr>
                      <a:r>
                        <a:rPr lang="en-US" sz="1300" b="1" dirty="0">
                          <a:solidFill>
                            <a:schemeClr val="tx1"/>
                          </a:solidFill>
                        </a:rPr>
                        <a:t>Blok 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Conv2D 64 filter + MaxPool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32 × 32 × 64</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1"/>
                          </a:solidFill>
                        </a:rPr>
                        <a:t>18.496</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01752">
                <a:tc>
                  <a:txBody>
                    <a:bodyPr/>
                    <a:lstStyle/>
                    <a:p>
                      <a:pPr marL="0" indent="0" algn="l">
                        <a:buNone/>
                      </a:pPr>
                      <a:r>
                        <a:rPr lang="en-US" sz="1300" b="1" dirty="0">
                          <a:solidFill>
                            <a:schemeClr val="tx1"/>
                          </a:solidFill>
                        </a:rPr>
                        <a:t>Blok 3</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Conv2D 128 filter + MaxPool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16 × 16 × 128</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73.856</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01752">
                <a:tc>
                  <a:txBody>
                    <a:bodyPr/>
                    <a:lstStyle/>
                    <a:p>
                      <a:pPr marL="0" indent="0" algn="l">
                        <a:buNone/>
                      </a:pPr>
                      <a:r>
                        <a:rPr lang="en-US" sz="1300" b="1" dirty="0">
                          <a:solidFill>
                            <a:schemeClr val="tx1"/>
                          </a:solidFill>
                        </a:rPr>
                        <a:t>Blok 4</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Conv2D 128 filter + MaxPool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8 × 8 × 128</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1"/>
                          </a:solidFill>
                        </a:rPr>
                        <a:t>147.584</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01752">
                <a:tc>
                  <a:txBody>
                    <a:bodyPr/>
                    <a:lstStyle/>
                    <a:p>
                      <a:pPr marL="0" indent="0" algn="l">
                        <a:buNone/>
                      </a:pPr>
                      <a:r>
                        <a:rPr lang="en-US" sz="1300" b="1" dirty="0">
                          <a:solidFill>
                            <a:schemeClr val="tx1"/>
                          </a:solidFill>
                        </a:rPr>
                        <a:t>Flatten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Flatten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8.192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0</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01752">
                <a:tc>
                  <a:txBody>
                    <a:bodyPr/>
                    <a:lstStyle/>
                    <a:p>
                      <a:pPr marL="0" indent="0" algn="l">
                        <a:buNone/>
                      </a:pPr>
                      <a:r>
                        <a:rPr lang="en-US" sz="1300" b="1" dirty="0">
                          <a:solidFill>
                            <a:schemeClr val="tx1"/>
                          </a:solidFill>
                        </a:rPr>
                        <a:t>Dense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Dense 128 (ReLU)</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128</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1"/>
                          </a:solidFill>
                        </a:rPr>
                        <a:t>1.048.704</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301752">
                <a:tc>
                  <a:txBody>
                    <a:bodyPr/>
                    <a:lstStyle/>
                    <a:p>
                      <a:pPr marL="0" indent="0" algn="l">
                        <a:buNone/>
                      </a:pPr>
                      <a:r>
                        <a:rPr lang="en-US" sz="1300" b="1" dirty="0">
                          <a:solidFill>
                            <a:schemeClr val="tx1"/>
                          </a:solidFill>
                        </a:rPr>
                        <a:t>Dropout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Dropout (baseline 0,3)</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128</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r">
                        <a:buNone/>
                      </a:pPr>
                      <a:r>
                        <a:rPr lang="en-US" sz="1300" dirty="0">
                          <a:solidFill>
                            <a:schemeClr val="tx1"/>
                          </a:solidFill>
                        </a:rPr>
                        <a:t>0</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01752">
                <a:tc>
                  <a:txBody>
                    <a:bodyPr/>
                    <a:lstStyle/>
                    <a:p>
                      <a:pPr marL="0" indent="0" algn="l">
                        <a:buNone/>
                      </a:pPr>
                      <a:r>
                        <a:rPr lang="en-US" sz="1300" b="1" dirty="0">
                          <a:solidFill>
                            <a:schemeClr val="tx1"/>
                          </a:solidFill>
                        </a:rPr>
                        <a:t>Output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Dense 4 (Softmax)</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4</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r">
                        <a:buNone/>
                      </a:pPr>
                      <a:r>
                        <a:rPr lang="en-US" sz="1300" dirty="0">
                          <a:solidFill>
                            <a:schemeClr val="tx1"/>
                          </a:solidFill>
                        </a:rPr>
                        <a:t>516</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301752">
                <a:tc>
                  <a:txBody>
                    <a:bodyPr/>
                    <a:lstStyle/>
                    <a:p>
                      <a:pPr marL="0" indent="0" algn="l">
                        <a:buNone/>
                      </a:pPr>
                      <a:r>
                        <a:rPr lang="en-US" sz="1300" b="1" dirty="0">
                          <a:solidFill>
                            <a:schemeClr val="tx1"/>
                          </a:solidFill>
                        </a:rPr>
                        <a:t>Total</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r">
                        <a:buNone/>
                      </a:pPr>
                      <a:r>
                        <a:rPr lang="en-US" sz="1300" b="1" dirty="0">
                          <a:solidFill>
                            <a:schemeClr val="tx1"/>
                          </a:solidFill>
                        </a:rPr>
                        <a:t>1.290.052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extLst>
                  <a:ext uri="{0D108BD9-81ED-4DB2-BD59-A6C34878D82A}">
                    <a16:rowId xmlns:a16="http://schemas.microsoft.com/office/drawing/2014/main" val="10009"/>
                  </a:ext>
                </a:extLst>
              </a:tr>
            </a:tbl>
          </a:graphicData>
        </a:graphic>
      </p:graphicFrame>
      <p:sp>
        <p:nvSpPr>
          <p:cNvPr id="6" name="Text 2"/>
          <p:cNvSpPr txBox="1"/>
          <p:nvPr/>
        </p:nvSpPr>
        <p:spPr>
          <a:xfrm>
            <a:off x="457200" y="4434840"/>
            <a:ext cx="8229600" cy="274320"/>
          </a:xfrm>
          <a:prstGeom prst="rect">
            <a:avLst/>
          </a:prstGeom>
          <a:noFill/>
          <a:ln/>
        </p:spPr>
        <p:txBody>
          <a:bodyPr wrap="square" lIns="0" tIns="0" rIns="0" bIns="0" rtlCol="0" anchor="t"/>
          <a:lstStyle/>
          <a:p>
            <a:pPr marL="0" indent="0" algn="l">
              <a:buNone/>
            </a:pPr>
            <a:r>
              <a:rPr lang="en-US" sz="1300" i="1" dirty="0">
                <a:solidFill>
                  <a:schemeClr val="accent4"/>
                </a:solidFill>
              </a:rPr>
              <a:t>Dense 128 menyumbang sekitar 81% parameter (1.048.704 dari 1.290.052).</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Pipeline pelatihan dan evaluasi</a:t>
            </a:r>
            <a:endParaRPr lang="en-US" sz="2800" dirty="0"/>
          </a:p>
        </p:txBody>
      </p:sp>
      <p:sp>
        <p:nvSpPr>
          <p:cNvPr id="5" name="Pipeline"/>
          <p:cNvSpPr/>
          <p:nvPr/>
        </p:nvSpPr>
        <p:spPr>
          <a:xfrm>
            <a:off x="457200" y="1280160"/>
            <a:ext cx="2651760" cy="1600200"/>
          </a:xfrm>
          <a:prstGeom prst="roundRect">
            <a:avLst>
              <a:gd name="adj" fmla="val 5714"/>
            </a:avLst>
          </a:prstGeom>
          <a:solidFill>
            <a:schemeClr val="bg2"/>
          </a:solidFill>
          <a:ln/>
        </p:spPr>
      </p:sp>
      <p:sp>
        <p:nvSpPr>
          <p:cNvPr id="6" name="Text 3"/>
          <p:cNvSpPr txBox="1"/>
          <p:nvPr/>
        </p:nvSpPr>
        <p:spPr>
          <a:xfrm>
            <a:off x="640080" y="1417320"/>
            <a:ext cx="2286000" cy="320040"/>
          </a:xfrm>
          <a:prstGeom prst="rect">
            <a:avLst/>
          </a:prstGeom>
          <a:noFill/>
          <a:ln/>
        </p:spPr>
        <p:txBody>
          <a:bodyPr wrap="square" lIns="0" tIns="0" rIns="0" bIns="0" rtlCol="0" anchor="t"/>
          <a:lstStyle/>
          <a:p>
            <a:pPr marL="0" indent="0" algn="l">
              <a:buNone/>
            </a:pPr>
            <a:r>
              <a:rPr lang="en-US" sz="1600" b="1" dirty="0">
                <a:solidFill>
                  <a:schemeClr val="accent1"/>
                </a:solidFill>
              </a:rPr>
              <a:t>Normalisasi</a:t>
            </a:r>
            <a:endParaRPr lang="en-US" sz="1600" dirty="0"/>
          </a:p>
        </p:txBody>
      </p:sp>
      <p:sp>
        <p:nvSpPr>
          <p:cNvPr id="7" name="Text 4"/>
          <p:cNvSpPr txBox="1"/>
          <p:nvPr/>
        </p:nvSpPr>
        <p:spPr>
          <a:xfrm>
            <a:off x="640080" y="182880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Piksel dibagi 255, jadi rentang 0 sampai 1</a:t>
            </a:r>
            <a:endParaRPr lang="en-US" sz="1400" dirty="0"/>
          </a:p>
        </p:txBody>
      </p:sp>
      <p:sp>
        <p:nvSpPr>
          <p:cNvPr id="8" name="Pipeline"/>
          <p:cNvSpPr/>
          <p:nvPr/>
        </p:nvSpPr>
        <p:spPr>
          <a:xfrm>
            <a:off x="3246120" y="1280160"/>
            <a:ext cx="2651760" cy="1600200"/>
          </a:xfrm>
          <a:prstGeom prst="roundRect">
            <a:avLst>
              <a:gd name="adj" fmla="val 5714"/>
            </a:avLst>
          </a:prstGeom>
          <a:solidFill>
            <a:schemeClr val="bg2"/>
          </a:solidFill>
          <a:ln/>
        </p:spPr>
      </p:sp>
      <p:sp>
        <p:nvSpPr>
          <p:cNvPr id="9" name="Text 6"/>
          <p:cNvSpPr txBox="1"/>
          <p:nvPr/>
        </p:nvSpPr>
        <p:spPr>
          <a:xfrm>
            <a:off x="3429000" y="1417320"/>
            <a:ext cx="2286000" cy="320040"/>
          </a:xfrm>
          <a:prstGeom prst="rect">
            <a:avLst/>
          </a:prstGeom>
          <a:noFill/>
          <a:ln/>
        </p:spPr>
        <p:txBody>
          <a:bodyPr wrap="square" lIns="0" tIns="0" rIns="0" bIns="0" rtlCol="0" anchor="t"/>
          <a:lstStyle/>
          <a:p>
            <a:pPr marL="0" indent="0" algn="l">
              <a:buNone/>
            </a:pPr>
            <a:r>
              <a:rPr lang="en-US" sz="1600" b="1" dirty="0">
                <a:solidFill>
                  <a:schemeClr val="accent1"/>
                </a:solidFill>
              </a:rPr>
              <a:t>Augmentasi</a:t>
            </a:r>
            <a:endParaRPr lang="en-US" sz="1600" dirty="0"/>
          </a:p>
        </p:txBody>
      </p:sp>
      <p:sp>
        <p:nvSpPr>
          <p:cNvPr id="10" name="Text 7"/>
          <p:cNvSpPr txBox="1"/>
          <p:nvPr/>
        </p:nvSpPr>
        <p:spPr>
          <a:xfrm>
            <a:off x="3429000" y="182880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Flip horizontal, rotasi 0,10, zoom 10%; hanya data latih</a:t>
            </a:r>
            <a:endParaRPr lang="en-US" sz="1400" dirty="0"/>
          </a:p>
        </p:txBody>
      </p:sp>
      <p:sp>
        <p:nvSpPr>
          <p:cNvPr id="11" name="Pipeline"/>
          <p:cNvSpPr/>
          <p:nvPr/>
        </p:nvSpPr>
        <p:spPr>
          <a:xfrm>
            <a:off x="6035040" y="1280160"/>
            <a:ext cx="2651760" cy="1600200"/>
          </a:xfrm>
          <a:prstGeom prst="roundRect">
            <a:avLst>
              <a:gd name="adj" fmla="val 5714"/>
            </a:avLst>
          </a:prstGeom>
          <a:solidFill>
            <a:schemeClr val="bg2"/>
          </a:solidFill>
          <a:ln/>
        </p:spPr>
      </p:sp>
      <p:sp>
        <p:nvSpPr>
          <p:cNvPr id="12" name="Text 9"/>
          <p:cNvSpPr txBox="1"/>
          <p:nvPr/>
        </p:nvSpPr>
        <p:spPr>
          <a:xfrm>
            <a:off x="6217920" y="1417320"/>
            <a:ext cx="2286000" cy="320040"/>
          </a:xfrm>
          <a:prstGeom prst="rect">
            <a:avLst/>
          </a:prstGeom>
          <a:noFill/>
          <a:ln/>
        </p:spPr>
        <p:txBody>
          <a:bodyPr wrap="square" lIns="0" tIns="0" rIns="0" bIns="0" rtlCol="0" anchor="t"/>
          <a:lstStyle/>
          <a:p>
            <a:pPr marL="0" indent="0" algn="l">
              <a:buNone/>
            </a:pPr>
            <a:r>
              <a:rPr lang="en-US" sz="1600" b="1" dirty="0">
                <a:solidFill>
                  <a:schemeClr val="accent1"/>
                </a:solidFill>
              </a:rPr>
              <a:t>Pipeline data</a:t>
            </a:r>
            <a:endParaRPr lang="en-US" sz="1600" dirty="0"/>
          </a:p>
        </p:txBody>
      </p:sp>
      <p:sp>
        <p:nvSpPr>
          <p:cNvPr id="13" name="Text 10"/>
          <p:cNvSpPr txBox="1"/>
          <p:nvPr/>
        </p:nvSpPr>
        <p:spPr>
          <a:xfrm>
            <a:off x="6217920" y="182880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Diacak (seed 42), batch 32, prefetch</a:t>
            </a:r>
            <a:endParaRPr lang="en-US" sz="1400" dirty="0"/>
          </a:p>
        </p:txBody>
      </p:sp>
      <p:sp>
        <p:nvSpPr>
          <p:cNvPr id="14" name="Pipeline"/>
          <p:cNvSpPr/>
          <p:nvPr/>
        </p:nvSpPr>
        <p:spPr>
          <a:xfrm>
            <a:off x="457200" y="3017520"/>
            <a:ext cx="2651760" cy="1600200"/>
          </a:xfrm>
          <a:prstGeom prst="roundRect">
            <a:avLst>
              <a:gd name="adj" fmla="val 5714"/>
            </a:avLst>
          </a:prstGeom>
          <a:solidFill>
            <a:schemeClr val="bg2"/>
          </a:solidFill>
          <a:ln/>
        </p:spPr>
      </p:sp>
      <p:sp>
        <p:nvSpPr>
          <p:cNvPr id="15" name="Text 12"/>
          <p:cNvSpPr txBox="1"/>
          <p:nvPr/>
        </p:nvSpPr>
        <p:spPr>
          <a:xfrm>
            <a:off x="640080" y="3154680"/>
            <a:ext cx="2286000" cy="320040"/>
          </a:xfrm>
          <a:prstGeom prst="rect">
            <a:avLst/>
          </a:prstGeom>
          <a:noFill/>
          <a:ln/>
        </p:spPr>
        <p:txBody>
          <a:bodyPr wrap="square" lIns="0" tIns="0" rIns="0" bIns="0" rtlCol="0" anchor="t"/>
          <a:lstStyle/>
          <a:p>
            <a:pPr marL="0" indent="0" algn="l">
              <a:buNone/>
            </a:pPr>
            <a:r>
              <a:rPr lang="en-US" sz="1600" b="1" dirty="0">
                <a:solidFill>
                  <a:schemeClr val="accent1"/>
                </a:solidFill>
              </a:rPr>
              <a:t>Optimizer</a:t>
            </a:r>
            <a:endParaRPr lang="en-US" sz="1600" dirty="0"/>
          </a:p>
        </p:txBody>
      </p:sp>
      <p:sp>
        <p:nvSpPr>
          <p:cNvPr id="16" name="Text 13"/>
          <p:cNvSpPr txBox="1"/>
          <p:nvPr/>
        </p:nvSpPr>
        <p:spPr>
          <a:xfrm>
            <a:off x="640080" y="356616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Adam, RMSprop, SGD momentum 0,9; LR 0,0005</a:t>
            </a:r>
            <a:endParaRPr lang="en-US" sz="1400" dirty="0"/>
          </a:p>
        </p:txBody>
      </p:sp>
      <p:sp>
        <p:nvSpPr>
          <p:cNvPr id="17" name="Pipeline"/>
          <p:cNvSpPr/>
          <p:nvPr/>
        </p:nvSpPr>
        <p:spPr>
          <a:xfrm>
            <a:off x="3246120" y="3017520"/>
            <a:ext cx="2651760" cy="1600200"/>
          </a:xfrm>
          <a:prstGeom prst="roundRect">
            <a:avLst>
              <a:gd name="adj" fmla="val 5714"/>
            </a:avLst>
          </a:prstGeom>
          <a:solidFill>
            <a:schemeClr val="bg2"/>
          </a:solidFill>
          <a:ln/>
        </p:spPr>
      </p:sp>
      <p:sp>
        <p:nvSpPr>
          <p:cNvPr id="18" name="Text 15"/>
          <p:cNvSpPr txBox="1"/>
          <p:nvPr/>
        </p:nvSpPr>
        <p:spPr>
          <a:xfrm>
            <a:off x="3429000" y="3154680"/>
            <a:ext cx="2286000" cy="320040"/>
          </a:xfrm>
          <a:prstGeom prst="rect">
            <a:avLst/>
          </a:prstGeom>
          <a:noFill/>
          <a:ln/>
        </p:spPr>
        <p:txBody>
          <a:bodyPr wrap="square" lIns="0" tIns="0" rIns="0" bIns="0" rtlCol="0" anchor="t"/>
          <a:lstStyle/>
          <a:p>
            <a:pPr marL="0" indent="0" algn="l">
              <a:buNone/>
            </a:pPr>
            <a:r>
              <a:rPr lang="en-US" sz="1600" b="1" dirty="0">
                <a:solidFill>
                  <a:schemeClr val="accent2"/>
                </a:solidFill>
              </a:rPr>
              <a:t>Checkpoint dan resume</a:t>
            </a:r>
            <a:endParaRPr lang="en-US" sz="1600" dirty="0"/>
          </a:p>
        </p:txBody>
      </p:sp>
      <p:sp>
        <p:nvSpPr>
          <p:cNvPr id="19" name="Text 16"/>
          <p:cNvSpPr txBox="1"/>
          <p:nvPr/>
        </p:nvSpPr>
        <p:spPr>
          <a:xfrm>
            <a:off x="3429000" y="356616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Simpan tiap epoch; split 90:05:05 putus di epoch 16, lanjut dari 17</a:t>
            </a:r>
            <a:endParaRPr lang="en-US" sz="1400" dirty="0"/>
          </a:p>
        </p:txBody>
      </p:sp>
      <p:sp>
        <p:nvSpPr>
          <p:cNvPr id="20" name="Pipeline"/>
          <p:cNvSpPr/>
          <p:nvPr/>
        </p:nvSpPr>
        <p:spPr>
          <a:xfrm>
            <a:off x="6035040" y="3017520"/>
            <a:ext cx="2651760" cy="1600200"/>
          </a:xfrm>
          <a:prstGeom prst="roundRect">
            <a:avLst>
              <a:gd name="adj" fmla="val 5714"/>
            </a:avLst>
          </a:prstGeom>
          <a:solidFill>
            <a:schemeClr val="bg2"/>
          </a:solidFill>
          <a:ln/>
        </p:spPr>
      </p:sp>
      <p:sp>
        <p:nvSpPr>
          <p:cNvPr id="21" name="Text 18"/>
          <p:cNvSpPr txBox="1"/>
          <p:nvPr/>
        </p:nvSpPr>
        <p:spPr>
          <a:xfrm>
            <a:off x="6217920" y="3154680"/>
            <a:ext cx="2286000" cy="320040"/>
          </a:xfrm>
          <a:prstGeom prst="rect">
            <a:avLst/>
          </a:prstGeom>
          <a:noFill/>
          <a:ln/>
        </p:spPr>
        <p:txBody>
          <a:bodyPr wrap="square" lIns="0" tIns="0" rIns="0" bIns="0" rtlCol="0" anchor="t"/>
          <a:lstStyle/>
          <a:p>
            <a:pPr marL="0" indent="0" algn="l">
              <a:buNone/>
            </a:pPr>
            <a:r>
              <a:rPr lang="en-US" sz="1600" b="1" dirty="0">
                <a:solidFill>
                  <a:schemeClr val="accent1"/>
                </a:solidFill>
              </a:rPr>
              <a:t>Evaluasi</a:t>
            </a:r>
            <a:endParaRPr lang="en-US" sz="1600" dirty="0"/>
          </a:p>
        </p:txBody>
      </p:sp>
      <p:sp>
        <p:nvSpPr>
          <p:cNvPr id="22" name="Text 19"/>
          <p:cNvSpPr txBox="1"/>
          <p:nvPr/>
        </p:nvSpPr>
        <p:spPr>
          <a:xfrm>
            <a:off x="6217920" y="3566160"/>
            <a:ext cx="2286000" cy="1005840"/>
          </a:xfrm>
          <a:prstGeom prst="rect">
            <a:avLst/>
          </a:prstGeom>
          <a:noFill/>
          <a:ln/>
        </p:spPr>
        <p:txBody>
          <a:bodyPr wrap="square" lIns="0" tIns="0" rIns="0" bIns="0" rtlCol="0" anchor="t"/>
          <a:lstStyle/>
          <a:p>
            <a:pPr marL="0" indent="0" algn="l">
              <a:buNone/>
            </a:pPr>
            <a:r>
              <a:rPr lang="en-US" sz="1400" dirty="0">
                <a:solidFill>
                  <a:schemeClr val="tx1"/>
                </a:solidFill>
              </a:rPr>
              <a:t>Accuracy, precision, recall, F1 macro, confusion matrix</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Rancangan eksperimen: progressive ablation</a:t>
            </a:r>
            <a:endParaRPr lang="en-US" sz="2800" dirty="0"/>
          </a:p>
        </p:txBody>
      </p:sp>
      <p:sp>
        <p:nvSpPr>
          <p:cNvPr id="5" name="Skenario"/>
          <p:cNvSpPr/>
          <p:nvPr/>
        </p:nvSpPr>
        <p:spPr>
          <a:xfrm>
            <a:off x="457200" y="1280160"/>
            <a:ext cx="1874520" cy="2514600"/>
          </a:xfrm>
          <a:prstGeom prst="roundRect">
            <a:avLst>
              <a:gd name="adj" fmla="val 4878"/>
            </a:avLst>
          </a:prstGeom>
          <a:solidFill>
            <a:schemeClr val="bg2"/>
          </a:solidFill>
          <a:ln/>
        </p:spPr>
      </p:sp>
      <p:sp>
        <p:nvSpPr>
          <p:cNvPr id="6" name="Text 3"/>
          <p:cNvSpPr txBox="1"/>
          <p:nvPr/>
        </p:nvSpPr>
        <p:spPr>
          <a:xfrm>
            <a:off x="594360" y="1371600"/>
            <a:ext cx="1600200" cy="256032"/>
          </a:xfrm>
          <a:prstGeom prst="rect">
            <a:avLst/>
          </a:prstGeom>
          <a:noFill/>
          <a:ln/>
        </p:spPr>
        <p:txBody>
          <a:bodyPr wrap="square" lIns="0" tIns="0" rIns="0" bIns="0" rtlCol="0" anchor="t"/>
          <a:lstStyle/>
          <a:p>
            <a:pPr marL="0" indent="0" algn="l">
              <a:buNone/>
            </a:pPr>
            <a:r>
              <a:rPr lang="en-US" sz="1200" b="1" kern="0" spc="100" dirty="0">
                <a:solidFill>
                  <a:schemeClr val="accent1"/>
                </a:solidFill>
              </a:rPr>
              <a:t>Skenario 1</a:t>
            </a:r>
            <a:endParaRPr lang="en-US" sz="1200" dirty="0"/>
          </a:p>
        </p:txBody>
      </p:sp>
      <p:sp>
        <p:nvSpPr>
          <p:cNvPr id="7" name="Text 4"/>
          <p:cNvSpPr txBox="1"/>
          <p:nvPr/>
        </p:nvSpPr>
        <p:spPr>
          <a:xfrm>
            <a:off x="594360" y="1645920"/>
            <a:ext cx="1600200" cy="320040"/>
          </a:xfrm>
          <a:prstGeom prst="rect">
            <a:avLst/>
          </a:prstGeom>
          <a:noFill/>
          <a:ln/>
        </p:spPr>
        <p:txBody>
          <a:bodyPr wrap="square" lIns="0" tIns="0" rIns="0" bIns="0" rtlCol="0" anchor="t"/>
          <a:lstStyle/>
          <a:p>
            <a:pPr marL="0" indent="0" algn="l">
              <a:buNone/>
            </a:pPr>
            <a:r>
              <a:rPr lang="en-US" sz="1600" b="1" dirty="0">
                <a:solidFill>
                  <a:schemeClr val="tx2"/>
                </a:solidFill>
              </a:rPr>
              <a:t>Pembagian data</a:t>
            </a:r>
            <a:endParaRPr lang="en-US" sz="1600" dirty="0"/>
          </a:p>
        </p:txBody>
      </p:sp>
      <p:sp>
        <p:nvSpPr>
          <p:cNvPr id="8" name="Text 5"/>
          <p:cNvSpPr txBox="1"/>
          <p:nvPr/>
        </p:nvSpPr>
        <p:spPr>
          <a:xfrm>
            <a:off x="594360" y="2057400"/>
            <a:ext cx="1645920" cy="822960"/>
          </a:xfrm>
          <a:prstGeom prst="rect">
            <a:avLst/>
          </a:prstGeom>
          <a:noFill/>
          <a:ln/>
        </p:spPr>
        <p:txBody>
          <a:bodyPr wrap="square" lIns="0" tIns="0" rIns="0" bIns="0" rtlCol="0" anchor="t"/>
          <a:lstStyle/>
          <a:p>
            <a:pPr marL="342900" indent="-342900" algn="l">
              <a:buSzPct val="100000"/>
              <a:buChar char="•"/>
            </a:pPr>
            <a:r>
              <a:rPr lang="en-US" sz="1400" dirty="0">
                <a:solidFill>
                  <a:schemeClr val="tx1"/>
                </a:solidFill>
              </a:rPr>
              <a:t>70:15:15</a:t>
            </a:r>
            <a:endParaRPr lang="en-US" sz="1400" dirty="0"/>
          </a:p>
          <a:p>
            <a:pPr marL="342900" indent="-342900" algn="l">
              <a:buSzPct val="100000"/>
              <a:buChar char="•"/>
            </a:pPr>
            <a:r>
              <a:rPr lang="en-US" sz="1400" dirty="0">
                <a:solidFill>
                  <a:schemeClr val="tx1"/>
                </a:solidFill>
              </a:rPr>
              <a:t>80:10:10</a:t>
            </a:r>
            <a:endParaRPr lang="en-US" sz="1400" dirty="0"/>
          </a:p>
          <a:p>
            <a:pPr marL="342900" indent="-342900" algn="l">
              <a:buSzPct val="100000"/>
              <a:buChar char="•"/>
            </a:pPr>
            <a:r>
              <a:rPr lang="en-US" sz="1400" dirty="0">
                <a:solidFill>
                  <a:schemeClr val="tx1"/>
                </a:solidFill>
              </a:rPr>
              <a:t>90:05:05</a:t>
            </a:r>
            <a:endParaRPr lang="en-US" sz="1400" dirty="0"/>
          </a:p>
        </p:txBody>
      </p:sp>
      <p:sp>
        <p:nvSpPr>
          <p:cNvPr id="9" name="Text 6"/>
          <p:cNvSpPr txBox="1"/>
          <p:nvPr/>
        </p:nvSpPr>
        <p:spPr>
          <a:xfrm>
            <a:off x="594360" y="2926080"/>
            <a:ext cx="1645920" cy="822960"/>
          </a:xfrm>
          <a:prstGeom prst="rect">
            <a:avLst/>
          </a:prstGeom>
          <a:noFill/>
          <a:ln/>
        </p:spPr>
        <p:txBody>
          <a:bodyPr wrap="square" lIns="0" tIns="0" rIns="0" bIns="0" rtlCol="0" anchor="t"/>
          <a:lstStyle/>
          <a:p>
            <a:pPr marL="0" indent="0" algn="l">
              <a:buNone/>
            </a:pPr>
            <a:r>
              <a:rPr lang="en-US" sz="1200" i="1" dirty="0">
                <a:solidFill>
                  <a:schemeClr val="accent4"/>
                </a:solidFill>
              </a:rPr>
              <a:t>Tetap: Adam, dropout 0,3, tanpa augmentasi</a:t>
            </a:r>
            <a:endParaRPr lang="en-US" sz="1200" dirty="0"/>
          </a:p>
        </p:txBody>
      </p:sp>
      <p:sp>
        <p:nvSpPr>
          <p:cNvPr id="10" name="Text 7"/>
          <p:cNvSpPr txBox="1"/>
          <p:nvPr/>
        </p:nvSpPr>
        <p:spPr>
          <a:xfrm>
            <a:off x="2331720" y="2194560"/>
            <a:ext cx="256032" cy="457200"/>
          </a:xfrm>
          <a:prstGeom prst="rect">
            <a:avLst/>
          </a:prstGeom>
          <a:noFill/>
          <a:ln/>
        </p:spPr>
        <p:txBody>
          <a:bodyPr wrap="square" lIns="0" tIns="0" rIns="0" bIns="0" rtlCol="0" anchor="ctr"/>
          <a:lstStyle/>
          <a:p>
            <a:pPr marL="0" indent="0" algn="ctr">
              <a:buNone/>
            </a:pPr>
            <a:r>
              <a:rPr lang="en-US" sz="2800" b="1" dirty="0">
                <a:solidFill>
                  <a:schemeClr val="accent2"/>
                </a:solidFill>
              </a:rPr>
              <a:t>›</a:t>
            </a:r>
            <a:endParaRPr lang="en-US" sz="2800" dirty="0"/>
          </a:p>
        </p:txBody>
      </p:sp>
      <p:sp>
        <p:nvSpPr>
          <p:cNvPr id="11" name="Skenario"/>
          <p:cNvSpPr/>
          <p:nvPr/>
        </p:nvSpPr>
        <p:spPr>
          <a:xfrm>
            <a:off x="2587752" y="1280160"/>
            <a:ext cx="1874520" cy="2514600"/>
          </a:xfrm>
          <a:prstGeom prst="roundRect">
            <a:avLst>
              <a:gd name="adj" fmla="val 4878"/>
            </a:avLst>
          </a:prstGeom>
          <a:solidFill>
            <a:schemeClr val="bg2"/>
          </a:solidFill>
          <a:ln/>
        </p:spPr>
      </p:sp>
      <p:sp>
        <p:nvSpPr>
          <p:cNvPr id="12" name="Text 9"/>
          <p:cNvSpPr txBox="1"/>
          <p:nvPr/>
        </p:nvSpPr>
        <p:spPr>
          <a:xfrm>
            <a:off x="2724912" y="1371600"/>
            <a:ext cx="1600200" cy="256032"/>
          </a:xfrm>
          <a:prstGeom prst="rect">
            <a:avLst/>
          </a:prstGeom>
          <a:noFill/>
          <a:ln/>
        </p:spPr>
        <p:txBody>
          <a:bodyPr wrap="square" lIns="0" tIns="0" rIns="0" bIns="0" rtlCol="0" anchor="t"/>
          <a:lstStyle/>
          <a:p>
            <a:pPr marL="0" indent="0" algn="l">
              <a:buNone/>
            </a:pPr>
            <a:r>
              <a:rPr lang="en-US" sz="1200" b="1" kern="0" spc="100" dirty="0">
                <a:solidFill>
                  <a:schemeClr val="accent1"/>
                </a:solidFill>
              </a:rPr>
              <a:t>Skenario 2</a:t>
            </a:r>
            <a:endParaRPr lang="en-US" sz="1200" dirty="0"/>
          </a:p>
        </p:txBody>
      </p:sp>
      <p:sp>
        <p:nvSpPr>
          <p:cNvPr id="13" name="Text 10"/>
          <p:cNvSpPr txBox="1"/>
          <p:nvPr/>
        </p:nvSpPr>
        <p:spPr>
          <a:xfrm>
            <a:off x="2724912" y="1645920"/>
            <a:ext cx="1600200" cy="320040"/>
          </a:xfrm>
          <a:prstGeom prst="rect">
            <a:avLst/>
          </a:prstGeom>
          <a:noFill/>
          <a:ln/>
        </p:spPr>
        <p:txBody>
          <a:bodyPr wrap="square" lIns="0" tIns="0" rIns="0" bIns="0" rtlCol="0" anchor="t"/>
          <a:lstStyle/>
          <a:p>
            <a:pPr marL="0" indent="0" algn="l">
              <a:buNone/>
            </a:pPr>
            <a:r>
              <a:rPr lang="en-US" sz="1600" b="1" dirty="0">
                <a:solidFill>
                  <a:schemeClr val="tx2"/>
                </a:solidFill>
              </a:rPr>
              <a:t>Augmentasi</a:t>
            </a:r>
            <a:endParaRPr lang="en-US" sz="1600" dirty="0"/>
          </a:p>
        </p:txBody>
      </p:sp>
      <p:sp>
        <p:nvSpPr>
          <p:cNvPr id="14" name="Text 11"/>
          <p:cNvSpPr txBox="1"/>
          <p:nvPr/>
        </p:nvSpPr>
        <p:spPr>
          <a:xfrm>
            <a:off x="2724912" y="2057400"/>
            <a:ext cx="1645920" cy="822960"/>
          </a:xfrm>
          <a:prstGeom prst="rect">
            <a:avLst/>
          </a:prstGeom>
          <a:noFill/>
          <a:ln/>
        </p:spPr>
        <p:txBody>
          <a:bodyPr wrap="square" lIns="0" tIns="0" rIns="0" bIns="0" rtlCol="0" anchor="t"/>
          <a:lstStyle/>
          <a:p>
            <a:pPr marL="342900" indent="-342900" algn="l">
              <a:buSzPct val="100000"/>
              <a:buChar char="•"/>
            </a:pPr>
            <a:r>
              <a:rPr lang="en-US" sz="1400" dirty="0">
                <a:solidFill>
                  <a:schemeClr val="tx1"/>
                </a:solidFill>
              </a:rPr>
              <a:t>Tanpa</a:t>
            </a:r>
            <a:endParaRPr lang="en-US" sz="1400" dirty="0"/>
          </a:p>
          <a:p>
            <a:pPr marL="342900" indent="-342900" algn="l">
              <a:buSzPct val="100000"/>
              <a:buChar char="•"/>
            </a:pPr>
            <a:r>
              <a:rPr lang="en-US" sz="1400" dirty="0">
                <a:solidFill>
                  <a:schemeClr val="tx1"/>
                </a:solidFill>
              </a:rPr>
              <a:t>Dengan</a:t>
            </a:r>
            <a:endParaRPr lang="en-US" sz="1400" dirty="0"/>
          </a:p>
        </p:txBody>
      </p:sp>
      <p:sp>
        <p:nvSpPr>
          <p:cNvPr id="15" name="Text 12"/>
          <p:cNvSpPr txBox="1"/>
          <p:nvPr/>
        </p:nvSpPr>
        <p:spPr>
          <a:xfrm>
            <a:off x="2724912" y="2926080"/>
            <a:ext cx="1645920" cy="822960"/>
          </a:xfrm>
          <a:prstGeom prst="rect">
            <a:avLst/>
          </a:prstGeom>
          <a:noFill/>
          <a:ln/>
        </p:spPr>
        <p:txBody>
          <a:bodyPr wrap="square" lIns="0" tIns="0" rIns="0" bIns="0" rtlCol="0" anchor="t"/>
          <a:lstStyle/>
          <a:p>
            <a:pPr marL="0" indent="0" algn="l">
              <a:buNone/>
            </a:pPr>
            <a:r>
              <a:rPr lang="en-US" sz="1200" i="1" dirty="0">
                <a:solidFill>
                  <a:schemeClr val="accent4"/>
                </a:solidFill>
              </a:rPr>
              <a:t>Tetap: split terbaik, Adam, dropout 0,3</a:t>
            </a:r>
            <a:endParaRPr lang="en-US" sz="1200" dirty="0"/>
          </a:p>
        </p:txBody>
      </p:sp>
      <p:sp>
        <p:nvSpPr>
          <p:cNvPr id="16" name="Text 13"/>
          <p:cNvSpPr txBox="1"/>
          <p:nvPr/>
        </p:nvSpPr>
        <p:spPr>
          <a:xfrm>
            <a:off x="4462272" y="2194560"/>
            <a:ext cx="256032" cy="457200"/>
          </a:xfrm>
          <a:prstGeom prst="rect">
            <a:avLst/>
          </a:prstGeom>
          <a:noFill/>
          <a:ln/>
        </p:spPr>
        <p:txBody>
          <a:bodyPr wrap="square" lIns="0" tIns="0" rIns="0" bIns="0" rtlCol="0" anchor="ctr"/>
          <a:lstStyle/>
          <a:p>
            <a:pPr marL="0" indent="0" algn="ctr">
              <a:buNone/>
            </a:pPr>
            <a:r>
              <a:rPr lang="en-US" sz="2800" b="1" dirty="0">
                <a:solidFill>
                  <a:schemeClr val="accent2"/>
                </a:solidFill>
              </a:rPr>
              <a:t>›</a:t>
            </a:r>
            <a:endParaRPr lang="en-US" sz="2800" dirty="0"/>
          </a:p>
        </p:txBody>
      </p:sp>
      <p:sp>
        <p:nvSpPr>
          <p:cNvPr id="17" name="Skenario"/>
          <p:cNvSpPr/>
          <p:nvPr/>
        </p:nvSpPr>
        <p:spPr>
          <a:xfrm>
            <a:off x="4718304" y="1280160"/>
            <a:ext cx="1874520" cy="2514600"/>
          </a:xfrm>
          <a:prstGeom prst="roundRect">
            <a:avLst>
              <a:gd name="adj" fmla="val 4878"/>
            </a:avLst>
          </a:prstGeom>
          <a:solidFill>
            <a:schemeClr val="bg2"/>
          </a:solidFill>
          <a:ln/>
        </p:spPr>
      </p:sp>
      <p:sp>
        <p:nvSpPr>
          <p:cNvPr id="18" name="Text 15"/>
          <p:cNvSpPr txBox="1"/>
          <p:nvPr/>
        </p:nvSpPr>
        <p:spPr>
          <a:xfrm>
            <a:off x="4855464" y="1371600"/>
            <a:ext cx="1600200" cy="256032"/>
          </a:xfrm>
          <a:prstGeom prst="rect">
            <a:avLst/>
          </a:prstGeom>
          <a:noFill/>
          <a:ln/>
        </p:spPr>
        <p:txBody>
          <a:bodyPr wrap="square" lIns="0" tIns="0" rIns="0" bIns="0" rtlCol="0" anchor="t"/>
          <a:lstStyle/>
          <a:p>
            <a:pPr marL="0" indent="0" algn="l">
              <a:buNone/>
            </a:pPr>
            <a:r>
              <a:rPr lang="en-US" sz="1200" b="1" kern="0" spc="100" dirty="0">
                <a:solidFill>
                  <a:schemeClr val="accent1"/>
                </a:solidFill>
              </a:rPr>
              <a:t>Skenario 3</a:t>
            </a:r>
            <a:endParaRPr lang="en-US" sz="1200" dirty="0"/>
          </a:p>
        </p:txBody>
      </p:sp>
      <p:sp>
        <p:nvSpPr>
          <p:cNvPr id="19" name="Text 16"/>
          <p:cNvSpPr txBox="1"/>
          <p:nvPr/>
        </p:nvSpPr>
        <p:spPr>
          <a:xfrm>
            <a:off x="4855464" y="1645920"/>
            <a:ext cx="1600200" cy="320040"/>
          </a:xfrm>
          <a:prstGeom prst="rect">
            <a:avLst/>
          </a:prstGeom>
          <a:noFill/>
          <a:ln/>
        </p:spPr>
        <p:txBody>
          <a:bodyPr wrap="square" lIns="0" tIns="0" rIns="0" bIns="0" rtlCol="0" anchor="t"/>
          <a:lstStyle/>
          <a:p>
            <a:pPr marL="0" indent="0" algn="l">
              <a:buNone/>
            </a:pPr>
            <a:r>
              <a:rPr lang="en-US" sz="1600" b="1" dirty="0">
                <a:solidFill>
                  <a:schemeClr val="tx2"/>
                </a:solidFill>
              </a:rPr>
              <a:t>Optimizer</a:t>
            </a:r>
            <a:endParaRPr lang="en-US" sz="1600" dirty="0"/>
          </a:p>
        </p:txBody>
      </p:sp>
      <p:sp>
        <p:nvSpPr>
          <p:cNvPr id="20" name="Text 17"/>
          <p:cNvSpPr txBox="1"/>
          <p:nvPr/>
        </p:nvSpPr>
        <p:spPr>
          <a:xfrm>
            <a:off x="4855464" y="2057400"/>
            <a:ext cx="1645920" cy="822960"/>
          </a:xfrm>
          <a:prstGeom prst="rect">
            <a:avLst/>
          </a:prstGeom>
          <a:noFill/>
          <a:ln/>
        </p:spPr>
        <p:txBody>
          <a:bodyPr wrap="square" lIns="0" tIns="0" rIns="0" bIns="0" rtlCol="0" anchor="t"/>
          <a:lstStyle/>
          <a:p>
            <a:pPr marL="342900" indent="-342900" algn="l">
              <a:buSzPct val="100000"/>
              <a:buChar char="•"/>
            </a:pPr>
            <a:r>
              <a:rPr lang="en-US" sz="1400" dirty="0">
                <a:solidFill>
                  <a:schemeClr val="tx1"/>
                </a:solidFill>
              </a:rPr>
              <a:t>Adam</a:t>
            </a:r>
            <a:endParaRPr lang="en-US" sz="1400" dirty="0"/>
          </a:p>
          <a:p>
            <a:pPr marL="342900" indent="-342900" algn="l">
              <a:buSzPct val="100000"/>
              <a:buChar char="•"/>
            </a:pPr>
            <a:r>
              <a:rPr lang="en-US" sz="1400" dirty="0">
                <a:solidFill>
                  <a:schemeClr val="tx1"/>
                </a:solidFill>
              </a:rPr>
              <a:t>RMSprop</a:t>
            </a:r>
            <a:endParaRPr lang="en-US" sz="1400" dirty="0"/>
          </a:p>
          <a:p>
            <a:pPr marL="342900" indent="-342900" algn="l">
              <a:buSzPct val="100000"/>
              <a:buChar char="•"/>
            </a:pPr>
            <a:r>
              <a:rPr lang="en-US" sz="1400" dirty="0">
                <a:solidFill>
                  <a:schemeClr val="tx1"/>
                </a:solidFill>
              </a:rPr>
              <a:t>SGD Momentum</a:t>
            </a:r>
            <a:endParaRPr lang="en-US" sz="1400" dirty="0"/>
          </a:p>
        </p:txBody>
      </p:sp>
      <p:sp>
        <p:nvSpPr>
          <p:cNvPr id="21" name="Text 18"/>
          <p:cNvSpPr txBox="1"/>
          <p:nvPr/>
        </p:nvSpPr>
        <p:spPr>
          <a:xfrm>
            <a:off x="4855464" y="2926080"/>
            <a:ext cx="1645920" cy="822960"/>
          </a:xfrm>
          <a:prstGeom prst="rect">
            <a:avLst/>
          </a:prstGeom>
          <a:noFill/>
          <a:ln/>
        </p:spPr>
        <p:txBody>
          <a:bodyPr wrap="square" lIns="0" tIns="0" rIns="0" bIns="0" rtlCol="0" anchor="t"/>
          <a:lstStyle/>
          <a:p>
            <a:pPr marL="0" indent="0" algn="l">
              <a:buNone/>
            </a:pPr>
            <a:r>
              <a:rPr lang="en-US" sz="1200" i="1" dirty="0">
                <a:solidFill>
                  <a:schemeClr val="accent4"/>
                </a:solidFill>
              </a:rPr>
              <a:t>Tetap: split dan augmentasi terbaik, dropout 0,3</a:t>
            </a:r>
            <a:endParaRPr lang="en-US" sz="1200" dirty="0"/>
          </a:p>
        </p:txBody>
      </p:sp>
      <p:sp>
        <p:nvSpPr>
          <p:cNvPr id="22" name="Text 19"/>
          <p:cNvSpPr txBox="1"/>
          <p:nvPr/>
        </p:nvSpPr>
        <p:spPr>
          <a:xfrm>
            <a:off x="6592824" y="2194560"/>
            <a:ext cx="256032" cy="457200"/>
          </a:xfrm>
          <a:prstGeom prst="rect">
            <a:avLst/>
          </a:prstGeom>
          <a:noFill/>
          <a:ln/>
        </p:spPr>
        <p:txBody>
          <a:bodyPr wrap="square" lIns="0" tIns="0" rIns="0" bIns="0" rtlCol="0" anchor="ctr"/>
          <a:lstStyle/>
          <a:p>
            <a:pPr marL="0" indent="0" algn="ctr">
              <a:buNone/>
            </a:pPr>
            <a:r>
              <a:rPr lang="en-US" sz="2800" b="1" dirty="0">
                <a:solidFill>
                  <a:schemeClr val="accent2"/>
                </a:solidFill>
              </a:rPr>
              <a:t>›</a:t>
            </a:r>
            <a:endParaRPr lang="en-US" sz="2800" dirty="0"/>
          </a:p>
        </p:txBody>
      </p:sp>
      <p:sp>
        <p:nvSpPr>
          <p:cNvPr id="23" name="Skenario"/>
          <p:cNvSpPr/>
          <p:nvPr/>
        </p:nvSpPr>
        <p:spPr>
          <a:xfrm>
            <a:off x="6848856" y="1280160"/>
            <a:ext cx="1874520" cy="2514600"/>
          </a:xfrm>
          <a:prstGeom prst="roundRect">
            <a:avLst>
              <a:gd name="adj" fmla="val 4878"/>
            </a:avLst>
          </a:prstGeom>
          <a:solidFill>
            <a:schemeClr val="bg2"/>
          </a:solidFill>
          <a:ln/>
        </p:spPr>
      </p:sp>
      <p:sp>
        <p:nvSpPr>
          <p:cNvPr id="24" name="Text 21"/>
          <p:cNvSpPr txBox="1"/>
          <p:nvPr/>
        </p:nvSpPr>
        <p:spPr>
          <a:xfrm>
            <a:off x="6986016" y="1371600"/>
            <a:ext cx="1600200" cy="256032"/>
          </a:xfrm>
          <a:prstGeom prst="rect">
            <a:avLst/>
          </a:prstGeom>
          <a:noFill/>
          <a:ln/>
        </p:spPr>
        <p:txBody>
          <a:bodyPr wrap="square" lIns="0" tIns="0" rIns="0" bIns="0" rtlCol="0" anchor="t"/>
          <a:lstStyle/>
          <a:p>
            <a:pPr marL="0" indent="0" algn="l">
              <a:buNone/>
            </a:pPr>
            <a:r>
              <a:rPr lang="en-US" sz="1200" b="1" kern="0" spc="100" dirty="0">
                <a:solidFill>
                  <a:schemeClr val="accent1"/>
                </a:solidFill>
              </a:rPr>
              <a:t>Skenario 4</a:t>
            </a:r>
            <a:endParaRPr lang="en-US" sz="1200" dirty="0"/>
          </a:p>
        </p:txBody>
      </p:sp>
      <p:sp>
        <p:nvSpPr>
          <p:cNvPr id="25" name="Text 22"/>
          <p:cNvSpPr txBox="1"/>
          <p:nvPr/>
        </p:nvSpPr>
        <p:spPr>
          <a:xfrm>
            <a:off x="6986016" y="1645920"/>
            <a:ext cx="1600200" cy="320040"/>
          </a:xfrm>
          <a:prstGeom prst="rect">
            <a:avLst/>
          </a:prstGeom>
          <a:noFill/>
          <a:ln/>
        </p:spPr>
        <p:txBody>
          <a:bodyPr wrap="square" lIns="0" tIns="0" rIns="0" bIns="0" rtlCol="0" anchor="t"/>
          <a:lstStyle/>
          <a:p>
            <a:pPr marL="0" indent="0" algn="l">
              <a:buNone/>
            </a:pPr>
            <a:r>
              <a:rPr lang="en-US" sz="1600" b="1" dirty="0">
                <a:solidFill>
                  <a:schemeClr val="tx2"/>
                </a:solidFill>
              </a:rPr>
              <a:t>Dropout</a:t>
            </a:r>
            <a:endParaRPr lang="en-US" sz="1600" dirty="0"/>
          </a:p>
        </p:txBody>
      </p:sp>
      <p:sp>
        <p:nvSpPr>
          <p:cNvPr id="26" name="Text 23"/>
          <p:cNvSpPr txBox="1"/>
          <p:nvPr/>
        </p:nvSpPr>
        <p:spPr>
          <a:xfrm>
            <a:off x="6986016" y="2057400"/>
            <a:ext cx="1645920" cy="822960"/>
          </a:xfrm>
          <a:prstGeom prst="rect">
            <a:avLst/>
          </a:prstGeom>
          <a:noFill/>
          <a:ln/>
        </p:spPr>
        <p:txBody>
          <a:bodyPr wrap="square" lIns="0" tIns="0" rIns="0" bIns="0" rtlCol="0" anchor="t"/>
          <a:lstStyle/>
          <a:p>
            <a:pPr marL="342900" indent="-342900" algn="l">
              <a:buSzPct val="100000"/>
              <a:buChar char="•"/>
            </a:pPr>
            <a:r>
              <a:rPr lang="en-US" sz="1400" dirty="0">
                <a:solidFill>
                  <a:schemeClr val="tx1"/>
                </a:solidFill>
              </a:rPr>
              <a:t>0,0</a:t>
            </a:r>
            <a:endParaRPr lang="en-US" sz="1400" dirty="0"/>
          </a:p>
          <a:p>
            <a:pPr marL="342900" indent="-342900" algn="l">
              <a:buSzPct val="100000"/>
              <a:buChar char="•"/>
            </a:pPr>
            <a:r>
              <a:rPr lang="en-US" sz="1400" dirty="0">
                <a:solidFill>
                  <a:schemeClr val="tx1"/>
                </a:solidFill>
              </a:rPr>
              <a:t>0,3</a:t>
            </a:r>
            <a:endParaRPr lang="en-US" sz="1400" dirty="0"/>
          </a:p>
          <a:p>
            <a:pPr marL="342900" indent="-342900" algn="l">
              <a:buSzPct val="100000"/>
              <a:buChar char="•"/>
            </a:pPr>
            <a:r>
              <a:rPr lang="en-US" sz="1400" dirty="0">
                <a:solidFill>
                  <a:schemeClr val="tx1"/>
                </a:solidFill>
              </a:rPr>
              <a:t>0,5</a:t>
            </a:r>
            <a:endParaRPr lang="en-US" sz="1400" dirty="0"/>
          </a:p>
        </p:txBody>
      </p:sp>
      <p:sp>
        <p:nvSpPr>
          <p:cNvPr id="27" name="Text 24"/>
          <p:cNvSpPr txBox="1"/>
          <p:nvPr/>
        </p:nvSpPr>
        <p:spPr>
          <a:xfrm>
            <a:off x="6986016" y="2926080"/>
            <a:ext cx="1645920" cy="822960"/>
          </a:xfrm>
          <a:prstGeom prst="rect">
            <a:avLst/>
          </a:prstGeom>
          <a:noFill/>
          <a:ln/>
        </p:spPr>
        <p:txBody>
          <a:bodyPr wrap="square" lIns="0" tIns="0" rIns="0" bIns="0" rtlCol="0" anchor="t"/>
          <a:lstStyle/>
          <a:p>
            <a:pPr marL="0" indent="0" algn="l">
              <a:buNone/>
            </a:pPr>
            <a:r>
              <a:rPr lang="en-US" sz="1200" i="1" dirty="0">
                <a:solidFill>
                  <a:schemeClr val="accent4"/>
                </a:solidFill>
              </a:rPr>
              <a:t>Tetap: split, augmentasi, optimizer terbaik</a:t>
            </a:r>
            <a:endParaRPr lang="en-US" sz="1200" dirty="0"/>
          </a:p>
        </p:txBody>
      </p:sp>
      <p:sp>
        <p:nvSpPr>
          <p:cNvPr id="28" name="Callout"/>
          <p:cNvSpPr/>
          <p:nvPr/>
        </p:nvSpPr>
        <p:spPr>
          <a:xfrm>
            <a:off x="457200" y="3931920"/>
            <a:ext cx="8229600" cy="731520"/>
          </a:xfrm>
          <a:prstGeom prst="roundRect">
            <a:avLst>
              <a:gd name="adj" fmla="val 12500"/>
            </a:avLst>
          </a:prstGeom>
          <a:solidFill>
            <a:schemeClr val="bg2"/>
          </a:solidFill>
          <a:ln/>
        </p:spPr>
      </p:sp>
      <p:sp>
        <p:nvSpPr>
          <p:cNvPr id="29" name="Text 26"/>
          <p:cNvSpPr txBox="1"/>
          <p:nvPr/>
        </p:nvSpPr>
        <p:spPr>
          <a:xfrm>
            <a:off x="640080" y="4005072"/>
            <a:ext cx="7863840" cy="585216"/>
          </a:xfrm>
          <a:prstGeom prst="rect">
            <a:avLst/>
          </a:prstGeom>
          <a:noFill/>
          <a:ln/>
        </p:spPr>
        <p:txBody>
          <a:bodyPr wrap="square" lIns="0" tIns="0" rIns="0" bIns="0" rtlCol="0" anchor="ctr"/>
          <a:lstStyle/>
          <a:p>
            <a:pPr marL="0" indent="0" algn="l">
              <a:buNone/>
            </a:pPr>
            <a:r>
              <a:rPr lang="en-US" sz="1400" dirty="0">
                <a:solidFill>
                  <a:schemeClr val="tx1"/>
                </a:solidFill>
              </a:rPr>
              <a:t>Pemenang tiap skenario dibawa ke skenario berikutnya. Semua: 20 epoch, batch 32, LR 0,0005. Kriteria: F1 Macro tertinggi pada data uji.</a:t>
            </a:r>
            <a:endParaRPr lang="en-US" sz="14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Skenario 1: pembagian data</a:t>
            </a:r>
            <a:endParaRPr lang="en-US" sz="2800" dirty="0"/>
          </a:p>
        </p:txBody>
      </p:sp>
      <p:graphicFrame>
        <p:nvGraphicFramePr>
          <p:cNvPr id="20" name="Tabel"/>
          <p:cNvGraphicFramePr>
            <a:graphicFrameLocks noGrp="1"/>
          </p:cNvGraphicFramePr>
          <p:nvPr>
            <p:extLst>
              <p:ext uri="{D42A27DB-BD31-4B8C-83A1-F6EECF244321}">
                <p14:modId xmlns:p14="http://schemas.microsoft.com/office/powerpoint/2010/main" val="1579011935"/>
              </p:ext>
            </p:extLst>
          </p:nvPr>
        </p:nvGraphicFramePr>
        <p:xfrm>
          <a:off x="457200" y="1280160"/>
          <a:ext cx="4023360" cy="1536192"/>
        </p:xfrm>
        <a:graphic>
          <a:graphicData uri="http://schemas.openxmlformats.org/drawingml/2006/table">
            <a:tbl>
              <a:tblPr/>
              <a:tblGrid>
                <a:gridCol w="1097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pPr marL="0" indent="0" algn="l">
                        <a:buNone/>
                      </a:pPr>
                      <a:r>
                        <a:rPr lang="en-US" sz="1400" b="1" dirty="0">
                          <a:solidFill>
                            <a:schemeClr val="bg1"/>
                          </a:solidFill>
                        </a:rPr>
                        <a:t>Split</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Test</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Accuracy</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F1 Macro</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chemeClr val="tx1"/>
                          </a:solidFill>
                        </a:rPr>
                        <a:t>70:15:15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1.080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0,9815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0,9815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l">
                        <a:buNone/>
                      </a:pPr>
                      <a:r>
                        <a:rPr lang="en-US" sz="1400" b="1" dirty="0">
                          <a:solidFill>
                            <a:schemeClr val="tx1"/>
                          </a:solidFill>
                        </a:rPr>
                        <a:t>80:10:10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720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0,9875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0,9876</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pPr>
                      <a:r>
                        <a:rPr lang="en-US" sz="1400" b="1" dirty="0">
                          <a:solidFill>
                            <a:schemeClr val="tx1"/>
                          </a:solidFill>
                        </a:rPr>
                        <a:t>90:05:05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r>
                        <a:rPr lang="en-US" sz="1400" b="1" dirty="0">
                          <a:solidFill>
                            <a:schemeClr val="tx1"/>
                          </a:solidFill>
                        </a:rPr>
                        <a:t>360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r>
                        <a:rPr lang="en-US" sz="1400" b="1" dirty="0">
                          <a:solidFill>
                            <a:schemeClr val="tx1"/>
                          </a:solidFill>
                        </a:rPr>
                        <a:t>0,9917</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r>
                        <a:rPr lang="en-US" sz="1400" b="1" dirty="0">
                          <a:solidFill>
                            <a:schemeClr val="tx1"/>
                          </a:solidFill>
                        </a:rPr>
                        <a:t>0,9917</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extLst>
                  <a:ext uri="{0D108BD9-81ED-4DB2-BD59-A6C34878D82A}">
                    <a16:rowId xmlns:a16="http://schemas.microsoft.com/office/drawing/2014/main" val="10003"/>
                  </a:ext>
                </a:extLst>
              </a:tr>
            </a:tbl>
          </a:graphicData>
        </a:graphic>
      </p:graphicFrame>
      <p:sp>
        <p:nvSpPr>
          <p:cNvPr id="6" name="Callout"/>
          <p:cNvSpPr/>
          <p:nvPr/>
        </p:nvSpPr>
        <p:spPr>
          <a:xfrm>
            <a:off x="457200" y="2971800"/>
            <a:ext cx="4023360" cy="777240"/>
          </a:xfrm>
          <a:prstGeom prst="roundRect">
            <a:avLst>
              <a:gd name="adj" fmla="val 11765"/>
            </a:avLst>
          </a:prstGeom>
          <a:solidFill>
            <a:schemeClr val="bg2"/>
          </a:solidFill>
          <a:ln/>
        </p:spPr>
      </p:sp>
      <p:sp>
        <p:nvSpPr>
          <p:cNvPr id="7" name="Text 3"/>
          <p:cNvSpPr txBox="1"/>
          <p:nvPr/>
        </p:nvSpPr>
        <p:spPr>
          <a:xfrm>
            <a:off x="640080" y="3044952"/>
            <a:ext cx="3657600" cy="630936"/>
          </a:xfrm>
          <a:prstGeom prst="rect">
            <a:avLst/>
          </a:prstGeom>
          <a:noFill/>
          <a:ln/>
        </p:spPr>
        <p:txBody>
          <a:bodyPr wrap="square" lIns="0" tIns="0" rIns="0" bIns="0" rtlCol="0" anchor="ctr"/>
          <a:lstStyle/>
          <a:p>
            <a:pPr marL="0" indent="0" algn="l">
              <a:buNone/>
            </a:pPr>
            <a:r>
              <a:rPr lang="en-US" sz="1400" dirty="0">
                <a:solidFill>
                  <a:schemeClr val="tx1"/>
                </a:solidFill>
              </a:rPr>
              <a:t>Makin besar data latih, makin tinggi skor. Terbaik: 90:05:05 (F1 0,9917).</a:t>
            </a:r>
            <a:endParaRPr lang="en-US" sz="1400" dirty="0"/>
          </a:p>
        </p:txBody>
      </p:sp>
      <p:sp>
        <p:nvSpPr>
          <p:cNvPr id="8" name="Callout"/>
          <p:cNvSpPr/>
          <p:nvPr/>
        </p:nvSpPr>
        <p:spPr>
          <a:xfrm>
            <a:off x="457200" y="3840480"/>
            <a:ext cx="4023360" cy="822960"/>
          </a:xfrm>
          <a:prstGeom prst="roundRect">
            <a:avLst>
              <a:gd name="adj" fmla="val 11111"/>
            </a:avLst>
          </a:prstGeom>
          <a:solidFill>
            <a:srgbClr val="FBE4DE"/>
          </a:solidFill>
          <a:ln/>
        </p:spPr>
      </p:sp>
      <p:sp>
        <p:nvSpPr>
          <p:cNvPr id="9" name="Text 5"/>
          <p:cNvSpPr txBox="1"/>
          <p:nvPr/>
        </p:nvSpPr>
        <p:spPr>
          <a:xfrm>
            <a:off x="640080" y="3913632"/>
            <a:ext cx="3657600" cy="676656"/>
          </a:xfrm>
          <a:prstGeom prst="rect">
            <a:avLst/>
          </a:prstGeom>
          <a:noFill/>
          <a:ln/>
        </p:spPr>
        <p:txBody>
          <a:bodyPr wrap="square" lIns="0" tIns="0" rIns="0" bIns="0" rtlCol="0" anchor="ctr"/>
          <a:lstStyle/>
          <a:p>
            <a:pPr marL="0" indent="0" algn="l">
              <a:buNone/>
            </a:pPr>
            <a:r>
              <a:rPr lang="en-US" sz="1400" dirty="0">
                <a:solidFill>
                  <a:schemeClr val="tx1"/>
                </a:solidFill>
              </a:rPr>
              <a:t>Catatan: data uji beda ukuran, 1 salah di 360 gambar ≈ 0,28 poin.</a:t>
            </a:r>
            <a:endParaRPr lang="en-US" sz="1400" dirty="0"/>
          </a:p>
        </p:txBody>
      </p:sp>
      <p:sp>
        <p:nvSpPr>
          <p:cNvPr id="10" name="Frame"/>
          <p:cNvSpPr/>
          <p:nvPr/>
        </p:nvSpPr>
        <p:spPr>
          <a:xfrm>
            <a:off x="4709160" y="1644845"/>
            <a:ext cx="4023360" cy="2653909"/>
          </a:xfrm>
          <a:prstGeom prst="rect">
            <a:avLst/>
          </a:prstGeom>
          <a:solidFill>
            <a:schemeClr val="bg1"/>
          </a:solidFill>
          <a:ln w="12700">
            <a:solidFill>
              <a:schemeClr val="bg2"/>
            </a:solidFill>
            <a:prstDash val="solid"/>
          </a:ln>
        </p:spPr>
      </p:sp>
      <p:pic>
        <p:nvPicPr>
          <p:cNvPr id="11" name="Gambar 7" descr="/tmp/claude-0/-home-claude/949ac0f0-f744-5c10-baa6-0b053e3f7a1d/scratchpad/doc/img/image7.png"/>
          <p:cNvPicPr>
            <a:picLocks noChangeAspect="1"/>
          </p:cNvPicPr>
          <p:nvPr/>
        </p:nvPicPr>
        <p:blipFill>
          <a:blip r:embed="rId3"/>
          <a:stretch>
            <a:fillRect/>
          </a:stretch>
        </p:blipFill>
        <p:spPr>
          <a:xfrm>
            <a:off x="4754880" y="1690565"/>
            <a:ext cx="3931920" cy="2562469"/>
          </a:xfrm>
          <a:prstGeom prst="rect">
            <a:avLst/>
          </a:prstGeom>
        </p:spPr>
      </p:pic>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Skenario 2: augmentasi</a:t>
            </a:r>
            <a:endParaRPr lang="en-US" sz="2800" dirty="0"/>
          </a:p>
        </p:txBody>
      </p:sp>
      <p:sp>
        <p:nvSpPr>
          <p:cNvPr id="5" name="Frame"/>
          <p:cNvSpPr/>
          <p:nvPr/>
        </p:nvSpPr>
        <p:spPr>
          <a:xfrm>
            <a:off x="723826" y="1234440"/>
            <a:ext cx="3490109" cy="2331720"/>
          </a:xfrm>
          <a:prstGeom prst="rect">
            <a:avLst/>
          </a:prstGeom>
          <a:solidFill>
            <a:schemeClr val="bg1"/>
          </a:solidFill>
          <a:ln w="12700">
            <a:solidFill>
              <a:schemeClr val="bg2"/>
            </a:solidFill>
            <a:prstDash val="solid"/>
          </a:ln>
        </p:spPr>
      </p:sp>
      <p:pic>
        <p:nvPicPr>
          <p:cNvPr id="6" name="Gambar 9" descr="/tmp/claude-0/-home-claude/949ac0f0-f744-5c10-baa6-0b053e3f7a1d/scratchpad/doc/img/image9.png"/>
          <p:cNvPicPr>
            <a:picLocks noChangeAspect="1"/>
          </p:cNvPicPr>
          <p:nvPr/>
        </p:nvPicPr>
        <p:blipFill>
          <a:blip r:embed="rId3"/>
          <a:stretch>
            <a:fillRect/>
          </a:stretch>
        </p:blipFill>
        <p:spPr>
          <a:xfrm>
            <a:off x="769546" y="1280160"/>
            <a:ext cx="3398669" cy="2240280"/>
          </a:xfrm>
          <a:prstGeom prst="rect">
            <a:avLst/>
          </a:prstGeom>
        </p:spPr>
      </p:pic>
      <p:sp>
        <p:nvSpPr>
          <p:cNvPr id="7" name="Frame"/>
          <p:cNvSpPr/>
          <p:nvPr/>
        </p:nvSpPr>
        <p:spPr>
          <a:xfrm>
            <a:off x="4733215" y="1234440"/>
            <a:ext cx="3883809" cy="2331720"/>
          </a:xfrm>
          <a:prstGeom prst="rect">
            <a:avLst/>
          </a:prstGeom>
          <a:solidFill>
            <a:schemeClr val="bg1"/>
          </a:solidFill>
          <a:ln w="12700">
            <a:solidFill>
              <a:schemeClr val="bg2"/>
            </a:solidFill>
            <a:prstDash val="solid"/>
          </a:ln>
        </p:spPr>
      </p:sp>
      <p:pic>
        <p:nvPicPr>
          <p:cNvPr id="8" name="Gambar 8" descr="/tmp/claude-0/-home-claude/949ac0f0-f744-5c10-baa6-0b053e3f7a1d/scratchpad/doc/img/image8.png"/>
          <p:cNvPicPr>
            <a:picLocks noChangeAspect="1"/>
          </p:cNvPicPr>
          <p:nvPr/>
        </p:nvPicPr>
        <p:blipFill>
          <a:blip r:embed="rId4"/>
          <a:stretch>
            <a:fillRect/>
          </a:stretch>
        </p:blipFill>
        <p:spPr>
          <a:xfrm>
            <a:off x="4778935" y="1280160"/>
            <a:ext cx="3792369" cy="2240280"/>
          </a:xfrm>
          <a:prstGeom prst="rect">
            <a:avLst/>
          </a:prstGeom>
        </p:spPr>
      </p:pic>
      <p:sp>
        <p:nvSpPr>
          <p:cNvPr id="9" name="Text 4"/>
          <p:cNvSpPr txBox="1"/>
          <p:nvPr/>
        </p:nvSpPr>
        <p:spPr>
          <a:xfrm>
            <a:off x="457200" y="3566160"/>
            <a:ext cx="4023360" cy="228600"/>
          </a:xfrm>
          <a:prstGeom prst="rect">
            <a:avLst/>
          </a:prstGeom>
          <a:noFill/>
          <a:ln/>
        </p:spPr>
        <p:txBody>
          <a:bodyPr wrap="square" lIns="0" tIns="0" rIns="0" bIns="0" rtlCol="0" anchor="t"/>
          <a:lstStyle/>
          <a:p>
            <a:pPr marL="0" indent="0" algn="ctr">
              <a:buNone/>
            </a:pPr>
            <a:r>
              <a:rPr lang="en-US" sz="1100" i="1" dirty="0">
                <a:solidFill>
                  <a:schemeClr val="accent4"/>
                </a:solidFill>
              </a:rPr>
              <a:t>F1 Macro tanpa vs dengan augmentasi</a:t>
            </a:r>
            <a:endParaRPr lang="en-US" sz="1100" dirty="0"/>
          </a:p>
        </p:txBody>
      </p:sp>
      <p:sp>
        <p:nvSpPr>
          <p:cNvPr id="10" name="Text 5"/>
          <p:cNvSpPr txBox="1"/>
          <p:nvPr/>
        </p:nvSpPr>
        <p:spPr>
          <a:xfrm>
            <a:off x="4663440" y="3566160"/>
            <a:ext cx="4023360" cy="228600"/>
          </a:xfrm>
          <a:prstGeom prst="rect">
            <a:avLst/>
          </a:prstGeom>
          <a:noFill/>
          <a:ln/>
        </p:spPr>
        <p:txBody>
          <a:bodyPr wrap="square" lIns="0" tIns="0" rIns="0" bIns="0" rtlCol="0" anchor="t"/>
          <a:lstStyle/>
          <a:p>
            <a:pPr marL="0" indent="0" algn="ctr">
              <a:buNone/>
            </a:pPr>
            <a:r>
              <a:rPr lang="en-US" sz="1100" i="1" dirty="0">
                <a:solidFill>
                  <a:schemeClr val="accent4"/>
                </a:solidFill>
              </a:rPr>
              <a:t>Kurva accuracy model dengan augmentasi</a:t>
            </a:r>
            <a:endParaRPr lang="en-US" sz="1100" dirty="0"/>
          </a:p>
        </p:txBody>
      </p:sp>
      <p:sp>
        <p:nvSpPr>
          <p:cNvPr id="11" name="Callout"/>
          <p:cNvSpPr/>
          <p:nvPr/>
        </p:nvSpPr>
        <p:spPr>
          <a:xfrm>
            <a:off x="457200" y="3886200"/>
            <a:ext cx="4023360" cy="777240"/>
          </a:xfrm>
          <a:prstGeom prst="roundRect">
            <a:avLst>
              <a:gd name="adj" fmla="val 11765"/>
            </a:avLst>
          </a:prstGeom>
          <a:solidFill>
            <a:schemeClr val="bg2"/>
          </a:solidFill>
          <a:ln/>
        </p:spPr>
      </p:sp>
      <p:sp>
        <p:nvSpPr>
          <p:cNvPr id="12" name="Text 7"/>
          <p:cNvSpPr txBox="1"/>
          <p:nvPr/>
        </p:nvSpPr>
        <p:spPr>
          <a:xfrm>
            <a:off x="640080" y="3959352"/>
            <a:ext cx="3657600" cy="630936"/>
          </a:xfrm>
          <a:prstGeom prst="rect">
            <a:avLst/>
          </a:prstGeom>
          <a:noFill/>
          <a:ln/>
        </p:spPr>
        <p:txBody>
          <a:bodyPr wrap="square" lIns="0" tIns="0" rIns="0" bIns="0" rtlCol="0" anchor="ctr"/>
          <a:lstStyle/>
          <a:p>
            <a:pPr marL="0" indent="0" algn="l">
              <a:buNone/>
            </a:pPr>
            <a:r>
              <a:rPr lang="en-US" sz="1400" dirty="0">
                <a:solidFill>
                  <a:schemeClr val="tx1"/>
                </a:solidFill>
              </a:rPr>
              <a:t>Tanpa augmentasi 0,9391 mengalahkan dengan augmentasi 0,8982.</a:t>
            </a:r>
            <a:endParaRPr lang="en-US" sz="1400" dirty="0"/>
          </a:p>
        </p:txBody>
      </p:sp>
      <p:sp>
        <p:nvSpPr>
          <p:cNvPr id="13" name="Callout"/>
          <p:cNvSpPr/>
          <p:nvPr/>
        </p:nvSpPr>
        <p:spPr>
          <a:xfrm>
            <a:off x="4663440" y="3886200"/>
            <a:ext cx="4023360" cy="777240"/>
          </a:xfrm>
          <a:prstGeom prst="roundRect">
            <a:avLst>
              <a:gd name="adj" fmla="val 11765"/>
            </a:avLst>
          </a:prstGeom>
          <a:solidFill>
            <a:srgbClr val="FBE4DE"/>
          </a:solidFill>
          <a:ln/>
        </p:spPr>
      </p:sp>
      <p:sp>
        <p:nvSpPr>
          <p:cNvPr id="14" name="Text 9"/>
          <p:cNvSpPr txBox="1"/>
          <p:nvPr/>
        </p:nvSpPr>
        <p:spPr>
          <a:xfrm>
            <a:off x="4846320" y="3959352"/>
            <a:ext cx="3657600" cy="630936"/>
          </a:xfrm>
          <a:prstGeom prst="rect">
            <a:avLst/>
          </a:prstGeom>
          <a:noFill/>
          <a:ln/>
        </p:spPr>
        <p:txBody>
          <a:bodyPr wrap="square" lIns="0" tIns="0" rIns="0" bIns="0" rtlCol="0" anchor="ctr"/>
          <a:lstStyle/>
          <a:p>
            <a:pPr marL="0" indent="0" algn="l">
              <a:buNone/>
            </a:pPr>
            <a:r>
              <a:rPr lang="en-US" sz="1400" dirty="0">
                <a:solidFill>
                  <a:schemeClr val="tx1"/>
                </a:solidFill>
              </a:rPr>
              <a:t>Akurasi validasi anjlok 0,7056 → 0,5056 (epoch 4→5): belajar kurang stabil.</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Skenario 3: optimizer</a:t>
            </a:r>
            <a:endParaRPr lang="en-US" sz="2800" dirty="0"/>
          </a:p>
        </p:txBody>
      </p:sp>
      <p:graphicFrame>
        <p:nvGraphicFramePr>
          <p:cNvPr id="22" name="Tabel"/>
          <p:cNvGraphicFramePr>
            <a:graphicFrameLocks noGrp="1"/>
          </p:cNvGraphicFramePr>
          <p:nvPr>
            <p:extLst>
              <p:ext uri="{D42A27DB-BD31-4B8C-83A1-F6EECF244321}">
                <p14:modId xmlns:p14="http://schemas.microsoft.com/office/powerpoint/2010/main" val="1579011935"/>
              </p:ext>
            </p:extLst>
          </p:nvPr>
        </p:nvGraphicFramePr>
        <p:xfrm>
          <a:off x="4663440" y="1280160"/>
          <a:ext cx="4023360" cy="1536192"/>
        </p:xfrm>
        <a:graphic>
          <a:graphicData uri="http://schemas.openxmlformats.org/drawingml/2006/table">
            <a:tbl>
              <a:tblPr/>
              <a:tblGrid>
                <a:gridCol w="18288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84048">
                <a:tc>
                  <a:txBody>
                    <a:bodyPr/>
                    <a:lstStyle/>
                    <a:p>
                      <a:pPr marL="0" indent="0" algn="l">
                        <a:buNone/>
                      </a:pPr>
                      <a:r>
                        <a:rPr lang="en-US" sz="1400" b="1" dirty="0">
                          <a:solidFill>
                            <a:schemeClr val="bg1"/>
                          </a:solidFill>
                        </a:rPr>
                        <a:t>Optimizer</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Accuracy</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F1 Macro</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chemeClr val="tx1"/>
                          </a:solidFill>
                        </a:rPr>
                        <a:t>Adam</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0,9667</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0,9664</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l">
                        <a:buNone/>
                      </a:pPr>
                      <a:r>
                        <a:rPr lang="en-US" sz="1400" b="1" dirty="0">
                          <a:solidFill>
                            <a:schemeClr val="tx1"/>
                          </a:solidFill>
                        </a:rPr>
                        <a:t>RMSprop (*)</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0,9500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rPr>
                        <a:t>0,9496</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pPr>
                      <a:r>
                        <a:rPr lang="en-US" sz="1400" b="1" dirty="0">
                          <a:solidFill>
                            <a:schemeClr val="tx1"/>
                          </a:solidFill>
                        </a:rPr>
                        <a:t>SGD Momentum (*)</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0,9694</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0,9694</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4663440" y="2880360"/>
            <a:ext cx="4023360" cy="274320"/>
          </a:xfrm>
          <a:prstGeom prst="rect">
            <a:avLst/>
          </a:prstGeom>
          <a:noFill/>
          <a:ln/>
        </p:spPr>
        <p:txBody>
          <a:bodyPr wrap="square" lIns="0" tIns="0" rIns="0" bIns="0" rtlCol="0" anchor="t"/>
          <a:lstStyle/>
          <a:p>
            <a:pPr marL="0" indent="0" algn="l">
              <a:buNone/>
            </a:pPr>
            <a:r>
              <a:rPr lang="en-US" sz="1200" i="1" dirty="0">
                <a:solidFill>
                  <a:schemeClr val="accent2"/>
                </a:solidFill>
              </a:rPr>
              <a:t>(*) sebenarnya dikompilasi dengan Adam</a:t>
            </a:r>
            <a:endParaRPr lang="en-US" sz="1200" dirty="0"/>
          </a:p>
        </p:txBody>
      </p:sp>
      <p:sp>
        <p:nvSpPr>
          <p:cNvPr id="7" name="Frame"/>
          <p:cNvSpPr/>
          <p:nvPr/>
        </p:nvSpPr>
        <p:spPr>
          <a:xfrm>
            <a:off x="570860" y="1234440"/>
            <a:ext cx="3796040" cy="2514600"/>
          </a:xfrm>
          <a:prstGeom prst="rect">
            <a:avLst/>
          </a:prstGeom>
          <a:solidFill>
            <a:schemeClr val="bg1"/>
          </a:solidFill>
          <a:ln w="12700">
            <a:solidFill>
              <a:schemeClr val="bg2"/>
            </a:solidFill>
            <a:prstDash val="solid"/>
          </a:ln>
        </p:spPr>
      </p:sp>
      <p:pic>
        <p:nvPicPr>
          <p:cNvPr id="8" name="Gambar 10" descr="/tmp/claude-0/-home-claude/949ac0f0-f744-5c10-baa6-0b053e3f7a1d/scratchpad/doc/img/image10.png"/>
          <p:cNvPicPr>
            <a:picLocks noChangeAspect="1"/>
          </p:cNvPicPr>
          <p:nvPr/>
        </p:nvPicPr>
        <p:blipFill>
          <a:blip r:embed="rId3"/>
          <a:stretch>
            <a:fillRect/>
          </a:stretch>
        </p:blipFill>
        <p:spPr>
          <a:xfrm>
            <a:off x="616580" y="1280160"/>
            <a:ext cx="3704600" cy="2423160"/>
          </a:xfrm>
          <a:prstGeom prst="rect">
            <a:avLst/>
          </a:prstGeom>
        </p:spPr>
      </p:pic>
      <p:sp>
        <p:nvSpPr>
          <p:cNvPr id="9" name="Text 4"/>
          <p:cNvSpPr txBox="1"/>
          <p:nvPr/>
        </p:nvSpPr>
        <p:spPr>
          <a:xfrm>
            <a:off x="457200" y="3840480"/>
            <a:ext cx="4023360" cy="228600"/>
          </a:xfrm>
          <a:prstGeom prst="rect">
            <a:avLst/>
          </a:prstGeom>
          <a:noFill/>
          <a:ln/>
        </p:spPr>
        <p:txBody>
          <a:bodyPr wrap="square" lIns="0" tIns="0" rIns="0" bIns="0" rtlCol="0" anchor="t"/>
          <a:lstStyle/>
          <a:p>
            <a:pPr marL="0" indent="0" algn="ctr">
              <a:buNone/>
            </a:pPr>
            <a:r>
              <a:rPr lang="en-US" sz="1100" i="1" dirty="0">
                <a:solidFill>
                  <a:schemeClr val="accent4"/>
                </a:solidFill>
              </a:rPr>
              <a:t>Perbandingan F1 Macro tiga optimizer</a:t>
            </a:r>
            <a:endParaRPr lang="en-US" sz="1100" dirty="0"/>
          </a:p>
        </p:txBody>
      </p:sp>
      <p:sp>
        <p:nvSpPr>
          <p:cNvPr id="10" name="Temuan"/>
          <p:cNvSpPr/>
          <p:nvPr/>
        </p:nvSpPr>
        <p:spPr>
          <a:xfrm>
            <a:off x="4663440" y="3246120"/>
            <a:ext cx="4023360" cy="1417320"/>
          </a:xfrm>
          <a:prstGeom prst="roundRect">
            <a:avLst>
              <a:gd name="adj" fmla="val 6452"/>
            </a:avLst>
          </a:prstGeom>
          <a:solidFill>
            <a:srgbClr val="FBE4DE"/>
          </a:solidFill>
          <a:ln/>
        </p:spPr>
      </p:sp>
      <p:sp>
        <p:nvSpPr>
          <p:cNvPr id="11" name="Text 6"/>
          <p:cNvSpPr txBox="1"/>
          <p:nvPr/>
        </p:nvSpPr>
        <p:spPr>
          <a:xfrm>
            <a:off x="4800600" y="3310128"/>
            <a:ext cx="3749040" cy="1280160"/>
          </a:xfrm>
          <a:prstGeom prst="rect">
            <a:avLst/>
          </a:prstGeom>
          <a:noFill/>
          <a:ln/>
        </p:spPr>
        <p:txBody>
          <a:bodyPr wrap="square" lIns="0" tIns="0" rIns="0" bIns="0" rtlCol="0" anchor="ctr"/>
          <a:lstStyle/>
          <a:p>
            <a:pPr marL="0" indent="0" algn="l">
              <a:buNone/>
            </a:pPr>
            <a:r>
              <a:rPr lang="en-US" sz="1300" b="1" dirty="0">
                <a:solidFill>
                  <a:schemeClr val="accent2"/>
                </a:solidFill>
              </a:rPr>
              <a:t>Temuan penting: </a:t>
            </a:r>
            <a:r>
              <a:rPr lang="en-US" sz="1300" dirty="0">
                <a:solidFill>
                  <a:schemeClr val="tx1"/>
                </a:solidFill>
              </a:rPr>
              <a:t>log RMSprop dan SGD tercetak “Optimizer : Adam”. Ketiga hasil = 3× Adam dengan bobot awal beda, jadi SGD tidak bisa disebut pemenang. Perlu diulang.</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Skenario 3: kurva akurasi tiga optimizer</a:t>
            </a:r>
            <a:endParaRPr lang="en-US" sz="2800" dirty="0"/>
          </a:p>
        </p:txBody>
      </p:sp>
      <p:sp>
        <p:nvSpPr>
          <p:cNvPr id="5" name="Frame"/>
          <p:cNvSpPr/>
          <p:nvPr/>
        </p:nvSpPr>
        <p:spPr>
          <a:xfrm>
            <a:off x="411480" y="1406661"/>
            <a:ext cx="5212080" cy="3130278"/>
          </a:xfrm>
          <a:prstGeom prst="rect">
            <a:avLst/>
          </a:prstGeom>
          <a:solidFill>
            <a:schemeClr val="bg1"/>
          </a:solidFill>
          <a:ln w="12700">
            <a:solidFill>
              <a:schemeClr val="bg2"/>
            </a:solidFill>
            <a:prstDash val="solid"/>
          </a:ln>
        </p:spPr>
      </p:sp>
      <p:pic>
        <p:nvPicPr>
          <p:cNvPr id="6" name="Gambar 11" descr="/tmp/claude-0/-home-claude/949ac0f0-f744-5c10-baa6-0b053e3f7a1d/scratchpad/doc/img/image11.png"/>
          <p:cNvPicPr>
            <a:picLocks noChangeAspect="1"/>
          </p:cNvPicPr>
          <p:nvPr/>
        </p:nvPicPr>
        <p:blipFill>
          <a:blip r:embed="rId3"/>
          <a:stretch>
            <a:fillRect/>
          </a:stretch>
        </p:blipFill>
        <p:spPr>
          <a:xfrm>
            <a:off x="457200" y="1452381"/>
            <a:ext cx="5120640" cy="3038838"/>
          </a:xfrm>
          <a:prstGeom prst="rect">
            <a:avLst/>
          </a:prstGeom>
        </p:spPr>
      </p:pic>
      <p:sp>
        <p:nvSpPr>
          <p:cNvPr id="7" name="Poin"/>
          <p:cNvSpPr/>
          <p:nvPr/>
        </p:nvSpPr>
        <p:spPr>
          <a:xfrm>
            <a:off x="5806440" y="1280160"/>
            <a:ext cx="2880360" cy="1024128"/>
          </a:xfrm>
          <a:prstGeom prst="roundRect">
            <a:avLst>
              <a:gd name="adj" fmla="val 8929"/>
            </a:avLst>
          </a:prstGeom>
          <a:solidFill>
            <a:schemeClr val="bg2"/>
          </a:solidFill>
          <a:ln/>
        </p:spPr>
      </p:sp>
      <p:sp>
        <p:nvSpPr>
          <p:cNvPr id="8" name="Text 4"/>
          <p:cNvSpPr txBox="1"/>
          <p:nvPr/>
        </p:nvSpPr>
        <p:spPr>
          <a:xfrm>
            <a:off x="5943600" y="1371600"/>
            <a:ext cx="2606040" cy="274320"/>
          </a:xfrm>
          <a:prstGeom prst="rect">
            <a:avLst/>
          </a:prstGeom>
          <a:noFill/>
          <a:ln/>
        </p:spPr>
        <p:txBody>
          <a:bodyPr wrap="square" lIns="0" tIns="0" rIns="0" bIns="0" rtlCol="0" anchor="t"/>
          <a:lstStyle/>
          <a:p>
            <a:pPr marL="0" indent="0" algn="l">
              <a:buNone/>
            </a:pPr>
            <a:r>
              <a:rPr lang="en-US" sz="1500" b="1" dirty="0">
                <a:solidFill>
                  <a:schemeClr val="accent1"/>
                </a:solidFill>
              </a:rPr>
              <a:t>Kurva mirip</a:t>
            </a:r>
            <a:endParaRPr lang="en-US" sz="1500" dirty="0"/>
          </a:p>
        </p:txBody>
      </p:sp>
      <p:sp>
        <p:nvSpPr>
          <p:cNvPr id="9" name="Text 5"/>
          <p:cNvSpPr txBox="1"/>
          <p:nvPr/>
        </p:nvSpPr>
        <p:spPr>
          <a:xfrm>
            <a:off x="5943600" y="1664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Ketiga optimizer menghasilkan bentuk kurva yang hampir sama.</a:t>
            </a:r>
            <a:endParaRPr lang="en-US" sz="1300" dirty="0"/>
          </a:p>
        </p:txBody>
      </p:sp>
      <p:sp>
        <p:nvSpPr>
          <p:cNvPr id="10" name="Poin"/>
          <p:cNvSpPr/>
          <p:nvPr/>
        </p:nvSpPr>
        <p:spPr>
          <a:xfrm>
            <a:off x="5806440" y="2423160"/>
            <a:ext cx="2880360" cy="1024128"/>
          </a:xfrm>
          <a:prstGeom prst="roundRect">
            <a:avLst>
              <a:gd name="adj" fmla="val 8929"/>
            </a:avLst>
          </a:prstGeom>
          <a:solidFill>
            <a:schemeClr val="bg2"/>
          </a:solidFill>
          <a:ln/>
        </p:spPr>
      </p:sp>
      <p:sp>
        <p:nvSpPr>
          <p:cNvPr id="11" name="Text 7"/>
          <p:cNvSpPr txBox="1"/>
          <p:nvPr/>
        </p:nvSpPr>
        <p:spPr>
          <a:xfrm>
            <a:off x="5943600" y="2514600"/>
            <a:ext cx="2606040" cy="274320"/>
          </a:xfrm>
          <a:prstGeom prst="rect">
            <a:avLst/>
          </a:prstGeom>
          <a:noFill/>
          <a:ln/>
        </p:spPr>
        <p:txBody>
          <a:bodyPr wrap="square" lIns="0" tIns="0" rIns="0" bIns="0" rtlCol="0" anchor="t"/>
          <a:lstStyle/>
          <a:p>
            <a:pPr marL="0" indent="0" algn="l">
              <a:buNone/>
            </a:pPr>
            <a:r>
              <a:rPr lang="en-US" sz="1500" b="1" dirty="0">
                <a:solidFill>
                  <a:schemeClr val="accent4"/>
                </a:solidFill>
              </a:rPr>
              <a:t>Selisih sangat kecil</a:t>
            </a:r>
            <a:endParaRPr lang="en-US" sz="1500" dirty="0"/>
          </a:p>
        </p:txBody>
      </p:sp>
      <p:sp>
        <p:nvSpPr>
          <p:cNvPr id="12" name="Text 8"/>
          <p:cNvSpPr txBox="1"/>
          <p:nvPr/>
        </p:nvSpPr>
        <p:spPr>
          <a:xfrm>
            <a:off x="5943600" y="2807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Adam vs SGD hanya 0,003 accuracy, setara 1 dari 360 gambar uji.</a:t>
            </a:r>
            <a:endParaRPr lang="en-US" sz="1300" dirty="0"/>
          </a:p>
        </p:txBody>
      </p:sp>
      <p:sp>
        <p:nvSpPr>
          <p:cNvPr id="13" name="Poin"/>
          <p:cNvSpPr/>
          <p:nvPr/>
        </p:nvSpPr>
        <p:spPr>
          <a:xfrm>
            <a:off x="5806440" y="3566160"/>
            <a:ext cx="2880360" cy="1024128"/>
          </a:xfrm>
          <a:prstGeom prst="roundRect">
            <a:avLst>
              <a:gd name="adj" fmla="val 8929"/>
            </a:avLst>
          </a:prstGeom>
          <a:solidFill>
            <a:schemeClr val="bg2"/>
          </a:solidFill>
          <a:ln/>
        </p:spPr>
      </p:sp>
      <p:sp>
        <p:nvSpPr>
          <p:cNvPr id="14" name="Text 10"/>
          <p:cNvSpPr txBox="1"/>
          <p:nvPr/>
        </p:nvSpPr>
        <p:spPr>
          <a:xfrm>
            <a:off x="5943600" y="3657600"/>
            <a:ext cx="2606040" cy="274320"/>
          </a:xfrm>
          <a:prstGeom prst="rect">
            <a:avLst/>
          </a:prstGeom>
          <a:noFill/>
          <a:ln/>
        </p:spPr>
        <p:txBody>
          <a:bodyPr wrap="square" lIns="0" tIns="0" rIns="0" bIns="0" rtlCol="0" anchor="t"/>
          <a:lstStyle/>
          <a:p>
            <a:pPr marL="0" indent="0" algn="l">
              <a:buNone/>
            </a:pPr>
            <a:r>
              <a:rPr lang="en-US" sz="1500" b="1" dirty="0">
                <a:solidFill>
                  <a:schemeClr val="accent2"/>
                </a:solidFill>
              </a:rPr>
              <a:t>Dibaca hati-hati</a:t>
            </a:r>
            <a:endParaRPr lang="en-US" sz="1500" dirty="0"/>
          </a:p>
        </p:txBody>
      </p:sp>
      <p:sp>
        <p:nvSpPr>
          <p:cNvPr id="15" name="Text 11"/>
          <p:cNvSpPr txBox="1"/>
          <p:nvPr/>
        </p:nvSpPr>
        <p:spPr>
          <a:xfrm>
            <a:off x="5943600" y="3950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Konsisten dengan temuan bahwa ketiganya sebenarnya Adam.</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Skenario 4: dropout</a:t>
            </a:r>
            <a:endParaRPr lang="en-US" sz="2800" dirty="0"/>
          </a:p>
        </p:txBody>
      </p:sp>
      <p:sp>
        <p:nvSpPr>
          <p:cNvPr id="5" name="Frame"/>
          <p:cNvSpPr/>
          <p:nvPr/>
        </p:nvSpPr>
        <p:spPr>
          <a:xfrm>
            <a:off x="417917" y="1234440"/>
            <a:ext cx="4010486" cy="2651760"/>
          </a:xfrm>
          <a:prstGeom prst="rect">
            <a:avLst/>
          </a:prstGeom>
          <a:solidFill>
            <a:schemeClr val="bg1"/>
          </a:solidFill>
          <a:ln w="12700">
            <a:solidFill>
              <a:schemeClr val="bg2"/>
            </a:solidFill>
            <a:prstDash val="solid"/>
          </a:ln>
        </p:spPr>
      </p:sp>
      <p:pic>
        <p:nvPicPr>
          <p:cNvPr id="6" name="Gambar 12" descr="/tmp/claude-0/-home-claude/949ac0f0-f744-5c10-baa6-0b053e3f7a1d/scratchpad/doc/img/image12.png"/>
          <p:cNvPicPr>
            <a:picLocks noChangeAspect="1"/>
          </p:cNvPicPr>
          <p:nvPr/>
        </p:nvPicPr>
        <p:blipFill>
          <a:blip r:embed="rId3"/>
          <a:stretch>
            <a:fillRect/>
          </a:stretch>
        </p:blipFill>
        <p:spPr>
          <a:xfrm>
            <a:off x="463637" y="1280160"/>
            <a:ext cx="3919046" cy="2560320"/>
          </a:xfrm>
          <a:prstGeom prst="rect">
            <a:avLst/>
          </a:prstGeom>
        </p:spPr>
      </p:pic>
      <p:graphicFrame>
        <p:nvGraphicFramePr>
          <p:cNvPr id="24" name="Tabel"/>
          <p:cNvGraphicFramePr>
            <a:graphicFrameLocks noGrp="1"/>
          </p:cNvGraphicFramePr>
          <p:nvPr>
            <p:extLst>
              <p:ext uri="{D42A27DB-BD31-4B8C-83A1-F6EECF244321}">
                <p14:modId xmlns:p14="http://schemas.microsoft.com/office/powerpoint/2010/main" val="1579011935"/>
              </p:ext>
            </p:extLst>
          </p:nvPr>
        </p:nvGraphicFramePr>
        <p:xfrm>
          <a:off x="4663440" y="1280160"/>
          <a:ext cx="4023360" cy="1463040"/>
        </p:xfrm>
        <a:graphic>
          <a:graphicData uri="http://schemas.openxmlformats.org/drawingml/2006/table">
            <a:tbl>
              <a:tblPr/>
              <a:tblGrid>
                <a:gridCol w="1280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65760">
                <a:tc>
                  <a:txBody>
                    <a:bodyPr/>
                    <a:lstStyle/>
                    <a:p>
                      <a:pPr marL="0" indent="0" algn="l">
                        <a:buNone/>
                      </a:pPr>
                      <a:r>
                        <a:rPr lang="en-US" sz="1400" b="1" dirty="0">
                          <a:solidFill>
                            <a:schemeClr val="bg1"/>
                          </a:solidFill>
                        </a:rPr>
                        <a:t>Dropout</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Accuracy</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400" b="1" dirty="0">
                          <a:solidFill>
                            <a:schemeClr val="bg1"/>
                          </a:solidFill>
                        </a:rPr>
                        <a:t>F1 Macro</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lgn="l">
                        <a:buNone/>
                      </a:pPr>
                      <a:r>
                        <a:rPr lang="en-US" sz="1400" b="1" dirty="0">
                          <a:solidFill>
                            <a:schemeClr val="tx1"/>
                          </a:solidFill>
                        </a:rPr>
                        <a:t>0,0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0,8750</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0,8712</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lgn="l">
                        <a:buNone/>
                      </a:pPr>
                      <a:r>
                        <a:rPr lang="en-US" sz="1400" b="1" dirty="0">
                          <a:solidFill>
                            <a:schemeClr val="tx1"/>
                          </a:solidFill>
                        </a:rPr>
                        <a:t>0,3</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r>
                        <a:rPr lang="en-US" sz="1400" b="1" dirty="0">
                          <a:solidFill>
                            <a:schemeClr val="tx1"/>
                          </a:solidFill>
                        </a:rPr>
                        <a:t>0,9056</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tc>
                  <a:txBody>
                    <a:bodyPr/>
                    <a:lstStyle/>
                    <a:p>
                      <a:pPr marL="0" indent="0" algn="l">
                        <a:buNone/>
                      </a:pPr>
                      <a:r>
                        <a:rPr lang="en-US" sz="1400" b="1" dirty="0">
                          <a:solidFill>
                            <a:schemeClr val="tx1"/>
                          </a:solidFill>
                        </a:rPr>
                        <a:t>0,9048</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rgbClr val="CFEFE0"/>
                    </a:solidFill>
                  </a:tcPr>
                </a:tc>
                <a:extLst>
                  <a:ext uri="{0D108BD9-81ED-4DB2-BD59-A6C34878D82A}">
                    <a16:rowId xmlns:a16="http://schemas.microsoft.com/office/drawing/2014/main" val="10002"/>
                  </a:ext>
                </a:extLst>
              </a:tr>
              <a:tr h="365760">
                <a:tc>
                  <a:txBody>
                    <a:bodyPr/>
                    <a:lstStyle/>
                    <a:p>
                      <a:pPr marL="0" indent="0" algn="l">
                        <a:buNone/>
                      </a:pPr>
                      <a:r>
                        <a:rPr lang="en-US" sz="1400" b="1" dirty="0">
                          <a:solidFill>
                            <a:schemeClr val="tx1"/>
                          </a:solidFill>
                        </a:rPr>
                        <a:t>0,5</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0,8833</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rPr>
                        <a:t>0,8796</a:t>
                      </a:r>
                      <a:endParaRPr lang="en-US" sz="14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 name="Callout"/>
          <p:cNvSpPr/>
          <p:nvPr/>
        </p:nvSpPr>
        <p:spPr>
          <a:xfrm>
            <a:off x="4663440" y="2880360"/>
            <a:ext cx="4023360" cy="868680"/>
          </a:xfrm>
          <a:prstGeom prst="roundRect">
            <a:avLst>
              <a:gd name="adj" fmla="val 10526"/>
            </a:avLst>
          </a:prstGeom>
          <a:solidFill>
            <a:schemeClr val="bg2"/>
          </a:solidFill>
          <a:ln/>
        </p:spPr>
      </p:sp>
      <p:sp>
        <p:nvSpPr>
          <p:cNvPr id="9" name="Text 4"/>
          <p:cNvSpPr txBox="1"/>
          <p:nvPr/>
        </p:nvSpPr>
        <p:spPr>
          <a:xfrm>
            <a:off x="4846320" y="2953512"/>
            <a:ext cx="3657600" cy="722376"/>
          </a:xfrm>
          <a:prstGeom prst="rect">
            <a:avLst/>
          </a:prstGeom>
          <a:noFill/>
          <a:ln/>
        </p:spPr>
        <p:txBody>
          <a:bodyPr wrap="square" lIns="0" tIns="0" rIns="0" bIns="0" rtlCol="0" anchor="ctr"/>
          <a:lstStyle/>
          <a:p>
            <a:pPr marL="0" indent="0" algn="l">
              <a:buNone/>
            </a:pPr>
            <a:r>
              <a:rPr lang="en-US" sz="1400" dirty="0">
                <a:solidFill>
                  <a:schemeClr val="tx1"/>
                </a:solidFill>
              </a:rPr>
              <a:t>Dropout 0,3 terbaik: nilai sedang paling bagus. Tapi hanya 1 run, belum kuat.</a:t>
            </a:r>
            <a:endParaRPr lang="en-US" sz="1400" dirty="0"/>
          </a:p>
        </p:txBody>
      </p:sp>
      <p:sp>
        <p:nvSpPr>
          <p:cNvPr id="10" name="Callout"/>
          <p:cNvSpPr/>
          <p:nvPr/>
        </p:nvSpPr>
        <p:spPr>
          <a:xfrm>
            <a:off x="457200" y="3931920"/>
            <a:ext cx="8229600" cy="731520"/>
          </a:xfrm>
          <a:prstGeom prst="roundRect">
            <a:avLst>
              <a:gd name="adj" fmla="val 12500"/>
            </a:avLst>
          </a:prstGeom>
          <a:solidFill>
            <a:srgbClr val="FBE4DE"/>
          </a:solidFill>
          <a:ln/>
        </p:spPr>
      </p:sp>
      <p:sp>
        <p:nvSpPr>
          <p:cNvPr id="11" name="Text 6"/>
          <p:cNvSpPr txBox="1"/>
          <p:nvPr/>
        </p:nvSpPr>
        <p:spPr>
          <a:xfrm>
            <a:off x="640080" y="4005072"/>
            <a:ext cx="7863840" cy="585216"/>
          </a:xfrm>
          <a:prstGeom prst="rect">
            <a:avLst/>
          </a:prstGeom>
          <a:noFill/>
          <a:ln/>
        </p:spPr>
        <p:txBody>
          <a:bodyPr wrap="square" lIns="0" tIns="0" rIns="0" bIns="0" rtlCol="0" anchor="ctr"/>
          <a:lstStyle/>
          <a:p>
            <a:pPr marL="0" indent="0" algn="l">
              <a:buNone/>
            </a:pPr>
            <a:r>
              <a:rPr lang="en-US" sz="1400" dirty="0">
                <a:solidFill>
                  <a:schemeClr val="tx1"/>
                </a:solidFill>
              </a:rPr>
              <a:t>Skor 0,87–0,90 lebih rendah dari Adam (0,94–0,99): SGD belajar lambat (akurasi latih epoch 1 ≈ 0,35 vs Adam ≈ 0,66), belum konvergen dalam 20 epoch.</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Rekap F1 Macro semua eksperimen</a:t>
            </a:r>
            <a:endParaRPr lang="en-US" sz="2800" dirty="0"/>
          </a:p>
        </p:txBody>
      </p:sp>
      <p:sp>
        <p:nvSpPr>
          <p:cNvPr id="5" name="Frame"/>
          <p:cNvSpPr/>
          <p:nvPr/>
        </p:nvSpPr>
        <p:spPr>
          <a:xfrm>
            <a:off x="411480" y="1444752"/>
            <a:ext cx="5212080" cy="3054096"/>
          </a:xfrm>
          <a:prstGeom prst="rect">
            <a:avLst/>
          </a:prstGeom>
          <a:solidFill>
            <a:schemeClr val="bg1"/>
          </a:solidFill>
          <a:ln w="12700">
            <a:solidFill>
              <a:schemeClr val="bg2"/>
            </a:solidFill>
            <a:prstDash val="solid"/>
          </a:ln>
        </p:spPr>
      </p:sp>
      <p:pic>
        <p:nvPicPr>
          <p:cNvPr id="6" name="Gambar 13" descr="/tmp/claude-0/-home-claude/949ac0f0-f744-5c10-baa6-0b053e3f7a1d/scratchpad/doc/img/image13.png"/>
          <p:cNvPicPr>
            <a:picLocks noChangeAspect="1"/>
          </p:cNvPicPr>
          <p:nvPr/>
        </p:nvPicPr>
        <p:blipFill>
          <a:blip r:embed="rId3"/>
          <a:stretch>
            <a:fillRect/>
          </a:stretch>
        </p:blipFill>
        <p:spPr>
          <a:xfrm>
            <a:off x="457200" y="1490472"/>
            <a:ext cx="5120640" cy="2962656"/>
          </a:xfrm>
          <a:prstGeom prst="rect">
            <a:avLst/>
          </a:prstGeom>
        </p:spPr>
      </p:pic>
      <p:sp>
        <p:nvSpPr>
          <p:cNvPr id="7" name="Poin"/>
          <p:cNvSpPr/>
          <p:nvPr/>
        </p:nvSpPr>
        <p:spPr>
          <a:xfrm>
            <a:off x="5806440" y="1280160"/>
            <a:ext cx="2880360" cy="1024128"/>
          </a:xfrm>
          <a:prstGeom prst="roundRect">
            <a:avLst>
              <a:gd name="adj" fmla="val 8929"/>
            </a:avLst>
          </a:prstGeom>
          <a:solidFill>
            <a:schemeClr val="bg2"/>
          </a:solidFill>
          <a:ln/>
        </p:spPr>
      </p:sp>
      <p:sp>
        <p:nvSpPr>
          <p:cNvPr id="8" name="Text 4"/>
          <p:cNvSpPr txBox="1"/>
          <p:nvPr/>
        </p:nvSpPr>
        <p:spPr>
          <a:xfrm>
            <a:off x="5943600" y="1371600"/>
            <a:ext cx="2606040" cy="274320"/>
          </a:xfrm>
          <a:prstGeom prst="rect">
            <a:avLst/>
          </a:prstGeom>
          <a:noFill/>
          <a:ln/>
        </p:spPr>
        <p:txBody>
          <a:bodyPr wrap="square" lIns="0" tIns="0" rIns="0" bIns="0" rtlCol="0" anchor="t"/>
          <a:lstStyle/>
          <a:p>
            <a:pPr marL="0" indent="0" algn="l">
              <a:buNone/>
            </a:pPr>
            <a:r>
              <a:rPr lang="en-US" sz="1500" b="1" dirty="0">
                <a:solidFill>
                  <a:schemeClr val="accent6"/>
                </a:solidFill>
              </a:rPr>
              <a:t>Tertinggi</a:t>
            </a:r>
            <a:endParaRPr lang="en-US" sz="1500" dirty="0"/>
          </a:p>
        </p:txBody>
      </p:sp>
      <p:sp>
        <p:nvSpPr>
          <p:cNvPr id="9" name="Text 5"/>
          <p:cNvSpPr txBox="1"/>
          <p:nvPr/>
        </p:nvSpPr>
        <p:spPr>
          <a:xfrm>
            <a:off x="5943600" y="1664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S1 split 90:05:05, F1 0,9917</a:t>
            </a:r>
            <a:endParaRPr lang="en-US" sz="1300" dirty="0"/>
          </a:p>
        </p:txBody>
      </p:sp>
      <p:sp>
        <p:nvSpPr>
          <p:cNvPr id="10" name="Poin"/>
          <p:cNvSpPr/>
          <p:nvPr/>
        </p:nvSpPr>
        <p:spPr>
          <a:xfrm>
            <a:off x="5806440" y="2423160"/>
            <a:ext cx="2880360" cy="1024128"/>
          </a:xfrm>
          <a:prstGeom prst="roundRect">
            <a:avLst>
              <a:gd name="adj" fmla="val 8929"/>
            </a:avLst>
          </a:prstGeom>
          <a:solidFill>
            <a:schemeClr val="bg2"/>
          </a:solidFill>
          <a:ln/>
        </p:spPr>
      </p:sp>
      <p:sp>
        <p:nvSpPr>
          <p:cNvPr id="11" name="Text 7"/>
          <p:cNvSpPr txBox="1"/>
          <p:nvPr/>
        </p:nvSpPr>
        <p:spPr>
          <a:xfrm>
            <a:off x="5943600" y="2514600"/>
            <a:ext cx="2606040" cy="274320"/>
          </a:xfrm>
          <a:prstGeom prst="rect">
            <a:avLst/>
          </a:prstGeom>
          <a:noFill/>
          <a:ln/>
        </p:spPr>
        <p:txBody>
          <a:bodyPr wrap="square" lIns="0" tIns="0" rIns="0" bIns="0" rtlCol="0" anchor="t"/>
          <a:lstStyle/>
          <a:p>
            <a:pPr marL="0" indent="0" algn="l">
              <a:buNone/>
            </a:pPr>
            <a:r>
              <a:rPr lang="en-US" sz="1500" b="1" dirty="0">
                <a:solidFill>
                  <a:schemeClr val="accent1"/>
                </a:solidFill>
              </a:rPr>
              <a:t>Champion</a:t>
            </a:r>
            <a:endParaRPr lang="en-US" sz="1500" dirty="0"/>
          </a:p>
        </p:txBody>
      </p:sp>
      <p:sp>
        <p:nvSpPr>
          <p:cNvPr id="12" name="Text 8"/>
          <p:cNvSpPr txBox="1"/>
          <p:nvPr/>
        </p:nvSpPr>
        <p:spPr>
          <a:xfrm>
            <a:off x="5943600" y="2807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S4 dropout 0,3, F1 0,9048</a:t>
            </a:r>
            <a:endParaRPr lang="en-US" sz="1300" dirty="0"/>
          </a:p>
        </p:txBody>
      </p:sp>
      <p:sp>
        <p:nvSpPr>
          <p:cNvPr id="13" name="Poin"/>
          <p:cNvSpPr/>
          <p:nvPr/>
        </p:nvSpPr>
        <p:spPr>
          <a:xfrm>
            <a:off x="5806440" y="3566160"/>
            <a:ext cx="2880360" cy="1024128"/>
          </a:xfrm>
          <a:prstGeom prst="roundRect">
            <a:avLst>
              <a:gd name="adj" fmla="val 8929"/>
            </a:avLst>
          </a:prstGeom>
          <a:solidFill>
            <a:schemeClr val="bg2"/>
          </a:solidFill>
          <a:ln/>
        </p:spPr>
      </p:sp>
      <p:sp>
        <p:nvSpPr>
          <p:cNvPr id="14" name="Text 10"/>
          <p:cNvSpPr txBox="1"/>
          <p:nvPr/>
        </p:nvSpPr>
        <p:spPr>
          <a:xfrm>
            <a:off x="5943600" y="3657600"/>
            <a:ext cx="2606040" cy="274320"/>
          </a:xfrm>
          <a:prstGeom prst="rect">
            <a:avLst/>
          </a:prstGeom>
          <a:noFill/>
          <a:ln/>
        </p:spPr>
        <p:txBody>
          <a:bodyPr wrap="square" lIns="0" tIns="0" rIns="0" bIns="0" rtlCol="0" anchor="t"/>
          <a:lstStyle/>
          <a:p>
            <a:pPr marL="0" indent="0" algn="l">
              <a:buNone/>
            </a:pPr>
            <a:r>
              <a:rPr lang="en-US" sz="1500" b="1" dirty="0">
                <a:solidFill>
                  <a:schemeClr val="accent2"/>
                </a:solidFill>
              </a:rPr>
              <a:t>Bertanda (*)</a:t>
            </a:r>
            <a:endParaRPr lang="en-US" sz="1500" dirty="0"/>
          </a:p>
        </p:txBody>
      </p:sp>
      <p:sp>
        <p:nvSpPr>
          <p:cNvPr id="15" name="Text 11"/>
          <p:cNvSpPr txBox="1"/>
          <p:nvPr/>
        </p:nvSpPr>
        <p:spPr>
          <a:xfrm>
            <a:off x="5943600" y="3950208"/>
            <a:ext cx="2606040" cy="621792"/>
          </a:xfrm>
          <a:prstGeom prst="rect">
            <a:avLst/>
          </a:prstGeom>
          <a:noFill/>
          <a:ln/>
        </p:spPr>
        <p:txBody>
          <a:bodyPr wrap="square" lIns="0" tIns="0" rIns="0" bIns="0" rtlCol="0" anchor="t"/>
          <a:lstStyle/>
          <a:p>
            <a:pPr marL="0" indent="0" algn="l">
              <a:buNone/>
            </a:pPr>
            <a:r>
              <a:rPr lang="en-US" sz="1300" dirty="0">
                <a:solidFill>
                  <a:schemeClr val="tx1"/>
                </a:solidFill>
              </a:rPr>
              <a:t>S3 RMSprop dan SGD sebenarnya dikompilasi dengan Adam</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Model champion: konfigurasi dan metrik</a:t>
            </a:r>
            <a:endParaRPr lang="en-US" sz="2800" dirty="0"/>
          </a:p>
        </p:txBody>
      </p:sp>
      <p:graphicFrame>
        <p:nvGraphicFramePr>
          <p:cNvPr id="26" name="Tabel"/>
          <p:cNvGraphicFramePr>
            <a:graphicFrameLocks noGrp="1"/>
          </p:cNvGraphicFramePr>
          <p:nvPr>
            <p:extLst>
              <p:ext uri="{D42A27DB-BD31-4B8C-83A1-F6EECF244321}">
                <p14:modId xmlns:p14="http://schemas.microsoft.com/office/powerpoint/2010/main" val="1579011935"/>
              </p:ext>
            </p:extLst>
          </p:nvPr>
        </p:nvGraphicFramePr>
        <p:xfrm>
          <a:off x="457200" y="1280160"/>
          <a:ext cx="4480560" cy="2755392"/>
        </p:xfrm>
        <a:graphic>
          <a:graphicData uri="http://schemas.openxmlformats.org/drawingml/2006/table">
            <a:tbl>
              <a:tblPr/>
              <a:tblGrid>
                <a:gridCol w="1554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lgn="l">
                        <a:buNone/>
                      </a:pPr>
                      <a:r>
                        <a:rPr lang="en-US" sz="1300" b="1" dirty="0">
                          <a:solidFill>
                            <a:schemeClr val="bg1"/>
                          </a:solidFill>
                        </a:rPr>
                        <a:t>Pengaturan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300" b="1" dirty="0">
                          <a:solidFill>
                            <a:schemeClr val="bg1"/>
                          </a:solidFill>
                        </a:rPr>
                        <a:t>Nilai</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chemeClr val="tx1"/>
                          </a:solidFill>
                        </a:rPr>
                        <a:t>Pembagian data</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90:05:05 (6.480 / 360 / 360)</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chemeClr val="tx1"/>
                          </a:solidFill>
                        </a:rPr>
                        <a:t>Augmentasi</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Tidak digunakan</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chemeClr val="tx1"/>
                          </a:solidFill>
                        </a:rPr>
                        <a:t>Optimizer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SGD Momentum (LR 0,0005, momentum 0,9)</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chemeClr val="tx1"/>
                          </a:solidFill>
                        </a:rPr>
                        <a:t>Dropout</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0,3</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l">
                        <a:buNone/>
                      </a:pPr>
                      <a:r>
                        <a:rPr lang="en-US" sz="1300" b="1" dirty="0">
                          <a:solidFill>
                            <a:schemeClr val="tx1"/>
                          </a:solidFill>
                        </a:rPr>
                        <a:t>Epoch / batch size</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rPr>
                        <a:t>20 / 32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lgn="l">
                        <a:buNone/>
                      </a:pPr>
                      <a:r>
                        <a:rPr lang="en-US" sz="1300" b="1" dirty="0">
                          <a:solidFill>
                            <a:schemeClr val="tx1"/>
                          </a:solidFill>
                        </a:rPr>
                        <a:t>Parameter</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rPr>
                        <a:t>1.290.052</a:t>
                      </a:r>
                      <a:endParaRPr lang="en-US" sz="13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6" name="Stat"/>
          <p:cNvSpPr/>
          <p:nvPr/>
        </p:nvSpPr>
        <p:spPr>
          <a:xfrm>
            <a:off x="5166360" y="1280160"/>
            <a:ext cx="1691640" cy="1234440"/>
          </a:xfrm>
          <a:prstGeom prst="roundRect">
            <a:avLst>
              <a:gd name="adj" fmla="val 7407"/>
            </a:avLst>
          </a:prstGeom>
          <a:solidFill>
            <a:schemeClr val="bg2"/>
          </a:solidFill>
          <a:ln/>
        </p:spPr>
      </p:sp>
      <p:sp>
        <p:nvSpPr>
          <p:cNvPr id="7" name="Text 3"/>
          <p:cNvSpPr txBox="1"/>
          <p:nvPr/>
        </p:nvSpPr>
        <p:spPr>
          <a:xfrm>
            <a:off x="5276088" y="1371600"/>
            <a:ext cx="1472184" cy="641909"/>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90,56%</a:t>
            </a:r>
            <a:endParaRPr lang="en-US" sz="2600" dirty="0"/>
          </a:p>
        </p:txBody>
      </p:sp>
      <p:sp>
        <p:nvSpPr>
          <p:cNvPr id="8" name="Text 4"/>
          <p:cNvSpPr txBox="1"/>
          <p:nvPr/>
        </p:nvSpPr>
        <p:spPr>
          <a:xfrm>
            <a:off x="5276088" y="2020824"/>
            <a:ext cx="1472184" cy="444398"/>
          </a:xfrm>
          <a:prstGeom prst="rect">
            <a:avLst/>
          </a:prstGeom>
          <a:noFill/>
          <a:ln/>
        </p:spPr>
        <p:txBody>
          <a:bodyPr wrap="square" lIns="0" tIns="0" rIns="0" bIns="0" rtlCol="0" anchor="t"/>
          <a:lstStyle/>
          <a:p>
            <a:pPr marL="0" indent="0" algn="ctr">
              <a:buNone/>
            </a:pPr>
            <a:r>
              <a:rPr lang="en-US" sz="1300" dirty="0">
                <a:solidFill>
                  <a:schemeClr val="tx1"/>
                </a:solidFill>
              </a:rPr>
              <a:t>Accuracy</a:t>
            </a:r>
            <a:endParaRPr lang="en-US" sz="1300" dirty="0"/>
          </a:p>
        </p:txBody>
      </p:sp>
      <p:sp>
        <p:nvSpPr>
          <p:cNvPr id="9" name="Stat"/>
          <p:cNvSpPr/>
          <p:nvPr/>
        </p:nvSpPr>
        <p:spPr>
          <a:xfrm>
            <a:off x="6949440" y="1280160"/>
            <a:ext cx="1691640" cy="1234440"/>
          </a:xfrm>
          <a:prstGeom prst="roundRect">
            <a:avLst>
              <a:gd name="adj" fmla="val 7407"/>
            </a:avLst>
          </a:prstGeom>
          <a:solidFill>
            <a:schemeClr val="bg2"/>
          </a:solidFill>
          <a:ln/>
        </p:spPr>
      </p:sp>
      <p:sp>
        <p:nvSpPr>
          <p:cNvPr id="10" name="Text 6"/>
          <p:cNvSpPr txBox="1"/>
          <p:nvPr/>
        </p:nvSpPr>
        <p:spPr>
          <a:xfrm>
            <a:off x="7059168" y="1371600"/>
            <a:ext cx="1472184" cy="641909"/>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90,70%</a:t>
            </a:r>
            <a:endParaRPr lang="en-US" sz="2600" dirty="0"/>
          </a:p>
        </p:txBody>
      </p:sp>
      <p:sp>
        <p:nvSpPr>
          <p:cNvPr id="11" name="Text 7"/>
          <p:cNvSpPr txBox="1"/>
          <p:nvPr/>
        </p:nvSpPr>
        <p:spPr>
          <a:xfrm>
            <a:off x="7059168" y="2020824"/>
            <a:ext cx="1472184" cy="444398"/>
          </a:xfrm>
          <a:prstGeom prst="rect">
            <a:avLst/>
          </a:prstGeom>
          <a:noFill/>
          <a:ln/>
        </p:spPr>
        <p:txBody>
          <a:bodyPr wrap="square" lIns="0" tIns="0" rIns="0" bIns="0" rtlCol="0" anchor="t"/>
          <a:lstStyle/>
          <a:p>
            <a:pPr marL="0" indent="0" algn="ctr">
              <a:buNone/>
            </a:pPr>
            <a:r>
              <a:rPr lang="en-US" sz="1300" dirty="0">
                <a:solidFill>
                  <a:schemeClr val="tx1"/>
                </a:solidFill>
              </a:rPr>
              <a:t>Precision macro</a:t>
            </a:r>
            <a:endParaRPr lang="en-US" sz="1300" dirty="0"/>
          </a:p>
        </p:txBody>
      </p:sp>
      <p:sp>
        <p:nvSpPr>
          <p:cNvPr id="12" name="Stat"/>
          <p:cNvSpPr/>
          <p:nvPr/>
        </p:nvSpPr>
        <p:spPr>
          <a:xfrm>
            <a:off x="5166360" y="2651760"/>
            <a:ext cx="1691640" cy="1234440"/>
          </a:xfrm>
          <a:prstGeom prst="roundRect">
            <a:avLst>
              <a:gd name="adj" fmla="val 7407"/>
            </a:avLst>
          </a:prstGeom>
          <a:solidFill>
            <a:schemeClr val="bg2"/>
          </a:solidFill>
          <a:ln/>
        </p:spPr>
      </p:sp>
      <p:sp>
        <p:nvSpPr>
          <p:cNvPr id="13" name="Text 9"/>
          <p:cNvSpPr txBox="1"/>
          <p:nvPr/>
        </p:nvSpPr>
        <p:spPr>
          <a:xfrm>
            <a:off x="5276088" y="2743200"/>
            <a:ext cx="1472184" cy="641909"/>
          </a:xfrm>
          <a:prstGeom prst="rect">
            <a:avLst/>
          </a:prstGeom>
          <a:noFill/>
          <a:ln/>
        </p:spPr>
        <p:txBody>
          <a:bodyPr wrap="square" lIns="0" tIns="0" rIns="0" bIns="0" rtlCol="0" anchor="ctr"/>
          <a:lstStyle/>
          <a:p>
            <a:pPr marL="0" indent="0" algn="ctr">
              <a:buNone/>
            </a:pPr>
            <a:r>
              <a:rPr lang="en-US" sz="2600" b="1" dirty="0">
                <a:solidFill>
                  <a:schemeClr val="accent1"/>
                </a:solidFill>
                <a:latin typeface="Cambria" pitchFamily="34" charset="0"/>
                <a:ea typeface="Cambria" pitchFamily="34" charset="-122"/>
                <a:cs typeface="Cambria" pitchFamily="34" charset="-120"/>
              </a:rPr>
              <a:t>90,56%</a:t>
            </a:r>
            <a:endParaRPr lang="en-US" sz="2600" dirty="0"/>
          </a:p>
        </p:txBody>
      </p:sp>
      <p:sp>
        <p:nvSpPr>
          <p:cNvPr id="14" name="Text 10"/>
          <p:cNvSpPr txBox="1"/>
          <p:nvPr/>
        </p:nvSpPr>
        <p:spPr>
          <a:xfrm>
            <a:off x="5276088" y="3392424"/>
            <a:ext cx="1472184" cy="444398"/>
          </a:xfrm>
          <a:prstGeom prst="rect">
            <a:avLst/>
          </a:prstGeom>
          <a:noFill/>
          <a:ln/>
        </p:spPr>
        <p:txBody>
          <a:bodyPr wrap="square" lIns="0" tIns="0" rIns="0" bIns="0" rtlCol="0" anchor="t"/>
          <a:lstStyle/>
          <a:p>
            <a:pPr marL="0" indent="0" algn="ctr">
              <a:buNone/>
            </a:pPr>
            <a:r>
              <a:rPr lang="en-US" sz="1300" dirty="0">
                <a:solidFill>
                  <a:schemeClr val="tx1"/>
                </a:solidFill>
              </a:rPr>
              <a:t>Recall macro</a:t>
            </a:r>
            <a:endParaRPr lang="en-US" sz="1300" dirty="0"/>
          </a:p>
        </p:txBody>
      </p:sp>
      <p:sp>
        <p:nvSpPr>
          <p:cNvPr id="15" name="Stat"/>
          <p:cNvSpPr/>
          <p:nvPr/>
        </p:nvSpPr>
        <p:spPr>
          <a:xfrm>
            <a:off x="6949440" y="2651760"/>
            <a:ext cx="1691640" cy="1234440"/>
          </a:xfrm>
          <a:prstGeom prst="roundRect">
            <a:avLst>
              <a:gd name="adj" fmla="val 7407"/>
            </a:avLst>
          </a:prstGeom>
          <a:solidFill>
            <a:schemeClr val="bg2"/>
          </a:solidFill>
          <a:ln/>
        </p:spPr>
      </p:sp>
      <p:sp>
        <p:nvSpPr>
          <p:cNvPr id="16" name="Text 12"/>
          <p:cNvSpPr txBox="1"/>
          <p:nvPr/>
        </p:nvSpPr>
        <p:spPr>
          <a:xfrm>
            <a:off x="7059168" y="2743200"/>
            <a:ext cx="1472184" cy="641909"/>
          </a:xfrm>
          <a:prstGeom prst="rect">
            <a:avLst/>
          </a:prstGeom>
          <a:noFill/>
          <a:ln/>
        </p:spPr>
        <p:txBody>
          <a:bodyPr wrap="square" lIns="0" tIns="0" rIns="0" bIns="0" rtlCol="0" anchor="ctr"/>
          <a:lstStyle/>
          <a:p>
            <a:pPr marL="0" indent="0" algn="ctr">
              <a:buNone/>
            </a:pPr>
            <a:r>
              <a:rPr lang="en-US" sz="2600" b="1" dirty="0">
                <a:solidFill>
                  <a:schemeClr val="accent2"/>
                </a:solidFill>
                <a:latin typeface="Cambria" pitchFamily="34" charset="0"/>
                <a:ea typeface="Cambria" pitchFamily="34" charset="-122"/>
                <a:cs typeface="Cambria" pitchFamily="34" charset="-120"/>
              </a:rPr>
              <a:t>90,48%</a:t>
            </a:r>
            <a:endParaRPr lang="en-US" sz="2600" dirty="0"/>
          </a:p>
        </p:txBody>
      </p:sp>
      <p:sp>
        <p:nvSpPr>
          <p:cNvPr id="17" name="Text 13"/>
          <p:cNvSpPr txBox="1"/>
          <p:nvPr/>
        </p:nvSpPr>
        <p:spPr>
          <a:xfrm>
            <a:off x="7059168" y="3392424"/>
            <a:ext cx="1472184" cy="444398"/>
          </a:xfrm>
          <a:prstGeom prst="rect">
            <a:avLst/>
          </a:prstGeom>
          <a:noFill/>
          <a:ln/>
        </p:spPr>
        <p:txBody>
          <a:bodyPr wrap="square" lIns="0" tIns="0" rIns="0" bIns="0" rtlCol="0" anchor="t"/>
          <a:lstStyle/>
          <a:p>
            <a:pPr marL="0" indent="0" algn="ctr">
              <a:buNone/>
            </a:pPr>
            <a:r>
              <a:rPr lang="en-US" sz="1300" dirty="0">
                <a:solidFill>
                  <a:schemeClr val="tx1"/>
                </a:solidFill>
              </a:rPr>
              <a:t>F1 macro</a:t>
            </a:r>
            <a:endParaRPr lang="en-US" sz="1300" dirty="0"/>
          </a:p>
        </p:txBody>
      </p:sp>
      <p:sp>
        <p:nvSpPr>
          <p:cNvPr id="18" name="Callout"/>
          <p:cNvSpPr/>
          <p:nvPr/>
        </p:nvSpPr>
        <p:spPr>
          <a:xfrm>
            <a:off x="457200" y="4069080"/>
            <a:ext cx="8229600" cy="594360"/>
          </a:xfrm>
          <a:prstGeom prst="roundRect">
            <a:avLst>
              <a:gd name="adj" fmla="val 15385"/>
            </a:avLst>
          </a:prstGeom>
          <a:solidFill>
            <a:schemeClr val="bg2"/>
          </a:solidFill>
          <a:ln/>
        </p:spPr>
      </p:sp>
      <p:sp>
        <p:nvSpPr>
          <p:cNvPr id="19" name="Text 15"/>
          <p:cNvSpPr txBox="1"/>
          <p:nvPr/>
        </p:nvSpPr>
        <p:spPr>
          <a:xfrm>
            <a:off x="640080" y="4142232"/>
            <a:ext cx="7863840" cy="448056"/>
          </a:xfrm>
          <a:prstGeom prst="rect">
            <a:avLst/>
          </a:prstGeom>
          <a:noFill/>
          <a:ln/>
        </p:spPr>
        <p:txBody>
          <a:bodyPr wrap="square" lIns="0" tIns="0" rIns="0" bIns="0" rtlCol="0" anchor="ctr"/>
          <a:lstStyle/>
          <a:p>
            <a:pPr marL="0" indent="0" algn="l">
              <a:buNone/>
            </a:pPr>
            <a:r>
              <a:rPr lang="en-US" sz="1400" dirty="0">
                <a:solidFill>
                  <a:schemeClr val="tx1"/>
                </a:solidFill>
              </a:rPr>
              <a:t>326 benar dan 34 salah dari 360 gambar uji (90 per kelas): sekitar 9 dari 10 gambar dikenali dengan benar.</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Performa per kelas</a:t>
            </a:r>
            <a:endParaRPr lang="en-US" sz="2800" dirty="0"/>
          </a:p>
        </p:txBody>
      </p:sp>
      <p:sp>
        <p:nvSpPr>
          <p:cNvPr id="5" name="Frame"/>
          <p:cNvSpPr/>
          <p:nvPr/>
        </p:nvSpPr>
        <p:spPr>
          <a:xfrm>
            <a:off x="839007" y="1234440"/>
            <a:ext cx="3808385" cy="2103120"/>
          </a:xfrm>
          <a:prstGeom prst="rect">
            <a:avLst/>
          </a:prstGeom>
          <a:solidFill>
            <a:schemeClr val="bg1"/>
          </a:solidFill>
          <a:ln w="12700">
            <a:solidFill>
              <a:schemeClr val="bg2"/>
            </a:solidFill>
            <a:prstDash val="solid"/>
          </a:ln>
        </p:spPr>
      </p:sp>
      <p:pic>
        <p:nvPicPr>
          <p:cNvPr id="6" name="Gambar 14" descr="/tmp/claude-0/-home-claude/949ac0f0-f744-5c10-baa6-0b053e3f7a1d/scratchpad/doc/img/image14.png"/>
          <p:cNvPicPr>
            <a:picLocks noChangeAspect="1"/>
          </p:cNvPicPr>
          <p:nvPr/>
        </p:nvPicPr>
        <p:blipFill>
          <a:blip r:embed="rId3"/>
          <a:stretch>
            <a:fillRect/>
          </a:stretch>
        </p:blipFill>
        <p:spPr>
          <a:xfrm>
            <a:off x="884727" y="1280160"/>
            <a:ext cx="3716945" cy="2011680"/>
          </a:xfrm>
          <a:prstGeom prst="rect">
            <a:avLst/>
          </a:prstGeom>
        </p:spPr>
      </p:pic>
      <p:graphicFrame>
        <p:nvGraphicFramePr>
          <p:cNvPr id="27" name="Tabel"/>
          <p:cNvGraphicFramePr>
            <a:graphicFrameLocks noGrp="1"/>
          </p:cNvGraphicFramePr>
          <p:nvPr>
            <p:extLst>
              <p:ext uri="{D42A27DB-BD31-4B8C-83A1-F6EECF244321}">
                <p14:modId xmlns:p14="http://schemas.microsoft.com/office/powerpoint/2010/main" val="1579011935"/>
              </p:ext>
            </p:extLst>
          </p:nvPr>
        </p:nvGraphicFramePr>
        <p:xfrm>
          <a:off x="457200" y="3429000"/>
          <a:ext cx="4572000" cy="1234440"/>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46888">
                <a:tc>
                  <a:txBody>
                    <a:bodyPr/>
                    <a:lstStyle/>
                    <a:p>
                      <a:pPr marL="0" indent="0" algn="l">
                        <a:buNone/>
                      </a:pPr>
                      <a:r>
                        <a:rPr lang="en-US" sz="1100" b="1" dirty="0">
                          <a:solidFill>
                            <a:schemeClr val="bg1"/>
                          </a:solidFill>
                        </a:rPr>
                        <a:t>Kelas</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rPr>
                        <a:t>Prec.</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rPr>
                        <a:t>Recall</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tc>
                  <a:txBody>
                    <a:bodyPr/>
                    <a:lstStyle/>
                    <a:p>
                      <a:pPr marL="0" indent="0" algn="l">
                        <a:buNone/>
                      </a:pPr>
                      <a:r>
                        <a:rPr lang="en-US" sz="1100" b="1" dirty="0">
                          <a:solidFill>
                            <a:schemeClr val="bg1"/>
                          </a:solidFill>
                        </a:rPr>
                        <a:t>F1</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246888">
                <a:tc>
                  <a:txBody>
                    <a:bodyPr/>
                    <a:lstStyle/>
                    <a:p>
                      <a:pPr marL="0" indent="0" algn="l">
                        <a:buNone/>
                      </a:pPr>
                      <a:r>
                        <a:rPr lang="en-US" sz="1100" b="1" dirty="0">
                          <a:solidFill>
                            <a:schemeClr val="tx1"/>
                          </a:solidFill>
                        </a:rPr>
                        <a:t>glioma</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0,923</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0,800</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0,857</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46888">
                <a:tc>
                  <a:txBody>
                    <a:bodyPr/>
                    <a:lstStyle/>
                    <a:p>
                      <a:pPr marL="0" indent="0" algn="l">
                        <a:buNone/>
                      </a:pPr>
                      <a:r>
                        <a:rPr lang="en-US" sz="1100" b="1" dirty="0">
                          <a:solidFill>
                            <a:schemeClr val="tx1"/>
                          </a:solidFill>
                        </a:rPr>
                        <a:t>meningioma</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0,833</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0,889</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0,860</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246888">
                <a:tc>
                  <a:txBody>
                    <a:bodyPr/>
                    <a:lstStyle/>
                    <a:p>
                      <a:pPr marL="0" indent="0" algn="l">
                        <a:buNone/>
                      </a:pPr>
                      <a:r>
                        <a:rPr lang="en-US" sz="1100" b="1" dirty="0">
                          <a:solidFill>
                            <a:schemeClr val="tx1"/>
                          </a:solidFill>
                        </a:rPr>
                        <a:t>no tumor</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0,957</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0,978</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tc>
                  <a:txBody>
                    <a:bodyPr/>
                    <a:lstStyle/>
                    <a:p>
                      <a:pPr marL="0" indent="0" algn="l">
                        <a:buNone/>
                      </a:pPr>
                      <a:r>
                        <a:rPr lang="en-US" sz="1100" dirty="0">
                          <a:solidFill>
                            <a:schemeClr val="tx1"/>
                          </a:solidFill>
                        </a:rPr>
                        <a:t>0,967</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46888">
                <a:tc>
                  <a:txBody>
                    <a:bodyPr/>
                    <a:lstStyle/>
                    <a:p>
                      <a:pPr marL="0" indent="0" algn="l">
                        <a:buNone/>
                      </a:pPr>
                      <a:r>
                        <a:rPr lang="en-US" sz="1100" b="1" dirty="0">
                          <a:solidFill>
                            <a:schemeClr val="tx1"/>
                          </a:solidFill>
                        </a:rPr>
                        <a:t>pituitary</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0,915</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0,956</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tc>
                  <a:txBody>
                    <a:bodyPr/>
                    <a:lstStyle/>
                    <a:p>
                      <a:pPr marL="0" indent="0" algn="l">
                        <a:buNone/>
                      </a:pPr>
                      <a:r>
                        <a:rPr lang="en-US" sz="1100" dirty="0">
                          <a:solidFill>
                            <a:schemeClr val="tx1"/>
                          </a:solidFill>
                        </a:rPr>
                        <a:t>0,935</a:t>
                      </a:r>
                      <a:endParaRPr lang="en-US" sz="1100" dirty="0"/>
                    </a:p>
                  </a:txBody>
                  <a:tcPr marT="27432" marB="27432" anchor="ctr">
                    <a:lnL w="6350" cap="flat" cmpd="sng" algn="ctr">
                      <a:solidFill>
                        <a:srgbClr val="D3E0E8"/>
                      </a:solidFill>
                      <a:prstDash val="solid"/>
                      <a:round/>
                      <a:headEnd type="none" w="med" len="med"/>
                      <a:tailEnd type="none" w="med" len="med"/>
                    </a:lnL>
                    <a:lnR w="6350" cap="flat" cmpd="sng" algn="ctr">
                      <a:solidFill>
                        <a:srgbClr val="D3E0E8"/>
                      </a:solidFill>
                      <a:prstDash val="solid"/>
                      <a:round/>
                      <a:headEnd type="none" w="med" len="med"/>
                      <a:tailEnd type="none" w="med" len="med"/>
                    </a:lnR>
                    <a:lnT w="6350" cap="flat" cmpd="sng" algn="ctr">
                      <a:solidFill>
                        <a:srgbClr val="D3E0E8"/>
                      </a:solidFill>
                      <a:prstDash val="solid"/>
                      <a:round/>
                      <a:headEnd type="none" w="med" len="med"/>
                      <a:tailEnd type="none" w="med" len="med"/>
                    </a:lnT>
                    <a:lnB w="6350" cap="flat" cmpd="sng" algn="ctr">
                      <a:solidFill>
                        <a:srgbClr val="D3E0E8"/>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8" name="Kelas"/>
          <p:cNvSpPr/>
          <p:nvPr/>
        </p:nvSpPr>
        <p:spPr>
          <a:xfrm>
            <a:off x="5303520" y="1280160"/>
            <a:ext cx="3383280" cy="749808"/>
          </a:xfrm>
          <a:prstGeom prst="roundRect">
            <a:avLst>
              <a:gd name="adj" fmla="val 12195"/>
            </a:avLst>
          </a:prstGeom>
          <a:solidFill>
            <a:schemeClr val="bg2"/>
          </a:solidFill>
          <a:ln/>
        </p:spPr>
      </p:sp>
      <p:sp>
        <p:nvSpPr>
          <p:cNvPr id="9" name="Text 4"/>
          <p:cNvSpPr txBox="1"/>
          <p:nvPr/>
        </p:nvSpPr>
        <p:spPr>
          <a:xfrm>
            <a:off x="5440680" y="1335024"/>
            <a:ext cx="3108960" cy="237744"/>
          </a:xfrm>
          <a:prstGeom prst="rect">
            <a:avLst/>
          </a:prstGeom>
          <a:noFill/>
          <a:ln/>
        </p:spPr>
        <p:txBody>
          <a:bodyPr wrap="square" lIns="0" tIns="0" rIns="0" bIns="0" rtlCol="0" anchor="t"/>
          <a:lstStyle/>
          <a:p>
            <a:pPr marL="0" indent="0" algn="l">
              <a:buNone/>
            </a:pPr>
            <a:r>
              <a:rPr lang="en-US" sz="1400" b="1" dirty="0">
                <a:solidFill>
                  <a:schemeClr val="accent6"/>
                </a:solidFill>
              </a:rPr>
              <a:t>no tumor</a:t>
            </a:r>
            <a:endParaRPr lang="en-US" sz="1400" dirty="0"/>
          </a:p>
        </p:txBody>
      </p:sp>
      <p:sp>
        <p:nvSpPr>
          <p:cNvPr id="10" name="Text 5"/>
          <p:cNvSpPr txBox="1"/>
          <p:nvPr/>
        </p:nvSpPr>
        <p:spPr>
          <a:xfrm>
            <a:off x="5440680" y="1581912"/>
            <a:ext cx="3108960" cy="438912"/>
          </a:xfrm>
          <a:prstGeom prst="rect">
            <a:avLst/>
          </a:prstGeom>
          <a:noFill/>
          <a:ln/>
        </p:spPr>
        <p:txBody>
          <a:bodyPr wrap="square" lIns="0" tIns="0" rIns="0" bIns="0" rtlCol="0" anchor="t"/>
          <a:lstStyle/>
          <a:p>
            <a:pPr marL="0" indent="0" algn="l">
              <a:buNone/>
            </a:pPr>
            <a:r>
              <a:rPr lang="en-US" sz="1200" dirty="0">
                <a:solidFill>
                  <a:schemeClr val="tx1"/>
                </a:solidFill>
              </a:rPr>
              <a:t>Paling mudah: F1 0,967, 88 dari 90 benar</a:t>
            </a:r>
            <a:endParaRPr lang="en-US" sz="1200" dirty="0"/>
          </a:p>
        </p:txBody>
      </p:sp>
      <p:sp>
        <p:nvSpPr>
          <p:cNvPr id="11" name="Kelas"/>
          <p:cNvSpPr/>
          <p:nvPr/>
        </p:nvSpPr>
        <p:spPr>
          <a:xfrm>
            <a:off x="5303520" y="2130552"/>
            <a:ext cx="3383280" cy="749808"/>
          </a:xfrm>
          <a:prstGeom prst="roundRect">
            <a:avLst>
              <a:gd name="adj" fmla="val 12195"/>
            </a:avLst>
          </a:prstGeom>
          <a:solidFill>
            <a:schemeClr val="bg2"/>
          </a:solidFill>
          <a:ln/>
        </p:spPr>
      </p:sp>
      <p:sp>
        <p:nvSpPr>
          <p:cNvPr id="12" name="Text 7"/>
          <p:cNvSpPr txBox="1"/>
          <p:nvPr/>
        </p:nvSpPr>
        <p:spPr>
          <a:xfrm>
            <a:off x="5440680" y="2185416"/>
            <a:ext cx="3108960" cy="237744"/>
          </a:xfrm>
          <a:prstGeom prst="rect">
            <a:avLst/>
          </a:prstGeom>
          <a:noFill/>
          <a:ln/>
        </p:spPr>
        <p:txBody>
          <a:bodyPr wrap="square" lIns="0" tIns="0" rIns="0" bIns="0" rtlCol="0" anchor="t"/>
          <a:lstStyle/>
          <a:p>
            <a:pPr marL="0" indent="0" algn="l">
              <a:buNone/>
            </a:pPr>
            <a:r>
              <a:rPr lang="en-US" sz="1400" b="1" dirty="0">
                <a:solidFill>
                  <a:schemeClr val="accent4"/>
                </a:solidFill>
              </a:rPr>
              <a:t>pituitary</a:t>
            </a:r>
            <a:endParaRPr lang="en-US" sz="1400" dirty="0"/>
          </a:p>
        </p:txBody>
      </p:sp>
      <p:sp>
        <p:nvSpPr>
          <p:cNvPr id="13" name="Text 8"/>
          <p:cNvSpPr txBox="1"/>
          <p:nvPr/>
        </p:nvSpPr>
        <p:spPr>
          <a:xfrm>
            <a:off x="5440680" y="2432304"/>
            <a:ext cx="3108960" cy="438912"/>
          </a:xfrm>
          <a:prstGeom prst="rect">
            <a:avLst/>
          </a:prstGeom>
          <a:noFill/>
          <a:ln/>
        </p:spPr>
        <p:txBody>
          <a:bodyPr wrap="square" lIns="0" tIns="0" rIns="0" bIns="0" rtlCol="0" anchor="t"/>
          <a:lstStyle/>
          <a:p>
            <a:pPr marL="0" indent="0" algn="l">
              <a:buNone/>
            </a:pPr>
            <a:r>
              <a:rPr lang="en-US" sz="1200" dirty="0">
                <a:solidFill>
                  <a:schemeClr val="tx1"/>
                </a:solidFill>
              </a:rPr>
              <a:t>Cukup baik: F1 0,935, recall 0,956</a:t>
            </a:r>
            <a:endParaRPr lang="en-US" sz="1200" dirty="0"/>
          </a:p>
        </p:txBody>
      </p:sp>
      <p:sp>
        <p:nvSpPr>
          <p:cNvPr id="14" name="Kelas"/>
          <p:cNvSpPr/>
          <p:nvPr/>
        </p:nvSpPr>
        <p:spPr>
          <a:xfrm>
            <a:off x="5303520" y="2980944"/>
            <a:ext cx="3383280" cy="749808"/>
          </a:xfrm>
          <a:prstGeom prst="roundRect">
            <a:avLst>
              <a:gd name="adj" fmla="val 12195"/>
            </a:avLst>
          </a:prstGeom>
          <a:solidFill>
            <a:schemeClr val="bg2"/>
          </a:solidFill>
          <a:ln/>
        </p:spPr>
      </p:sp>
      <p:sp>
        <p:nvSpPr>
          <p:cNvPr id="15" name="Text 10"/>
          <p:cNvSpPr txBox="1"/>
          <p:nvPr/>
        </p:nvSpPr>
        <p:spPr>
          <a:xfrm>
            <a:off x="5440680" y="3035808"/>
            <a:ext cx="3108960" cy="237744"/>
          </a:xfrm>
          <a:prstGeom prst="rect">
            <a:avLst/>
          </a:prstGeom>
          <a:noFill/>
          <a:ln/>
        </p:spPr>
        <p:txBody>
          <a:bodyPr wrap="square" lIns="0" tIns="0" rIns="0" bIns="0" rtlCol="0" anchor="t"/>
          <a:lstStyle/>
          <a:p>
            <a:pPr marL="0" indent="0" algn="l">
              <a:buNone/>
            </a:pPr>
            <a:r>
              <a:rPr lang="en-US" sz="1400" b="1" dirty="0">
                <a:solidFill>
                  <a:schemeClr val="accent2"/>
                </a:solidFill>
              </a:rPr>
              <a:t>glioma</a:t>
            </a:r>
            <a:endParaRPr lang="en-US" sz="1400" dirty="0"/>
          </a:p>
        </p:txBody>
      </p:sp>
      <p:sp>
        <p:nvSpPr>
          <p:cNvPr id="16" name="Text 11"/>
          <p:cNvSpPr txBox="1"/>
          <p:nvPr/>
        </p:nvSpPr>
        <p:spPr>
          <a:xfrm>
            <a:off x="5440680" y="3282696"/>
            <a:ext cx="3108960" cy="438912"/>
          </a:xfrm>
          <a:prstGeom prst="rect">
            <a:avLst/>
          </a:prstGeom>
          <a:noFill/>
          <a:ln/>
        </p:spPr>
        <p:txBody>
          <a:bodyPr wrap="square" lIns="0" tIns="0" rIns="0" bIns="0" rtlCol="0" anchor="t"/>
          <a:lstStyle/>
          <a:p>
            <a:pPr marL="0" indent="0" algn="l">
              <a:buNone/>
            </a:pPr>
            <a:r>
              <a:rPr lang="en-US" sz="1200" dirty="0">
                <a:solidFill>
                  <a:schemeClr val="tx1"/>
                </a:solidFill>
              </a:rPr>
              <a:t>Precision 0,923 tapi recall terendah 0,800: 18 dari 90 terlewat</a:t>
            </a:r>
            <a:endParaRPr lang="en-US" sz="1200" dirty="0"/>
          </a:p>
        </p:txBody>
      </p:sp>
      <p:sp>
        <p:nvSpPr>
          <p:cNvPr id="17" name="Kelas"/>
          <p:cNvSpPr/>
          <p:nvPr/>
        </p:nvSpPr>
        <p:spPr>
          <a:xfrm>
            <a:off x="5303520" y="3831336"/>
            <a:ext cx="3383280" cy="749808"/>
          </a:xfrm>
          <a:prstGeom prst="roundRect">
            <a:avLst>
              <a:gd name="adj" fmla="val 12195"/>
            </a:avLst>
          </a:prstGeom>
          <a:solidFill>
            <a:schemeClr val="bg2"/>
          </a:solidFill>
          <a:ln/>
        </p:spPr>
      </p:sp>
      <p:sp>
        <p:nvSpPr>
          <p:cNvPr id="18" name="Text 13"/>
          <p:cNvSpPr txBox="1"/>
          <p:nvPr/>
        </p:nvSpPr>
        <p:spPr>
          <a:xfrm>
            <a:off x="5440680" y="3886200"/>
            <a:ext cx="3108960" cy="237744"/>
          </a:xfrm>
          <a:prstGeom prst="rect">
            <a:avLst/>
          </a:prstGeom>
          <a:noFill/>
          <a:ln/>
        </p:spPr>
        <p:txBody>
          <a:bodyPr wrap="square" lIns="0" tIns="0" rIns="0" bIns="0" rtlCol="0" anchor="t"/>
          <a:lstStyle/>
          <a:p>
            <a:pPr marL="0" indent="0" algn="l">
              <a:buNone/>
            </a:pPr>
            <a:r>
              <a:rPr lang="en-US" sz="1400" b="1" dirty="0">
                <a:solidFill>
                  <a:schemeClr val="accent1"/>
                </a:solidFill>
              </a:rPr>
              <a:t>meningioma</a:t>
            </a:r>
            <a:endParaRPr lang="en-US" sz="1400" dirty="0"/>
          </a:p>
        </p:txBody>
      </p:sp>
      <p:sp>
        <p:nvSpPr>
          <p:cNvPr id="19" name="Text 14"/>
          <p:cNvSpPr txBox="1"/>
          <p:nvPr/>
        </p:nvSpPr>
        <p:spPr>
          <a:xfrm>
            <a:off x="5440680" y="4133088"/>
            <a:ext cx="3108960" cy="438912"/>
          </a:xfrm>
          <a:prstGeom prst="rect">
            <a:avLst/>
          </a:prstGeom>
          <a:noFill/>
          <a:ln/>
        </p:spPr>
        <p:txBody>
          <a:bodyPr wrap="square" lIns="0" tIns="0" rIns="0" bIns="0" rtlCol="0" anchor="t"/>
          <a:lstStyle/>
          <a:p>
            <a:pPr marL="0" indent="0" algn="l">
              <a:buNone/>
            </a:pPr>
            <a:r>
              <a:rPr lang="en-US" sz="1200" dirty="0">
                <a:solidFill>
                  <a:schemeClr val="tx1"/>
                </a:solidFill>
              </a:rPr>
              <a:t>Precision terendah 0,833: 16 tebakan keliru masuk ke sini</a:t>
            </a:r>
            <a:endParaRPr lang="en-US" sz="12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Confusion matrix dan analisis kesalahan</a:t>
            </a:r>
            <a:endParaRPr lang="en-US" sz="2800" dirty="0"/>
          </a:p>
        </p:txBody>
      </p:sp>
      <p:sp>
        <p:nvSpPr>
          <p:cNvPr id="5" name="Frame"/>
          <p:cNvSpPr/>
          <p:nvPr/>
        </p:nvSpPr>
        <p:spPr>
          <a:xfrm>
            <a:off x="411480" y="1425000"/>
            <a:ext cx="3840480" cy="3093601"/>
          </a:xfrm>
          <a:prstGeom prst="rect">
            <a:avLst/>
          </a:prstGeom>
          <a:solidFill>
            <a:schemeClr val="bg1"/>
          </a:solidFill>
          <a:ln w="12700">
            <a:solidFill>
              <a:schemeClr val="bg2"/>
            </a:solidFill>
            <a:prstDash val="solid"/>
          </a:ln>
        </p:spPr>
      </p:sp>
      <p:pic>
        <p:nvPicPr>
          <p:cNvPr id="6" name="Gambar 15" descr="/tmp/claude-0/-home-claude/949ac0f0-f744-5c10-baa6-0b053e3f7a1d/scratchpad/doc/img/image15.png"/>
          <p:cNvPicPr>
            <a:picLocks noChangeAspect="1"/>
          </p:cNvPicPr>
          <p:nvPr/>
        </p:nvPicPr>
        <p:blipFill>
          <a:blip r:embed="rId3"/>
          <a:stretch>
            <a:fillRect/>
          </a:stretch>
        </p:blipFill>
        <p:spPr>
          <a:xfrm>
            <a:off x="457200" y="1470720"/>
            <a:ext cx="3749040" cy="3002161"/>
          </a:xfrm>
          <a:prstGeom prst="rect">
            <a:avLst/>
          </a:prstGeom>
        </p:spPr>
      </p:pic>
      <p:sp>
        <p:nvSpPr>
          <p:cNvPr id="7" name="Stat"/>
          <p:cNvSpPr/>
          <p:nvPr/>
        </p:nvSpPr>
        <p:spPr>
          <a:xfrm>
            <a:off x="4480560" y="1280160"/>
            <a:ext cx="1737360" cy="1371600"/>
          </a:xfrm>
          <a:prstGeom prst="roundRect">
            <a:avLst>
              <a:gd name="adj" fmla="val 6667"/>
            </a:avLst>
          </a:prstGeom>
          <a:solidFill>
            <a:schemeClr val="bg2"/>
          </a:solidFill>
          <a:ln/>
        </p:spPr>
      </p:sp>
      <p:sp>
        <p:nvSpPr>
          <p:cNvPr id="8" name="Text 4"/>
          <p:cNvSpPr txBox="1"/>
          <p:nvPr/>
        </p:nvSpPr>
        <p:spPr>
          <a:xfrm>
            <a:off x="4590288" y="1371600"/>
            <a:ext cx="1517904" cy="713232"/>
          </a:xfrm>
          <a:prstGeom prst="rect">
            <a:avLst/>
          </a:prstGeom>
          <a:noFill/>
          <a:ln/>
        </p:spPr>
        <p:txBody>
          <a:bodyPr wrap="square" lIns="0" tIns="0" rIns="0" bIns="0" rtlCol="0" anchor="ctr"/>
          <a:lstStyle/>
          <a:p>
            <a:pPr marL="0" indent="0" algn="ctr">
              <a:buNone/>
            </a:pPr>
            <a:r>
              <a:rPr lang="en-US" sz="3800" b="1" dirty="0">
                <a:solidFill>
                  <a:schemeClr val="accent2"/>
                </a:solidFill>
                <a:latin typeface="Cambria" pitchFamily="34" charset="0"/>
                <a:ea typeface="Cambria" pitchFamily="34" charset="-122"/>
                <a:cs typeface="Cambria" pitchFamily="34" charset="-120"/>
              </a:rPr>
              <a:t>13</a:t>
            </a:r>
            <a:endParaRPr lang="en-US" sz="3800" dirty="0"/>
          </a:p>
        </p:txBody>
      </p:sp>
      <p:sp>
        <p:nvSpPr>
          <p:cNvPr id="9" name="Text 5"/>
          <p:cNvSpPr txBox="1"/>
          <p:nvPr/>
        </p:nvSpPr>
        <p:spPr>
          <a:xfrm>
            <a:off x="4590288" y="2103120"/>
            <a:ext cx="1517904" cy="493776"/>
          </a:xfrm>
          <a:prstGeom prst="rect">
            <a:avLst/>
          </a:prstGeom>
          <a:noFill/>
          <a:ln/>
        </p:spPr>
        <p:txBody>
          <a:bodyPr wrap="square" lIns="0" tIns="0" rIns="0" bIns="0" rtlCol="0" anchor="t"/>
          <a:lstStyle/>
          <a:p>
            <a:pPr marL="0" indent="0" algn="ctr">
              <a:buNone/>
            </a:pPr>
            <a:r>
              <a:rPr lang="en-US" sz="1200" dirty="0">
                <a:solidFill>
                  <a:schemeClr val="tx1"/>
                </a:solidFill>
              </a:rPr>
              <a:t>glioma ditebak meningioma</a:t>
            </a:r>
            <a:endParaRPr lang="en-US" sz="1200" dirty="0"/>
          </a:p>
        </p:txBody>
      </p:sp>
      <p:sp>
        <p:nvSpPr>
          <p:cNvPr id="10" name="Info"/>
          <p:cNvSpPr/>
          <p:nvPr/>
        </p:nvSpPr>
        <p:spPr>
          <a:xfrm>
            <a:off x="6355080" y="1280160"/>
            <a:ext cx="2331720" cy="1371600"/>
          </a:xfrm>
          <a:prstGeom prst="roundRect">
            <a:avLst>
              <a:gd name="adj" fmla="val 6667"/>
            </a:avLst>
          </a:prstGeom>
          <a:solidFill>
            <a:schemeClr val="bg2"/>
          </a:solidFill>
          <a:ln/>
        </p:spPr>
      </p:sp>
      <p:sp>
        <p:nvSpPr>
          <p:cNvPr id="11" name="Text 7"/>
          <p:cNvSpPr txBox="1"/>
          <p:nvPr/>
        </p:nvSpPr>
        <p:spPr>
          <a:xfrm>
            <a:off x="6492240" y="1325880"/>
            <a:ext cx="2057400" cy="1280160"/>
          </a:xfrm>
          <a:prstGeom prst="rect">
            <a:avLst/>
          </a:prstGeom>
          <a:noFill/>
          <a:ln/>
        </p:spPr>
        <p:txBody>
          <a:bodyPr wrap="square" lIns="0" tIns="0" rIns="0" bIns="0" rtlCol="0" anchor="ctr"/>
          <a:lstStyle/>
          <a:p>
            <a:pPr marL="0" indent="0" algn="l">
              <a:buNone/>
            </a:pPr>
            <a:r>
              <a:rPr lang="en-US" sz="1400" dirty="0">
                <a:solidFill>
                  <a:schemeClr val="tx1"/>
                </a:solidFill>
              </a:rPr>
              <a:t>≈ 72% dari 18 glioma yang terlewat adalah tertukar ke meningioma.</a:t>
            </a:r>
            <a:endParaRPr lang="en-US" sz="1400" dirty="0"/>
          </a:p>
        </p:txBody>
      </p:sp>
      <p:sp>
        <p:nvSpPr>
          <p:cNvPr id="12" name="Peringatan"/>
          <p:cNvSpPr/>
          <p:nvPr/>
        </p:nvSpPr>
        <p:spPr>
          <a:xfrm>
            <a:off x="4480560" y="2788920"/>
            <a:ext cx="4206240" cy="1097280"/>
          </a:xfrm>
          <a:prstGeom prst="roundRect">
            <a:avLst>
              <a:gd name="adj" fmla="val 8333"/>
            </a:avLst>
          </a:prstGeom>
          <a:solidFill>
            <a:srgbClr val="FBE4DE"/>
          </a:solidFill>
          <a:ln/>
        </p:spPr>
      </p:sp>
      <p:sp>
        <p:nvSpPr>
          <p:cNvPr id="13" name="Text 9"/>
          <p:cNvSpPr txBox="1"/>
          <p:nvPr/>
        </p:nvSpPr>
        <p:spPr>
          <a:xfrm>
            <a:off x="4617720" y="2834640"/>
            <a:ext cx="3931920" cy="1005840"/>
          </a:xfrm>
          <a:prstGeom prst="rect">
            <a:avLst/>
          </a:prstGeom>
          <a:noFill/>
          <a:ln/>
        </p:spPr>
        <p:txBody>
          <a:bodyPr wrap="square" lIns="0" tIns="0" rIns="0" bIns="0" rtlCol="0" anchor="ctr"/>
          <a:lstStyle/>
          <a:p>
            <a:pPr marL="0" indent="0" algn="l">
              <a:buNone/>
            </a:pPr>
            <a:r>
              <a:rPr lang="en-US" sz="1400" b="1" dirty="0">
                <a:solidFill>
                  <a:schemeClr val="accent2"/>
                </a:solidFill>
              </a:rPr>
              <a:t>4 gambar bertumor ditebak no tumor </a:t>
            </a:r>
            <a:r>
              <a:rPr lang="en-US" sz="1400" dirty="0">
                <a:solidFill>
                  <a:schemeClr val="tx1"/>
                </a:solidFill>
              </a:rPr>
              <a:t>(2 glioma, 2 meningioma), ≈ 1,5% dari 270 gambar bertumor.</a:t>
            </a:r>
            <a:endParaRPr lang="en-US" sz="1400" dirty="0"/>
          </a:p>
        </p:txBody>
      </p:sp>
      <p:sp>
        <p:nvSpPr>
          <p:cNvPr id="14" name="Text 10"/>
          <p:cNvSpPr txBox="1"/>
          <p:nvPr/>
        </p:nvSpPr>
        <p:spPr>
          <a:xfrm>
            <a:off x="4480560" y="4023360"/>
            <a:ext cx="4206240" cy="640080"/>
          </a:xfrm>
          <a:prstGeom prst="rect">
            <a:avLst/>
          </a:prstGeom>
          <a:noFill/>
          <a:ln/>
        </p:spPr>
        <p:txBody>
          <a:bodyPr wrap="square" lIns="0" tIns="0" rIns="0" bIns="0" rtlCol="0" anchor="t"/>
          <a:lstStyle/>
          <a:p>
            <a:pPr marL="0" indent="0" algn="l">
              <a:buNone/>
            </a:pPr>
            <a:r>
              <a:rPr lang="en-US" sz="1300" i="1" dirty="0">
                <a:solidFill>
                  <a:schemeClr val="accent4"/>
                </a:solidFill>
              </a:rPr>
              <a:t>Tumor yang terlewat bisa menunda penanganan, jenis kesalahan yang paling perlu diwaspadai.</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457200" y="237744"/>
            <a:ext cx="6400800" cy="228600"/>
          </a:xfrm>
          <a:prstGeom prst="rect">
            <a:avLst/>
          </a:prstGeom>
          <a:noFill/>
          <a:ln/>
        </p:spPr>
        <p:txBody>
          <a:bodyPr wrap="square" lIns="0" tIns="0" rIns="0" bIns="0" rtlCol="0" anchor="t"/>
          <a:lstStyle/>
          <a:p>
            <a:pPr marL="0" indent="0" algn="l">
              <a:buNone/>
            </a:pPr>
            <a:endParaRPr lang="en-US" sz="1100" dirty="0"/>
          </a:p>
        </p:txBody>
      </p:sp>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Kurva pelatihan model champion</a:t>
            </a:r>
            <a:endParaRPr lang="en-US" sz="2800" dirty="0"/>
          </a:p>
        </p:txBody>
      </p:sp>
      <p:sp>
        <p:nvSpPr>
          <p:cNvPr id="5" name="Frame"/>
          <p:cNvSpPr/>
          <p:nvPr/>
        </p:nvSpPr>
        <p:spPr>
          <a:xfrm>
            <a:off x="465711" y="1234440"/>
            <a:ext cx="4006339" cy="2194560"/>
          </a:xfrm>
          <a:prstGeom prst="rect">
            <a:avLst/>
          </a:prstGeom>
          <a:solidFill>
            <a:schemeClr val="bg1"/>
          </a:solidFill>
          <a:ln w="12700">
            <a:solidFill>
              <a:schemeClr val="bg2"/>
            </a:solidFill>
            <a:prstDash val="solid"/>
          </a:ln>
        </p:spPr>
      </p:sp>
      <p:pic>
        <p:nvPicPr>
          <p:cNvPr id="6" name="Gambar 16" descr="/tmp/claude-0/-home-claude/949ac0f0-f744-5c10-baa6-0b053e3f7a1d/scratchpad/doc/img/image16.png"/>
          <p:cNvPicPr>
            <a:picLocks noChangeAspect="1"/>
          </p:cNvPicPr>
          <p:nvPr/>
        </p:nvPicPr>
        <p:blipFill>
          <a:blip r:embed="rId3"/>
          <a:stretch>
            <a:fillRect/>
          </a:stretch>
        </p:blipFill>
        <p:spPr>
          <a:xfrm>
            <a:off x="511431" y="1280160"/>
            <a:ext cx="3914899" cy="2103120"/>
          </a:xfrm>
          <a:prstGeom prst="rect">
            <a:avLst/>
          </a:prstGeom>
        </p:spPr>
      </p:pic>
      <p:sp>
        <p:nvSpPr>
          <p:cNvPr id="7" name="Frame"/>
          <p:cNvSpPr/>
          <p:nvPr/>
        </p:nvSpPr>
        <p:spPr>
          <a:xfrm>
            <a:off x="4680167" y="1234440"/>
            <a:ext cx="3989906" cy="2194560"/>
          </a:xfrm>
          <a:prstGeom prst="rect">
            <a:avLst/>
          </a:prstGeom>
          <a:solidFill>
            <a:schemeClr val="bg1"/>
          </a:solidFill>
          <a:ln w="12700">
            <a:solidFill>
              <a:schemeClr val="bg2"/>
            </a:solidFill>
            <a:prstDash val="solid"/>
          </a:ln>
        </p:spPr>
      </p:sp>
      <p:pic>
        <p:nvPicPr>
          <p:cNvPr id="8" name="Gambar 17" descr="/tmp/claude-0/-home-claude/949ac0f0-f744-5c10-baa6-0b053e3f7a1d/scratchpad/doc/img/image17.png"/>
          <p:cNvPicPr>
            <a:picLocks noChangeAspect="1"/>
          </p:cNvPicPr>
          <p:nvPr/>
        </p:nvPicPr>
        <p:blipFill>
          <a:blip r:embed="rId4"/>
          <a:stretch>
            <a:fillRect/>
          </a:stretch>
        </p:blipFill>
        <p:spPr>
          <a:xfrm>
            <a:off x="4725887" y="1280160"/>
            <a:ext cx="3898466" cy="2103120"/>
          </a:xfrm>
          <a:prstGeom prst="rect">
            <a:avLst/>
          </a:prstGeom>
        </p:spPr>
      </p:pic>
      <p:sp>
        <p:nvSpPr>
          <p:cNvPr id="9" name="Text 4"/>
          <p:cNvSpPr txBox="1"/>
          <p:nvPr/>
        </p:nvSpPr>
        <p:spPr>
          <a:xfrm>
            <a:off x="457200" y="3429000"/>
            <a:ext cx="4023360" cy="228600"/>
          </a:xfrm>
          <a:prstGeom prst="rect">
            <a:avLst/>
          </a:prstGeom>
          <a:noFill/>
          <a:ln/>
        </p:spPr>
        <p:txBody>
          <a:bodyPr wrap="square" lIns="0" tIns="0" rIns="0" bIns="0" rtlCol="0" anchor="t"/>
          <a:lstStyle/>
          <a:p>
            <a:pPr marL="0" indent="0" algn="ctr">
              <a:buNone/>
            </a:pPr>
            <a:r>
              <a:rPr lang="en-US" sz="1100" i="1" dirty="0">
                <a:solidFill>
                  <a:schemeClr val="accent4"/>
                </a:solidFill>
              </a:rPr>
              <a:t>Training vs validation accuracy</a:t>
            </a:r>
            <a:endParaRPr lang="en-US" sz="1100" dirty="0"/>
          </a:p>
        </p:txBody>
      </p:sp>
      <p:sp>
        <p:nvSpPr>
          <p:cNvPr id="10" name="Text 5"/>
          <p:cNvSpPr txBox="1"/>
          <p:nvPr/>
        </p:nvSpPr>
        <p:spPr>
          <a:xfrm>
            <a:off x="4663440" y="3429000"/>
            <a:ext cx="4023360" cy="228600"/>
          </a:xfrm>
          <a:prstGeom prst="rect">
            <a:avLst/>
          </a:prstGeom>
          <a:noFill/>
          <a:ln/>
        </p:spPr>
        <p:txBody>
          <a:bodyPr wrap="square" lIns="0" tIns="0" rIns="0" bIns="0" rtlCol="0" anchor="t"/>
          <a:lstStyle/>
          <a:p>
            <a:pPr marL="0" indent="0" algn="ctr">
              <a:buNone/>
            </a:pPr>
            <a:r>
              <a:rPr lang="en-US" sz="1100" i="1" dirty="0">
                <a:solidFill>
                  <a:schemeClr val="accent4"/>
                </a:solidFill>
              </a:rPr>
              <a:t>Training vs validation loss</a:t>
            </a:r>
            <a:endParaRPr lang="en-US" sz="1100" dirty="0"/>
          </a:p>
        </p:txBody>
      </p:sp>
      <p:sp>
        <p:nvSpPr>
          <p:cNvPr id="11" name="Poin"/>
          <p:cNvSpPr/>
          <p:nvPr/>
        </p:nvSpPr>
        <p:spPr>
          <a:xfrm>
            <a:off x="457200" y="3703320"/>
            <a:ext cx="2651760" cy="960120"/>
          </a:xfrm>
          <a:prstGeom prst="roundRect">
            <a:avLst>
              <a:gd name="adj" fmla="val 9524"/>
            </a:avLst>
          </a:prstGeom>
          <a:solidFill>
            <a:schemeClr val="bg2"/>
          </a:solidFill>
          <a:ln/>
        </p:spPr>
      </p:sp>
      <p:sp>
        <p:nvSpPr>
          <p:cNvPr id="12" name="Text 7"/>
          <p:cNvSpPr txBox="1"/>
          <p:nvPr/>
        </p:nvSpPr>
        <p:spPr>
          <a:xfrm>
            <a:off x="594360" y="3749040"/>
            <a:ext cx="2377440" cy="256032"/>
          </a:xfrm>
          <a:prstGeom prst="rect">
            <a:avLst/>
          </a:prstGeom>
          <a:noFill/>
          <a:ln/>
        </p:spPr>
        <p:txBody>
          <a:bodyPr wrap="square" lIns="0" tIns="0" rIns="0" bIns="0" rtlCol="0" anchor="t"/>
          <a:lstStyle/>
          <a:p>
            <a:pPr marL="0" indent="0" algn="l">
              <a:buNone/>
            </a:pPr>
            <a:r>
              <a:rPr lang="en-US" sz="1400" b="1" dirty="0">
                <a:solidFill>
                  <a:schemeClr val="accent1"/>
                </a:solidFill>
              </a:rPr>
              <a:t>Belum konvergen</a:t>
            </a:r>
            <a:endParaRPr lang="en-US" sz="1400" dirty="0"/>
          </a:p>
        </p:txBody>
      </p:sp>
      <p:sp>
        <p:nvSpPr>
          <p:cNvPr id="13" name="Text 8"/>
          <p:cNvSpPr txBox="1"/>
          <p:nvPr/>
        </p:nvSpPr>
        <p:spPr>
          <a:xfrm>
            <a:off x="594360" y="4023360"/>
            <a:ext cx="2377440" cy="621792"/>
          </a:xfrm>
          <a:prstGeom prst="rect">
            <a:avLst/>
          </a:prstGeom>
          <a:noFill/>
          <a:ln/>
        </p:spPr>
        <p:txBody>
          <a:bodyPr wrap="square" lIns="0" tIns="0" rIns="0" bIns="0" rtlCol="0" anchor="t"/>
          <a:lstStyle/>
          <a:p>
            <a:pPr marL="0" indent="0" algn="l">
              <a:buNone/>
            </a:pPr>
            <a:r>
              <a:rPr lang="en-US" sz="1200" dirty="0">
                <a:solidFill>
                  <a:schemeClr val="tx1"/>
                </a:solidFill>
              </a:rPr>
              <a:t>Loss turun, akurasi naik, belum mendatar di epoch 20.</a:t>
            </a:r>
            <a:endParaRPr lang="en-US" sz="1200" dirty="0"/>
          </a:p>
        </p:txBody>
      </p:sp>
      <p:sp>
        <p:nvSpPr>
          <p:cNvPr id="14" name="Poin"/>
          <p:cNvSpPr/>
          <p:nvPr/>
        </p:nvSpPr>
        <p:spPr>
          <a:xfrm>
            <a:off x="3246120" y="3703320"/>
            <a:ext cx="2651760" cy="960120"/>
          </a:xfrm>
          <a:prstGeom prst="roundRect">
            <a:avLst>
              <a:gd name="adj" fmla="val 9524"/>
            </a:avLst>
          </a:prstGeom>
          <a:solidFill>
            <a:schemeClr val="bg2"/>
          </a:solidFill>
          <a:ln/>
        </p:spPr>
      </p:sp>
      <p:sp>
        <p:nvSpPr>
          <p:cNvPr id="15" name="Text 10"/>
          <p:cNvSpPr txBox="1"/>
          <p:nvPr/>
        </p:nvSpPr>
        <p:spPr>
          <a:xfrm>
            <a:off x="3383280" y="3749040"/>
            <a:ext cx="2377440" cy="256032"/>
          </a:xfrm>
          <a:prstGeom prst="rect">
            <a:avLst/>
          </a:prstGeom>
          <a:noFill/>
          <a:ln/>
        </p:spPr>
        <p:txBody>
          <a:bodyPr wrap="square" lIns="0" tIns="0" rIns="0" bIns="0" rtlCol="0" anchor="t"/>
          <a:lstStyle/>
          <a:p>
            <a:pPr marL="0" indent="0" algn="l">
              <a:buNone/>
            </a:pPr>
            <a:r>
              <a:rPr lang="en-US" sz="1400" b="1" dirty="0">
                <a:solidFill>
                  <a:schemeClr val="accent4"/>
                </a:solidFill>
              </a:rPr>
              <a:t>Overfitting ringan</a:t>
            </a:r>
            <a:endParaRPr lang="en-US" sz="1400" dirty="0"/>
          </a:p>
        </p:txBody>
      </p:sp>
      <p:sp>
        <p:nvSpPr>
          <p:cNvPr id="16" name="Text 11"/>
          <p:cNvSpPr txBox="1"/>
          <p:nvPr/>
        </p:nvSpPr>
        <p:spPr>
          <a:xfrm>
            <a:off x="3383280" y="4023360"/>
            <a:ext cx="2377440" cy="621792"/>
          </a:xfrm>
          <a:prstGeom prst="rect">
            <a:avLst/>
          </a:prstGeom>
          <a:noFill/>
          <a:ln/>
        </p:spPr>
        <p:txBody>
          <a:bodyPr wrap="square" lIns="0" tIns="0" rIns="0" bIns="0" rtlCol="0" anchor="t"/>
          <a:lstStyle/>
          <a:p>
            <a:pPr marL="0" indent="0" algn="l">
              <a:buNone/>
            </a:pPr>
            <a:r>
              <a:rPr lang="en-US" sz="1200" dirty="0">
                <a:solidFill>
                  <a:schemeClr val="tx1"/>
                </a:solidFill>
              </a:rPr>
              <a:t>Selisih akurasi latih–validasi 0,0596 (≈ 6 poin).</a:t>
            </a:r>
            <a:endParaRPr lang="en-US" sz="1200" dirty="0"/>
          </a:p>
        </p:txBody>
      </p:sp>
      <p:sp>
        <p:nvSpPr>
          <p:cNvPr id="17" name="Poin"/>
          <p:cNvSpPr/>
          <p:nvPr/>
        </p:nvSpPr>
        <p:spPr>
          <a:xfrm>
            <a:off x="6035040" y="3703320"/>
            <a:ext cx="2651760" cy="960120"/>
          </a:xfrm>
          <a:prstGeom prst="roundRect">
            <a:avLst>
              <a:gd name="adj" fmla="val 9524"/>
            </a:avLst>
          </a:prstGeom>
          <a:solidFill>
            <a:schemeClr val="bg2"/>
          </a:solidFill>
          <a:ln/>
        </p:spPr>
      </p:sp>
      <p:sp>
        <p:nvSpPr>
          <p:cNvPr id="18" name="Text 13"/>
          <p:cNvSpPr txBox="1"/>
          <p:nvPr/>
        </p:nvSpPr>
        <p:spPr>
          <a:xfrm>
            <a:off x="6172200" y="3749040"/>
            <a:ext cx="2377440" cy="256032"/>
          </a:xfrm>
          <a:prstGeom prst="rect">
            <a:avLst/>
          </a:prstGeom>
          <a:noFill/>
          <a:ln/>
        </p:spPr>
        <p:txBody>
          <a:bodyPr wrap="square" lIns="0" tIns="0" rIns="0" bIns="0" rtlCol="0" anchor="t"/>
          <a:lstStyle/>
          <a:p>
            <a:pPr marL="0" indent="0" algn="l">
              <a:buNone/>
            </a:pPr>
            <a:r>
              <a:rPr lang="en-US" sz="1400" b="1" dirty="0">
                <a:solidFill>
                  <a:schemeClr val="accent2"/>
                </a:solidFill>
              </a:rPr>
              <a:t>Catatan</a:t>
            </a:r>
            <a:endParaRPr lang="en-US" sz="1400" dirty="0"/>
          </a:p>
        </p:txBody>
      </p:sp>
      <p:sp>
        <p:nvSpPr>
          <p:cNvPr id="19" name="Text 14"/>
          <p:cNvSpPr txBox="1"/>
          <p:nvPr/>
        </p:nvSpPr>
        <p:spPr>
          <a:xfrm>
            <a:off x="6172200" y="4023360"/>
            <a:ext cx="2377440" cy="621792"/>
          </a:xfrm>
          <a:prstGeom prst="rect">
            <a:avLst/>
          </a:prstGeom>
          <a:noFill/>
          <a:ln/>
        </p:spPr>
        <p:txBody>
          <a:bodyPr wrap="square" lIns="0" tIns="0" rIns="0" bIns="0" rtlCol="0" anchor="t"/>
          <a:lstStyle/>
          <a:p>
            <a:pPr marL="0" indent="0" algn="l">
              <a:buNone/>
            </a:pPr>
            <a:r>
              <a:rPr lang="en-US" sz="1200" dirty="0">
                <a:solidFill>
                  <a:schemeClr val="tx1"/>
                </a:solidFill>
              </a:rPr>
              <a:t>Kurva ini dari dropout 0,5, bukan 0,3 milik champion.</a:t>
            </a:r>
            <a:endParaRPr lang="en-US" sz="12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Visualisasi prediksi model</a:t>
            </a:r>
            <a:endParaRPr lang="en-US" sz="2800" dirty="0"/>
          </a:p>
        </p:txBody>
      </p:sp>
      <p:sp>
        <p:nvSpPr>
          <p:cNvPr id="5" name="Frame"/>
          <p:cNvSpPr/>
          <p:nvPr/>
        </p:nvSpPr>
        <p:spPr>
          <a:xfrm>
            <a:off x="411480" y="1572652"/>
            <a:ext cx="3200400" cy="2752576"/>
          </a:xfrm>
          <a:prstGeom prst="rect">
            <a:avLst/>
          </a:prstGeom>
          <a:solidFill>
            <a:schemeClr val="bg1"/>
          </a:solidFill>
          <a:ln w="12700">
            <a:solidFill>
              <a:schemeClr val="bg2"/>
            </a:solidFill>
            <a:prstDash val="solid"/>
          </a:ln>
        </p:spPr>
      </p:sp>
      <p:pic>
        <p:nvPicPr>
          <p:cNvPr id="6" name="Gambar 18" descr="/tmp/claude-0/-home-claude/949ac0f0-f744-5c10-baa6-0b053e3f7a1d/scratchpad/doc/img/image18.png"/>
          <p:cNvPicPr>
            <a:picLocks noChangeAspect="1"/>
          </p:cNvPicPr>
          <p:nvPr/>
        </p:nvPicPr>
        <p:blipFill>
          <a:blip r:embed="rId3"/>
          <a:stretch>
            <a:fillRect/>
          </a:stretch>
        </p:blipFill>
        <p:spPr>
          <a:xfrm>
            <a:off x="457200" y="1618372"/>
            <a:ext cx="3108960" cy="2661136"/>
          </a:xfrm>
          <a:prstGeom prst="rect">
            <a:avLst/>
          </a:prstGeom>
        </p:spPr>
      </p:pic>
      <p:sp>
        <p:nvSpPr>
          <p:cNvPr id="7" name="Frame"/>
          <p:cNvSpPr/>
          <p:nvPr/>
        </p:nvSpPr>
        <p:spPr>
          <a:xfrm>
            <a:off x="3794760" y="1234440"/>
            <a:ext cx="3108960" cy="1965960"/>
          </a:xfrm>
          <a:prstGeom prst="rect">
            <a:avLst/>
          </a:prstGeom>
          <a:solidFill>
            <a:schemeClr val="bg1"/>
          </a:solidFill>
          <a:ln w="12700">
            <a:solidFill>
              <a:schemeClr val="bg2"/>
            </a:solidFill>
            <a:prstDash val="solid"/>
          </a:ln>
        </p:spPr>
      </p:sp>
      <p:pic>
        <p:nvPicPr>
          <p:cNvPr id="8" name="Gambar 19" descr="/tmp/claude-0/-home-claude/949ac0f0-f744-5c10-baa6-0b053e3f7a1d/scratchpad/doc/img/image19.png"/>
          <p:cNvPicPr>
            <a:picLocks noChangeAspect="1"/>
          </p:cNvPicPr>
          <p:nvPr/>
        </p:nvPicPr>
        <p:blipFill>
          <a:blip r:embed="rId4"/>
          <a:stretch>
            <a:fillRect/>
          </a:stretch>
        </p:blipFill>
        <p:spPr>
          <a:xfrm>
            <a:off x="3840480" y="1280160"/>
            <a:ext cx="3017520" cy="1874520"/>
          </a:xfrm>
          <a:prstGeom prst="rect">
            <a:avLst/>
          </a:prstGeom>
        </p:spPr>
      </p:pic>
      <p:sp>
        <p:nvSpPr>
          <p:cNvPr id="9" name="Stat"/>
          <p:cNvSpPr/>
          <p:nvPr/>
        </p:nvSpPr>
        <p:spPr>
          <a:xfrm>
            <a:off x="7040880" y="1280160"/>
            <a:ext cx="1645920" cy="1874520"/>
          </a:xfrm>
          <a:prstGeom prst="roundRect">
            <a:avLst>
              <a:gd name="adj" fmla="val 5556"/>
            </a:avLst>
          </a:prstGeom>
          <a:solidFill>
            <a:schemeClr val="bg2"/>
          </a:solidFill>
          <a:ln/>
        </p:spPr>
      </p:sp>
      <p:sp>
        <p:nvSpPr>
          <p:cNvPr id="10" name="Text 5"/>
          <p:cNvSpPr txBox="1"/>
          <p:nvPr/>
        </p:nvSpPr>
        <p:spPr>
          <a:xfrm>
            <a:off x="7150608" y="1371600"/>
            <a:ext cx="1426464" cy="974750"/>
          </a:xfrm>
          <a:prstGeom prst="rect">
            <a:avLst/>
          </a:prstGeom>
          <a:noFill/>
          <a:ln/>
        </p:spPr>
        <p:txBody>
          <a:bodyPr wrap="square" lIns="0" tIns="0" rIns="0" bIns="0" rtlCol="0" anchor="ctr"/>
          <a:lstStyle/>
          <a:p>
            <a:pPr marL="0" indent="0" algn="ctr">
              <a:buNone/>
            </a:pPr>
            <a:r>
              <a:rPr lang="en-US" sz="2200" b="1" dirty="0">
                <a:solidFill>
                  <a:schemeClr val="accent1"/>
                </a:solidFill>
                <a:latin typeface="Cambria" pitchFamily="34" charset="0"/>
                <a:ea typeface="Cambria" pitchFamily="34" charset="-122"/>
                <a:cs typeface="Cambria" pitchFamily="34" charset="-120"/>
              </a:rPr>
              <a:t>88,57%</a:t>
            </a:r>
            <a:endParaRPr lang="en-US" sz="2200" dirty="0"/>
          </a:p>
        </p:txBody>
      </p:sp>
      <p:sp>
        <p:nvSpPr>
          <p:cNvPr id="11" name="Text 6"/>
          <p:cNvSpPr txBox="1"/>
          <p:nvPr/>
        </p:nvSpPr>
        <p:spPr>
          <a:xfrm>
            <a:off x="7150608" y="2404872"/>
            <a:ext cx="1426464" cy="674827"/>
          </a:xfrm>
          <a:prstGeom prst="rect">
            <a:avLst/>
          </a:prstGeom>
          <a:noFill/>
          <a:ln/>
        </p:spPr>
        <p:txBody>
          <a:bodyPr wrap="square" lIns="0" tIns="0" rIns="0" bIns="0" rtlCol="0" anchor="t"/>
          <a:lstStyle/>
          <a:p>
            <a:pPr marL="0" indent="0" algn="ctr">
              <a:buNone/>
            </a:pPr>
            <a:r>
              <a:rPr lang="en-US" sz="1200" dirty="0">
                <a:solidFill>
                  <a:schemeClr val="tx1"/>
                </a:solidFill>
              </a:rPr>
              <a:t>rata-rata keyakinan model</a:t>
            </a:r>
            <a:endParaRPr lang="en-US" sz="1200" dirty="0"/>
          </a:p>
        </p:txBody>
      </p:sp>
      <p:sp>
        <p:nvSpPr>
          <p:cNvPr id="12" name="Info"/>
          <p:cNvSpPr/>
          <p:nvPr/>
        </p:nvSpPr>
        <p:spPr>
          <a:xfrm>
            <a:off x="3840480" y="3337560"/>
            <a:ext cx="2331720" cy="1325880"/>
          </a:xfrm>
          <a:prstGeom prst="roundRect">
            <a:avLst>
              <a:gd name="adj" fmla="val 6897"/>
            </a:avLst>
          </a:prstGeom>
          <a:solidFill>
            <a:schemeClr val="bg2"/>
          </a:solidFill>
          <a:ln/>
        </p:spPr>
      </p:sp>
      <p:sp>
        <p:nvSpPr>
          <p:cNvPr id="13" name="Text 8"/>
          <p:cNvSpPr txBox="1"/>
          <p:nvPr/>
        </p:nvSpPr>
        <p:spPr>
          <a:xfrm>
            <a:off x="3977640" y="3401568"/>
            <a:ext cx="2103120" cy="1188720"/>
          </a:xfrm>
          <a:prstGeom prst="rect">
            <a:avLst/>
          </a:prstGeom>
          <a:noFill/>
          <a:ln/>
        </p:spPr>
        <p:txBody>
          <a:bodyPr wrap="square" lIns="0" tIns="0" rIns="0" bIns="0" rtlCol="0" anchor="ctr"/>
          <a:lstStyle/>
          <a:p>
            <a:pPr marL="0" indent="0" algn="l">
              <a:buNone/>
            </a:pPr>
            <a:r>
              <a:rPr lang="en-US" sz="1300" b="1" dirty="0">
                <a:solidFill>
                  <a:schemeClr val="accent1"/>
                </a:solidFill>
              </a:rPr>
              <a:t>Tebakan vs sebenarnya</a:t>
            </a:r>
            <a:endParaRPr lang="en-US" sz="1300" dirty="0"/>
          </a:p>
          <a:p>
            <a:pPr marL="0" indent="0" algn="l">
              <a:buNone/>
            </a:pPr>
            <a:r>
              <a:rPr lang="en-US" sz="1300" dirty="0">
                <a:solidFill>
                  <a:schemeClr val="tx1"/>
                </a:solidFill>
              </a:rPr>
              <a:t>meningioma 96 vs 90 (+6)</a:t>
            </a:r>
            <a:endParaRPr lang="en-US" sz="1300" dirty="0"/>
          </a:p>
          <a:p>
            <a:pPr marL="0" indent="0" algn="l">
              <a:buNone/>
            </a:pPr>
            <a:r>
              <a:rPr lang="en-US" sz="1300" dirty="0">
                <a:solidFill>
                  <a:schemeClr val="tx1"/>
                </a:solidFill>
              </a:rPr>
              <a:t>glioma 78 vs 90 (−12)</a:t>
            </a:r>
            <a:endParaRPr lang="en-US" sz="1300" dirty="0"/>
          </a:p>
        </p:txBody>
      </p:sp>
      <p:sp>
        <p:nvSpPr>
          <p:cNvPr id="14" name="Info"/>
          <p:cNvSpPr/>
          <p:nvPr/>
        </p:nvSpPr>
        <p:spPr>
          <a:xfrm>
            <a:off x="6355080" y="3337560"/>
            <a:ext cx="2331720" cy="1325880"/>
          </a:xfrm>
          <a:prstGeom prst="roundRect">
            <a:avLst>
              <a:gd name="adj" fmla="val 6897"/>
            </a:avLst>
          </a:prstGeom>
          <a:solidFill>
            <a:schemeClr val="bg2"/>
          </a:solidFill>
          <a:ln/>
        </p:spPr>
      </p:sp>
      <p:sp>
        <p:nvSpPr>
          <p:cNvPr id="15" name="Text 10"/>
          <p:cNvSpPr txBox="1"/>
          <p:nvPr/>
        </p:nvSpPr>
        <p:spPr>
          <a:xfrm>
            <a:off x="6492240" y="3401568"/>
            <a:ext cx="2103120" cy="1188720"/>
          </a:xfrm>
          <a:prstGeom prst="rect">
            <a:avLst/>
          </a:prstGeom>
          <a:noFill/>
          <a:ln/>
        </p:spPr>
        <p:txBody>
          <a:bodyPr wrap="square" lIns="0" tIns="0" rIns="0" bIns="0" rtlCol="0" anchor="ctr"/>
          <a:lstStyle/>
          <a:p>
            <a:pPr marL="0" indent="0" algn="l">
              <a:buNone/>
            </a:pPr>
            <a:r>
              <a:rPr lang="en-US" sz="1300" b="1" dirty="0">
                <a:solidFill>
                  <a:schemeClr val="accent2"/>
                </a:solidFill>
              </a:rPr>
              <a:t>Benar tapi ragu</a:t>
            </a:r>
            <a:endParaRPr lang="en-US" sz="1300" dirty="0"/>
          </a:p>
          <a:p>
            <a:pPr marL="0" indent="0" algn="l">
              <a:buNone/>
            </a:pPr>
            <a:r>
              <a:rPr lang="en-US" sz="1300" dirty="0">
                <a:solidFill>
                  <a:schemeClr val="tx1"/>
                </a:solidFill>
              </a:rPr>
              <a:t>glioma 53,90% dan pituitary 52,41%: benar, tapi model tidak yakin.</a:t>
            </a:r>
            <a:endParaRPr lang="en-US" sz="13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Makna hasil dan analisis kesalahan</a:t>
            </a:r>
            <a:endParaRPr lang="en-US" sz="2800" dirty="0"/>
          </a:p>
        </p:txBody>
      </p:sp>
      <p:sp>
        <p:nvSpPr>
          <p:cNvPr id="5" name="Makna"/>
          <p:cNvSpPr/>
          <p:nvPr/>
        </p:nvSpPr>
        <p:spPr>
          <a:xfrm>
            <a:off x="457200" y="1280160"/>
            <a:ext cx="4023360" cy="2514600"/>
          </a:xfrm>
          <a:prstGeom prst="roundRect">
            <a:avLst>
              <a:gd name="adj" fmla="val 3636"/>
            </a:avLst>
          </a:prstGeom>
          <a:solidFill>
            <a:schemeClr val="bg2"/>
          </a:solidFill>
          <a:ln/>
        </p:spPr>
      </p:sp>
      <p:sp>
        <p:nvSpPr>
          <p:cNvPr id="6" name="Text 3"/>
          <p:cNvSpPr txBox="1"/>
          <p:nvPr/>
        </p:nvSpPr>
        <p:spPr>
          <a:xfrm>
            <a:off x="640080" y="1371600"/>
            <a:ext cx="3657600" cy="274320"/>
          </a:xfrm>
          <a:prstGeom prst="rect">
            <a:avLst/>
          </a:prstGeom>
          <a:noFill/>
          <a:ln/>
        </p:spPr>
        <p:txBody>
          <a:bodyPr wrap="square" lIns="0" tIns="0" rIns="0" bIns="0" rtlCol="0" anchor="t"/>
          <a:lstStyle/>
          <a:p>
            <a:pPr marL="0" indent="0" algn="l">
              <a:buNone/>
            </a:pPr>
            <a:r>
              <a:rPr lang="en-US" sz="1600" b="1" dirty="0">
                <a:solidFill>
                  <a:schemeClr val="accent1"/>
                </a:solidFill>
              </a:rPr>
              <a:t>Makna hasil</a:t>
            </a:r>
            <a:endParaRPr lang="en-US" sz="1600" dirty="0"/>
          </a:p>
        </p:txBody>
      </p:sp>
      <p:sp>
        <p:nvSpPr>
          <p:cNvPr id="7" name="Text 4"/>
          <p:cNvSpPr txBox="1"/>
          <p:nvPr/>
        </p:nvSpPr>
        <p:spPr>
          <a:xfrm>
            <a:off x="640080" y="1737360"/>
            <a:ext cx="3657600" cy="2011680"/>
          </a:xfrm>
          <a:prstGeom prst="rect">
            <a:avLst/>
          </a:prstGeom>
          <a:noFill/>
          <a:ln/>
        </p:spPr>
        <p:txBody>
          <a:bodyPr wrap="square" lIns="0" tIns="0" rIns="0" bIns="0" rtlCol="0" anchor="t"/>
          <a:lstStyle/>
          <a:p>
            <a:pPr marL="342900" indent="-342900" algn="l">
              <a:spcAft>
                <a:spcPts val="600"/>
              </a:spcAft>
              <a:buSzPct val="100000"/>
              <a:buChar char="•"/>
            </a:pPr>
            <a:r>
              <a:rPr lang="en-US" sz="1400" dirty="0">
                <a:solidFill>
                  <a:schemeClr val="tx1"/>
                </a:solidFill>
              </a:rPr>
              <a:t>CNN kecil (±1,3 juta parameter), dilatih hanya di CPU, sudah bisa belajar pola penting MRI</a:t>
            </a:r>
            <a:endParaRPr lang="en-US" sz="1400" dirty="0"/>
          </a:p>
          <a:p>
            <a:pPr marL="342900" indent="-342900" algn="l">
              <a:spcAft>
                <a:spcPts val="600"/>
              </a:spcAft>
              <a:buSzPct val="100000"/>
              <a:buChar char="•"/>
            </a:pPr>
            <a:r>
              <a:rPr lang="en-US" sz="1400" dirty="0">
                <a:solidFill>
                  <a:schemeClr val="tx1"/>
                </a:solidFill>
              </a:rPr>
              <a:t>Akurasi ≈ 90% (champion), &gt; 96% pada beberapa percobaan Adam</a:t>
            </a:r>
            <a:endParaRPr lang="en-US" sz="1400" dirty="0"/>
          </a:p>
          <a:p>
            <a:pPr marL="342900" indent="-342900" algn="l">
              <a:spcAft>
                <a:spcPts val="600"/>
              </a:spcAft>
              <a:buSzPct val="100000"/>
              <a:buChar char="•"/>
            </a:pPr>
            <a:r>
              <a:rPr lang="en-US" sz="1400" dirty="0">
                <a:solidFill>
                  <a:schemeClr val="tx1"/>
                </a:solidFill>
              </a:rPr>
              <a:t>no tumor paling mudah; glioma dan meningioma paling sering tertukar</a:t>
            </a:r>
            <a:endParaRPr lang="en-US" sz="1400" dirty="0"/>
          </a:p>
        </p:txBody>
      </p:sp>
      <p:sp>
        <p:nvSpPr>
          <p:cNvPr id="8" name="Penyebab"/>
          <p:cNvSpPr/>
          <p:nvPr/>
        </p:nvSpPr>
        <p:spPr>
          <a:xfrm>
            <a:off x="4663440" y="1280160"/>
            <a:ext cx="4023360" cy="2514600"/>
          </a:xfrm>
          <a:prstGeom prst="roundRect">
            <a:avLst>
              <a:gd name="adj" fmla="val 3636"/>
            </a:avLst>
          </a:prstGeom>
          <a:solidFill>
            <a:schemeClr val="bg2"/>
          </a:solidFill>
          <a:ln/>
        </p:spPr>
      </p:sp>
      <p:sp>
        <p:nvSpPr>
          <p:cNvPr id="9" name="Text 6"/>
          <p:cNvSpPr txBox="1"/>
          <p:nvPr/>
        </p:nvSpPr>
        <p:spPr>
          <a:xfrm>
            <a:off x="4846320" y="1371600"/>
            <a:ext cx="3657600" cy="274320"/>
          </a:xfrm>
          <a:prstGeom prst="rect">
            <a:avLst/>
          </a:prstGeom>
          <a:noFill/>
          <a:ln/>
        </p:spPr>
        <p:txBody>
          <a:bodyPr wrap="square" lIns="0" tIns="0" rIns="0" bIns="0" rtlCol="0" anchor="t"/>
          <a:lstStyle/>
          <a:p>
            <a:pPr marL="0" indent="0" algn="l">
              <a:buNone/>
            </a:pPr>
            <a:r>
              <a:rPr lang="en-US" sz="1600" b="1" dirty="0">
                <a:solidFill>
                  <a:schemeClr val="accent2"/>
                </a:solidFill>
              </a:rPr>
              <a:t>Dugaan penyebab glioma ↔ meningioma</a:t>
            </a:r>
            <a:endParaRPr lang="en-US" sz="1600" dirty="0"/>
          </a:p>
        </p:txBody>
      </p:sp>
      <p:sp>
        <p:nvSpPr>
          <p:cNvPr id="10" name="Text 7"/>
          <p:cNvSpPr txBox="1"/>
          <p:nvPr/>
        </p:nvSpPr>
        <p:spPr>
          <a:xfrm>
            <a:off x="4846320" y="1737360"/>
            <a:ext cx="3657600" cy="2011680"/>
          </a:xfrm>
          <a:prstGeom prst="rect">
            <a:avLst/>
          </a:prstGeom>
          <a:noFill/>
          <a:ln/>
        </p:spPr>
        <p:txBody>
          <a:bodyPr wrap="square" lIns="0" tIns="0" rIns="0" bIns="0" rtlCol="0" anchor="t"/>
          <a:lstStyle/>
          <a:p>
            <a:pPr marL="342900" indent="-342900" algn="l">
              <a:spcAft>
                <a:spcPts val="600"/>
              </a:spcAft>
              <a:buSzPct val="100000"/>
              <a:buChar char="•"/>
            </a:pPr>
            <a:r>
              <a:rPr lang="en-US" sz="1400" dirty="0">
                <a:solidFill>
                  <a:schemeClr val="tx1"/>
                </a:solidFill>
              </a:rPr>
              <a:t>Pada irisan tertentu kedua tumor tampak mirip</a:t>
            </a:r>
            <a:endParaRPr lang="en-US" sz="1400" dirty="0"/>
          </a:p>
          <a:p>
            <a:pPr marL="342900" indent="-342900" algn="l">
              <a:spcAft>
                <a:spcPts val="600"/>
              </a:spcAft>
              <a:buSzPct val="100000"/>
              <a:buChar char="•"/>
            </a:pPr>
            <a:r>
              <a:rPr lang="en-US" sz="1400" dirty="0">
                <a:solidFill>
                  <a:schemeClr val="tx1"/>
                </a:solidFill>
              </a:rPr>
              <a:t>Resize 128×128 menghilangkan detail halus</a:t>
            </a:r>
            <a:endParaRPr lang="en-US" sz="1400" dirty="0"/>
          </a:p>
          <a:p>
            <a:pPr marL="342900" indent="-342900" algn="l">
              <a:spcAft>
                <a:spcPts val="600"/>
              </a:spcAft>
              <a:buSzPct val="100000"/>
              <a:buChar char="•"/>
            </a:pPr>
            <a:r>
              <a:rPr lang="en-US" sz="1400" dirty="0">
                <a:solidFill>
                  <a:schemeClr val="tx1"/>
                </a:solidFill>
              </a:rPr>
              <a:t>Arsitektur sederhana</a:t>
            </a:r>
            <a:endParaRPr lang="en-US" sz="1400" dirty="0"/>
          </a:p>
          <a:p>
            <a:pPr marL="342900" indent="-342900" algn="l">
              <a:spcAft>
                <a:spcPts val="600"/>
              </a:spcAft>
              <a:buSzPct val="100000"/>
              <a:buChar char="•"/>
            </a:pPr>
            <a:r>
              <a:rPr lang="en-US" sz="1400" dirty="0">
                <a:solidFill>
                  <a:schemeClr val="tx1"/>
                </a:solidFill>
              </a:rPr>
              <a:t>SGD belum konvergen (dugaan, belum diuji)</a:t>
            </a:r>
            <a:endParaRPr lang="en-US" sz="1400" dirty="0"/>
          </a:p>
        </p:txBody>
      </p:sp>
      <p:sp>
        <p:nvSpPr>
          <p:cNvPr id="11" name="Callout"/>
          <p:cNvSpPr/>
          <p:nvPr/>
        </p:nvSpPr>
        <p:spPr>
          <a:xfrm>
            <a:off x="457200" y="3931920"/>
            <a:ext cx="8229600" cy="731520"/>
          </a:xfrm>
          <a:prstGeom prst="roundRect">
            <a:avLst>
              <a:gd name="adj" fmla="val 12500"/>
            </a:avLst>
          </a:prstGeom>
          <a:solidFill>
            <a:srgbClr val="FBE4DE"/>
          </a:solidFill>
          <a:ln/>
        </p:spPr>
      </p:sp>
      <p:sp>
        <p:nvSpPr>
          <p:cNvPr id="12" name="Text 9"/>
          <p:cNvSpPr txBox="1"/>
          <p:nvPr/>
        </p:nvSpPr>
        <p:spPr>
          <a:xfrm>
            <a:off x="640080" y="4005072"/>
            <a:ext cx="7863840" cy="585216"/>
          </a:xfrm>
          <a:prstGeom prst="rect">
            <a:avLst/>
          </a:prstGeom>
          <a:noFill/>
          <a:ln/>
        </p:spPr>
        <p:txBody>
          <a:bodyPr wrap="square" lIns="0" tIns="0" rIns="0" bIns="0" rtlCol="0" anchor="ctr"/>
          <a:lstStyle/>
          <a:p>
            <a:pPr marL="0" indent="0" algn="l">
              <a:buNone/>
            </a:pPr>
            <a:r>
              <a:rPr lang="en-US" sz="1400" dirty="0">
                <a:solidFill>
                  <a:schemeClr val="tx1"/>
                </a:solidFill>
              </a:rPr>
              <a:t>Catatan penggunaan: alat penelitian, bukan pengganti diagnosis. Tumor yang terlewat (4 gambar) dan tertukar jenis bisa berakibat serius; butuh validasi data klinis independen dan pengawasan dokter.</a:t>
            </a:r>
            <a:endParaRPr lang="en-US" sz="1400" dirty="0"/>
          </a:p>
        </p:txBody>
      </p:sp>
      <p:sp>
        <p:nvSpPr>
          <p:cNvPr id="25"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Temuan penting dan keterbatasan</a:t>
            </a:r>
            <a:endParaRPr lang="en-US" sz="2800" dirty="0"/>
          </a:p>
        </p:txBody>
      </p:sp>
      <p:sp>
        <p:nvSpPr>
          <p:cNvPr id="5" name="Temuan"/>
          <p:cNvSpPr/>
          <p:nvPr/>
        </p:nvSpPr>
        <p:spPr>
          <a:xfrm>
            <a:off x="457200" y="1280160"/>
            <a:ext cx="1965960" cy="1600200"/>
          </a:xfrm>
          <a:prstGeom prst="roundRect">
            <a:avLst>
              <a:gd name="adj" fmla="val 5714"/>
            </a:avLst>
          </a:prstGeom>
          <a:solidFill>
            <a:schemeClr val="bg2"/>
          </a:solidFill>
          <a:ln/>
        </p:spPr>
      </p:sp>
      <p:sp>
        <p:nvSpPr>
          <p:cNvPr id="6" name="Badge"/>
          <p:cNvSpPr/>
          <p:nvPr/>
        </p:nvSpPr>
        <p:spPr>
          <a:xfrm>
            <a:off x="594360" y="1417320"/>
            <a:ext cx="347472" cy="347472"/>
          </a:xfrm>
          <a:prstGeom prst="ellipse">
            <a:avLst/>
          </a:prstGeom>
          <a:solidFill>
            <a:schemeClr val="accent2"/>
          </a:solidFill>
          <a:ln/>
        </p:spPr>
      </p:sp>
      <p:sp>
        <p:nvSpPr>
          <p:cNvPr id="7" name="Text 4"/>
          <p:cNvSpPr txBox="1"/>
          <p:nvPr/>
        </p:nvSpPr>
        <p:spPr>
          <a:xfrm>
            <a:off x="594360" y="141732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5"/>
          <p:cNvSpPr txBox="1"/>
          <p:nvPr/>
        </p:nvSpPr>
        <p:spPr>
          <a:xfrm>
            <a:off x="594360" y="184708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Optimizer S3 belum murni</a:t>
            </a:r>
            <a:endParaRPr lang="en-US" sz="1400" dirty="0"/>
          </a:p>
        </p:txBody>
      </p:sp>
      <p:sp>
        <p:nvSpPr>
          <p:cNvPr id="9" name="Text 6"/>
          <p:cNvSpPr txBox="1"/>
          <p:nvPr/>
        </p:nvSpPr>
        <p:spPr>
          <a:xfrm>
            <a:off x="594360" y="230428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RMSprop dan SGD dikompilasi dengan Adam</a:t>
            </a:r>
            <a:endParaRPr lang="en-US" sz="1200" dirty="0"/>
          </a:p>
        </p:txBody>
      </p:sp>
      <p:sp>
        <p:nvSpPr>
          <p:cNvPr id="10" name="Temuan"/>
          <p:cNvSpPr/>
          <p:nvPr/>
        </p:nvSpPr>
        <p:spPr>
          <a:xfrm>
            <a:off x="2587752" y="1280160"/>
            <a:ext cx="1965960" cy="1600200"/>
          </a:xfrm>
          <a:prstGeom prst="roundRect">
            <a:avLst>
              <a:gd name="adj" fmla="val 5714"/>
            </a:avLst>
          </a:prstGeom>
          <a:solidFill>
            <a:schemeClr val="bg2"/>
          </a:solidFill>
          <a:ln/>
        </p:spPr>
      </p:sp>
      <p:sp>
        <p:nvSpPr>
          <p:cNvPr id="11" name="Badge"/>
          <p:cNvSpPr/>
          <p:nvPr/>
        </p:nvSpPr>
        <p:spPr>
          <a:xfrm>
            <a:off x="2724912" y="1417320"/>
            <a:ext cx="347472" cy="347472"/>
          </a:xfrm>
          <a:prstGeom prst="ellipse">
            <a:avLst/>
          </a:prstGeom>
          <a:solidFill>
            <a:schemeClr val="accent2"/>
          </a:solidFill>
          <a:ln/>
        </p:spPr>
      </p:sp>
      <p:sp>
        <p:nvSpPr>
          <p:cNvPr id="12" name="Text 9"/>
          <p:cNvSpPr txBox="1"/>
          <p:nvPr/>
        </p:nvSpPr>
        <p:spPr>
          <a:xfrm>
            <a:off x="2724912" y="141732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3" name="Text 10"/>
          <p:cNvSpPr txBox="1"/>
          <p:nvPr/>
        </p:nvSpPr>
        <p:spPr>
          <a:xfrm>
            <a:off x="2724912" y="184708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Champion bukan tertinggi</a:t>
            </a:r>
            <a:endParaRPr lang="en-US" sz="1400" dirty="0"/>
          </a:p>
        </p:txBody>
      </p:sp>
      <p:sp>
        <p:nvSpPr>
          <p:cNvPr id="14" name="Text 11"/>
          <p:cNvSpPr txBox="1"/>
          <p:nvPr/>
        </p:nvSpPr>
        <p:spPr>
          <a:xfrm>
            <a:off x="2724912" y="230428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F1 0,9048 vs 0,9917 (Adam)</a:t>
            </a:r>
            <a:endParaRPr lang="en-US" sz="1200" dirty="0"/>
          </a:p>
        </p:txBody>
      </p:sp>
      <p:sp>
        <p:nvSpPr>
          <p:cNvPr id="15" name="Temuan"/>
          <p:cNvSpPr/>
          <p:nvPr/>
        </p:nvSpPr>
        <p:spPr>
          <a:xfrm>
            <a:off x="4718304" y="1280160"/>
            <a:ext cx="1965960" cy="1600200"/>
          </a:xfrm>
          <a:prstGeom prst="roundRect">
            <a:avLst>
              <a:gd name="adj" fmla="val 5714"/>
            </a:avLst>
          </a:prstGeom>
          <a:solidFill>
            <a:schemeClr val="bg2"/>
          </a:solidFill>
          <a:ln/>
        </p:spPr>
      </p:sp>
      <p:sp>
        <p:nvSpPr>
          <p:cNvPr id="16" name="Badge"/>
          <p:cNvSpPr/>
          <p:nvPr/>
        </p:nvSpPr>
        <p:spPr>
          <a:xfrm>
            <a:off x="4855464" y="1417320"/>
            <a:ext cx="347472" cy="347472"/>
          </a:xfrm>
          <a:prstGeom prst="ellipse">
            <a:avLst/>
          </a:prstGeom>
          <a:solidFill>
            <a:schemeClr val="accent2"/>
          </a:solidFill>
          <a:ln/>
        </p:spPr>
      </p:sp>
      <p:sp>
        <p:nvSpPr>
          <p:cNvPr id="17" name="Text 14"/>
          <p:cNvSpPr txBox="1"/>
          <p:nvPr/>
        </p:nvSpPr>
        <p:spPr>
          <a:xfrm>
            <a:off x="4855464" y="141732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8" name="Text 15"/>
          <p:cNvSpPr txBox="1"/>
          <p:nvPr/>
        </p:nvSpPr>
        <p:spPr>
          <a:xfrm>
            <a:off x="4855464" y="184708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Variasi antar-run</a:t>
            </a:r>
            <a:endParaRPr lang="en-US" sz="1400" dirty="0"/>
          </a:p>
        </p:txBody>
      </p:sp>
      <p:sp>
        <p:nvSpPr>
          <p:cNvPr id="19" name="Text 16"/>
          <p:cNvSpPr txBox="1"/>
          <p:nvPr/>
        </p:nvSpPr>
        <p:spPr>
          <a:xfrm>
            <a:off x="4855464" y="230428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Konfigurasi sama: F1 0,9391–0,9917</a:t>
            </a:r>
            <a:endParaRPr lang="en-US" sz="1200" dirty="0"/>
          </a:p>
        </p:txBody>
      </p:sp>
      <p:sp>
        <p:nvSpPr>
          <p:cNvPr id="20" name="Temuan"/>
          <p:cNvSpPr/>
          <p:nvPr/>
        </p:nvSpPr>
        <p:spPr>
          <a:xfrm>
            <a:off x="6848856" y="1280160"/>
            <a:ext cx="1965960" cy="1600200"/>
          </a:xfrm>
          <a:prstGeom prst="roundRect">
            <a:avLst>
              <a:gd name="adj" fmla="val 5714"/>
            </a:avLst>
          </a:prstGeom>
          <a:solidFill>
            <a:schemeClr val="bg2"/>
          </a:solidFill>
          <a:ln/>
        </p:spPr>
      </p:sp>
      <p:sp>
        <p:nvSpPr>
          <p:cNvPr id="21" name="Badge"/>
          <p:cNvSpPr/>
          <p:nvPr/>
        </p:nvSpPr>
        <p:spPr>
          <a:xfrm>
            <a:off x="6986016" y="1417320"/>
            <a:ext cx="347472" cy="347472"/>
          </a:xfrm>
          <a:prstGeom prst="ellipse">
            <a:avLst/>
          </a:prstGeom>
          <a:solidFill>
            <a:schemeClr val="accent2"/>
          </a:solidFill>
          <a:ln/>
        </p:spPr>
      </p:sp>
      <p:sp>
        <p:nvSpPr>
          <p:cNvPr id="22" name="Text 19"/>
          <p:cNvSpPr txBox="1"/>
          <p:nvPr/>
        </p:nvSpPr>
        <p:spPr>
          <a:xfrm>
            <a:off x="6986016" y="141732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3" name="Text 20"/>
          <p:cNvSpPr txBox="1"/>
          <p:nvPr/>
        </p:nvSpPr>
        <p:spPr>
          <a:xfrm>
            <a:off x="6986016" y="184708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Seleksi pakai data uji</a:t>
            </a:r>
            <a:endParaRPr lang="en-US" sz="1400" dirty="0"/>
          </a:p>
        </p:txBody>
      </p:sp>
      <p:sp>
        <p:nvSpPr>
          <p:cNvPr id="24" name="Text 21"/>
          <p:cNvSpPr txBox="1"/>
          <p:nvPr/>
        </p:nvSpPr>
        <p:spPr>
          <a:xfrm>
            <a:off x="6986016" y="230428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Skor cenderung optimistis; uji hanya 360</a:t>
            </a:r>
            <a:endParaRPr lang="en-US" sz="1200" dirty="0"/>
          </a:p>
        </p:txBody>
      </p:sp>
      <p:sp>
        <p:nvSpPr>
          <p:cNvPr id="25" name="Temuan"/>
          <p:cNvSpPr/>
          <p:nvPr/>
        </p:nvSpPr>
        <p:spPr>
          <a:xfrm>
            <a:off x="457200" y="3017520"/>
            <a:ext cx="1965960" cy="1600200"/>
          </a:xfrm>
          <a:prstGeom prst="roundRect">
            <a:avLst>
              <a:gd name="adj" fmla="val 5714"/>
            </a:avLst>
          </a:prstGeom>
          <a:solidFill>
            <a:schemeClr val="bg2"/>
          </a:solidFill>
          <a:ln/>
        </p:spPr>
      </p:sp>
      <p:sp>
        <p:nvSpPr>
          <p:cNvPr id="26" name="Badge"/>
          <p:cNvSpPr/>
          <p:nvPr/>
        </p:nvSpPr>
        <p:spPr>
          <a:xfrm>
            <a:off x="594360" y="3154680"/>
            <a:ext cx="347472" cy="347472"/>
          </a:xfrm>
          <a:prstGeom prst="ellipse">
            <a:avLst/>
          </a:prstGeom>
          <a:solidFill>
            <a:schemeClr val="accent2"/>
          </a:solidFill>
          <a:ln/>
        </p:spPr>
      </p:sp>
      <p:sp>
        <p:nvSpPr>
          <p:cNvPr id="27" name="Text 24"/>
          <p:cNvSpPr txBox="1"/>
          <p:nvPr/>
        </p:nvSpPr>
        <p:spPr>
          <a:xfrm>
            <a:off x="594360" y="315468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8" name="Text 25"/>
          <p:cNvSpPr txBox="1"/>
          <p:nvPr/>
        </p:nvSpPr>
        <p:spPr>
          <a:xfrm>
            <a:off x="594360" y="358444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Kurva Bagian 13</a:t>
            </a:r>
            <a:endParaRPr lang="en-US" sz="1400" dirty="0"/>
          </a:p>
        </p:txBody>
      </p:sp>
      <p:sp>
        <p:nvSpPr>
          <p:cNvPr id="29" name="Text 26"/>
          <p:cNvSpPr txBox="1"/>
          <p:nvPr/>
        </p:nvSpPr>
        <p:spPr>
          <a:xfrm>
            <a:off x="594360" y="404164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Dari dropout 0,5, bukan 0,3</a:t>
            </a:r>
            <a:endParaRPr lang="en-US" sz="1200" dirty="0"/>
          </a:p>
        </p:txBody>
      </p:sp>
      <p:sp>
        <p:nvSpPr>
          <p:cNvPr id="30" name="Temuan"/>
          <p:cNvSpPr/>
          <p:nvPr/>
        </p:nvSpPr>
        <p:spPr>
          <a:xfrm>
            <a:off x="2587752" y="3017520"/>
            <a:ext cx="1965960" cy="1600200"/>
          </a:xfrm>
          <a:prstGeom prst="roundRect">
            <a:avLst>
              <a:gd name="adj" fmla="val 5714"/>
            </a:avLst>
          </a:prstGeom>
          <a:solidFill>
            <a:schemeClr val="bg2"/>
          </a:solidFill>
          <a:ln/>
        </p:spPr>
      </p:sp>
      <p:sp>
        <p:nvSpPr>
          <p:cNvPr id="31" name="Badge"/>
          <p:cNvSpPr/>
          <p:nvPr/>
        </p:nvSpPr>
        <p:spPr>
          <a:xfrm>
            <a:off x="2724912" y="3154680"/>
            <a:ext cx="347472" cy="347472"/>
          </a:xfrm>
          <a:prstGeom prst="ellipse">
            <a:avLst/>
          </a:prstGeom>
          <a:solidFill>
            <a:schemeClr val="accent2"/>
          </a:solidFill>
          <a:ln/>
        </p:spPr>
      </p:sp>
      <p:sp>
        <p:nvSpPr>
          <p:cNvPr id="32" name="Text 29"/>
          <p:cNvSpPr txBox="1"/>
          <p:nvPr/>
        </p:nvSpPr>
        <p:spPr>
          <a:xfrm>
            <a:off x="2724912" y="315468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33" name="Text 30"/>
          <p:cNvSpPr txBox="1"/>
          <p:nvPr/>
        </p:nvSpPr>
        <p:spPr>
          <a:xfrm>
            <a:off x="2724912" y="358444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Kemungkinan leakage</a:t>
            </a:r>
            <a:endParaRPr lang="en-US" sz="1400" dirty="0"/>
          </a:p>
        </p:txBody>
      </p:sp>
      <p:sp>
        <p:nvSpPr>
          <p:cNvPr id="34" name="Text 31"/>
          <p:cNvSpPr txBox="1"/>
          <p:nvPr/>
        </p:nvSpPr>
        <p:spPr>
          <a:xfrm>
            <a:off x="2724912" y="404164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Gambar pasien sama bisa di train dan test</a:t>
            </a:r>
            <a:endParaRPr lang="en-US" sz="1200" dirty="0"/>
          </a:p>
        </p:txBody>
      </p:sp>
      <p:sp>
        <p:nvSpPr>
          <p:cNvPr id="35" name="Temuan"/>
          <p:cNvSpPr/>
          <p:nvPr/>
        </p:nvSpPr>
        <p:spPr>
          <a:xfrm>
            <a:off x="4718304" y="3017520"/>
            <a:ext cx="1965960" cy="1600200"/>
          </a:xfrm>
          <a:prstGeom prst="roundRect">
            <a:avLst>
              <a:gd name="adj" fmla="val 5714"/>
            </a:avLst>
          </a:prstGeom>
          <a:solidFill>
            <a:schemeClr val="bg2"/>
          </a:solidFill>
          <a:ln/>
        </p:spPr>
      </p:sp>
      <p:sp>
        <p:nvSpPr>
          <p:cNvPr id="36" name="Badge"/>
          <p:cNvSpPr/>
          <p:nvPr/>
        </p:nvSpPr>
        <p:spPr>
          <a:xfrm>
            <a:off x="4855464" y="3154680"/>
            <a:ext cx="347472" cy="347472"/>
          </a:xfrm>
          <a:prstGeom prst="ellipse">
            <a:avLst/>
          </a:prstGeom>
          <a:solidFill>
            <a:schemeClr val="accent2"/>
          </a:solidFill>
          <a:ln/>
        </p:spPr>
      </p:sp>
      <p:sp>
        <p:nvSpPr>
          <p:cNvPr id="37" name="Text 34"/>
          <p:cNvSpPr txBox="1"/>
          <p:nvPr/>
        </p:nvSpPr>
        <p:spPr>
          <a:xfrm>
            <a:off x="4855464" y="315468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7</a:t>
            </a:r>
            <a:endParaRPr lang="en-US" sz="1300" dirty="0"/>
          </a:p>
        </p:txBody>
      </p:sp>
      <p:sp>
        <p:nvSpPr>
          <p:cNvPr id="38" name="Text 35"/>
          <p:cNvSpPr txBox="1"/>
          <p:nvPr/>
        </p:nvSpPr>
        <p:spPr>
          <a:xfrm>
            <a:off x="4855464" y="3584448"/>
            <a:ext cx="1691640" cy="457200"/>
          </a:xfrm>
          <a:prstGeom prst="rect">
            <a:avLst/>
          </a:prstGeom>
          <a:noFill/>
          <a:ln/>
        </p:spPr>
        <p:txBody>
          <a:bodyPr wrap="square" lIns="0" tIns="0" rIns="0" bIns="0" rtlCol="0" anchor="t"/>
          <a:lstStyle/>
          <a:p>
            <a:pPr marL="0" indent="0" algn="l">
              <a:buNone/>
            </a:pPr>
            <a:r>
              <a:rPr lang="en-US" sz="1400" b="1" dirty="0">
                <a:solidFill>
                  <a:schemeClr val="tx2"/>
                </a:solidFill>
              </a:rPr>
              <a:t>Generalisasi belum diuji</a:t>
            </a:r>
            <a:endParaRPr lang="en-US" sz="1400" dirty="0"/>
          </a:p>
        </p:txBody>
      </p:sp>
      <p:sp>
        <p:nvSpPr>
          <p:cNvPr id="39" name="Text 36"/>
          <p:cNvSpPr txBox="1"/>
          <p:nvPr/>
        </p:nvSpPr>
        <p:spPr>
          <a:xfrm>
            <a:off x="4855464" y="4041648"/>
            <a:ext cx="1691640" cy="548640"/>
          </a:xfrm>
          <a:prstGeom prst="rect">
            <a:avLst/>
          </a:prstGeom>
          <a:noFill/>
          <a:ln/>
        </p:spPr>
        <p:txBody>
          <a:bodyPr wrap="square" lIns="0" tIns="0" rIns="0" bIns="0" rtlCol="0" anchor="t"/>
          <a:lstStyle/>
          <a:p>
            <a:pPr marL="0" indent="0" algn="l">
              <a:buNone/>
            </a:pPr>
            <a:r>
              <a:rPr lang="en-US" sz="1200" dirty="0">
                <a:solidFill>
                  <a:schemeClr val="tx1"/>
                </a:solidFill>
              </a:rPr>
              <a:t>Hanya satu dataset</a:t>
            </a:r>
            <a:endParaRPr lang="en-US" sz="1200" dirty="0"/>
          </a:p>
        </p:txBody>
      </p:sp>
      <p:sp>
        <p:nvSpPr>
          <p:cNvPr id="40" name="Intinya"/>
          <p:cNvSpPr/>
          <p:nvPr/>
        </p:nvSpPr>
        <p:spPr>
          <a:xfrm>
            <a:off x="6848856" y="3017520"/>
            <a:ext cx="1965960" cy="1600200"/>
          </a:xfrm>
          <a:prstGeom prst="roundRect">
            <a:avLst>
              <a:gd name="adj" fmla="val 5714"/>
            </a:avLst>
          </a:prstGeom>
          <a:solidFill>
            <a:schemeClr val="tx2"/>
          </a:solidFill>
          <a:ln/>
        </p:spPr>
      </p:sp>
      <p:sp>
        <p:nvSpPr>
          <p:cNvPr id="41" name="Text 38"/>
          <p:cNvSpPr txBox="1"/>
          <p:nvPr/>
        </p:nvSpPr>
        <p:spPr>
          <a:xfrm>
            <a:off x="6986016" y="3108960"/>
            <a:ext cx="1691640" cy="1417320"/>
          </a:xfrm>
          <a:prstGeom prst="rect">
            <a:avLst/>
          </a:prstGeom>
          <a:noFill/>
          <a:ln/>
        </p:spPr>
        <p:txBody>
          <a:bodyPr wrap="square" lIns="0" tIns="0" rIns="0" bIns="0" rtlCol="0" anchor="ctr"/>
          <a:lstStyle/>
          <a:p>
            <a:pPr marL="0" indent="0" algn="l">
              <a:buNone/>
            </a:pPr>
            <a:r>
              <a:rPr lang="en-US" sz="1400" b="1" dirty="0">
                <a:solidFill>
                  <a:schemeClr val="bg1"/>
                </a:solidFill>
              </a:rPr>
              <a:t>Intinya: jangan menafsirkan selisih kecil secara berlebihan.</a:t>
            </a:r>
            <a:endParaRPr lang="en-US" sz="14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457200" y="475488"/>
            <a:ext cx="8229600" cy="594360"/>
          </a:xfrm>
          <a:prstGeom prst="rect">
            <a:avLst/>
          </a:prstGeom>
          <a:noFill/>
          <a:ln/>
        </p:spPr>
        <p:txBody>
          <a:bodyPr wrap="square" lIns="0" tIns="0" rIns="0" bIns="0" rtlCol="0" anchor="ctr"/>
          <a:lstStyle/>
          <a:p>
            <a:pPr marL="0" indent="0" algn="l">
              <a:buNone/>
            </a:pPr>
            <a:r>
              <a:rPr lang="en-US" sz="2800" b="1" dirty="0">
                <a:solidFill>
                  <a:schemeClr val="tx2"/>
                </a:solidFill>
              </a:rPr>
              <a:t>Kesimpulan</a:t>
            </a:r>
            <a:endParaRPr lang="en-US" sz="2800" dirty="0"/>
          </a:p>
        </p:txBody>
      </p:sp>
      <p:sp>
        <p:nvSpPr>
          <p:cNvPr id="5" name="Kesimpulan"/>
          <p:cNvSpPr/>
          <p:nvPr/>
        </p:nvSpPr>
        <p:spPr>
          <a:xfrm>
            <a:off x="457200" y="1280160"/>
            <a:ext cx="8229600" cy="420624"/>
          </a:xfrm>
          <a:prstGeom prst="roundRect">
            <a:avLst>
              <a:gd name="adj" fmla="val 21739"/>
            </a:avLst>
          </a:prstGeom>
          <a:solidFill>
            <a:schemeClr val="bg2"/>
          </a:solidFill>
          <a:ln/>
        </p:spPr>
      </p:sp>
      <p:sp>
        <p:nvSpPr>
          <p:cNvPr id="6" name="Badge"/>
          <p:cNvSpPr/>
          <p:nvPr/>
        </p:nvSpPr>
        <p:spPr>
          <a:xfrm>
            <a:off x="530352" y="1316736"/>
            <a:ext cx="347472" cy="347472"/>
          </a:xfrm>
          <a:prstGeom prst="ellipse">
            <a:avLst/>
          </a:prstGeom>
          <a:solidFill>
            <a:schemeClr val="accent1"/>
          </a:solidFill>
          <a:ln/>
        </p:spPr>
      </p:sp>
      <p:sp>
        <p:nvSpPr>
          <p:cNvPr id="7" name="Text 4"/>
          <p:cNvSpPr txBox="1"/>
          <p:nvPr/>
        </p:nvSpPr>
        <p:spPr>
          <a:xfrm>
            <a:off x="530352" y="131673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8" name="Text 5"/>
          <p:cNvSpPr txBox="1"/>
          <p:nvPr/>
        </p:nvSpPr>
        <p:spPr>
          <a:xfrm>
            <a:off x="1051560" y="1280160"/>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Pipeline lengkap berhasil: 7.200 gambar diproses tanpa gagal, 4 kelas seimbang</a:t>
            </a:r>
            <a:endParaRPr lang="en-US" sz="1400" dirty="0"/>
          </a:p>
        </p:txBody>
      </p:sp>
      <p:sp>
        <p:nvSpPr>
          <p:cNvPr id="9" name="Kesimpulan"/>
          <p:cNvSpPr/>
          <p:nvPr/>
        </p:nvSpPr>
        <p:spPr>
          <a:xfrm>
            <a:off x="457200" y="1764792"/>
            <a:ext cx="8229600" cy="420624"/>
          </a:xfrm>
          <a:prstGeom prst="roundRect">
            <a:avLst>
              <a:gd name="adj" fmla="val 21739"/>
            </a:avLst>
          </a:prstGeom>
          <a:solidFill>
            <a:schemeClr val="bg2"/>
          </a:solidFill>
          <a:ln/>
        </p:spPr>
      </p:sp>
      <p:sp>
        <p:nvSpPr>
          <p:cNvPr id="10" name="Badge"/>
          <p:cNvSpPr/>
          <p:nvPr/>
        </p:nvSpPr>
        <p:spPr>
          <a:xfrm>
            <a:off x="530352" y="1801368"/>
            <a:ext cx="347472" cy="347472"/>
          </a:xfrm>
          <a:prstGeom prst="ellipse">
            <a:avLst/>
          </a:prstGeom>
          <a:solidFill>
            <a:schemeClr val="accent1"/>
          </a:solidFill>
          <a:ln/>
        </p:spPr>
      </p:sp>
      <p:sp>
        <p:nvSpPr>
          <p:cNvPr id="11" name="Text 8"/>
          <p:cNvSpPr txBox="1"/>
          <p:nvPr/>
        </p:nvSpPr>
        <p:spPr>
          <a:xfrm>
            <a:off x="530352" y="180136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12" name="Text 9"/>
          <p:cNvSpPr txBox="1"/>
          <p:nvPr/>
        </p:nvSpPr>
        <p:spPr>
          <a:xfrm>
            <a:off x="1051560" y="1764792"/>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S1: split 90:05:05 terbaik (F1 Macro 0,9917)</a:t>
            </a:r>
            <a:endParaRPr lang="en-US" sz="1400" dirty="0"/>
          </a:p>
        </p:txBody>
      </p:sp>
      <p:sp>
        <p:nvSpPr>
          <p:cNvPr id="13" name="Kesimpulan"/>
          <p:cNvSpPr/>
          <p:nvPr/>
        </p:nvSpPr>
        <p:spPr>
          <a:xfrm>
            <a:off x="457200" y="2249424"/>
            <a:ext cx="8229600" cy="420624"/>
          </a:xfrm>
          <a:prstGeom prst="roundRect">
            <a:avLst>
              <a:gd name="adj" fmla="val 21739"/>
            </a:avLst>
          </a:prstGeom>
          <a:solidFill>
            <a:schemeClr val="bg2"/>
          </a:solidFill>
          <a:ln/>
        </p:spPr>
      </p:sp>
      <p:sp>
        <p:nvSpPr>
          <p:cNvPr id="14" name="Badge"/>
          <p:cNvSpPr/>
          <p:nvPr/>
        </p:nvSpPr>
        <p:spPr>
          <a:xfrm>
            <a:off x="530352" y="2286000"/>
            <a:ext cx="347472" cy="347472"/>
          </a:xfrm>
          <a:prstGeom prst="ellipse">
            <a:avLst/>
          </a:prstGeom>
          <a:solidFill>
            <a:schemeClr val="accent1"/>
          </a:solidFill>
          <a:ln/>
        </p:spPr>
      </p:sp>
      <p:sp>
        <p:nvSpPr>
          <p:cNvPr id="15" name="Text 12"/>
          <p:cNvSpPr txBox="1"/>
          <p:nvPr/>
        </p:nvSpPr>
        <p:spPr>
          <a:xfrm>
            <a:off x="530352" y="2286000"/>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16" name="Text 13"/>
          <p:cNvSpPr txBox="1"/>
          <p:nvPr/>
        </p:nvSpPr>
        <p:spPr>
          <a:xfrm>
            <a:off x="1051560" y="2249424"/>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S2: tanpa augmentasi lebih baik (0,9391 vs 0,8982) pada 20 epoch</a:t>
            </a:r>
            <a:endParaRPr lang="en-US" sz="1400" dirty="0"/>
          </a:p>
        </p:txBody>
      </p:sp>
      <p:sp>
        <p:nvSpPr>
          <p:cNvPr id="17" name="Kesimpulan"/>
          <p:cNvSpPr/>
          <p:nvPr/>
        </p:nvSpPr>
        <p:spPr>
          <a:xfrm>
            <a:off x="457200" y="2734056"/>
            <a:ext cx="8229600" cy="420624"/>
          </a:xfrm>
          <a:prstGeom prst="roundRect">
            <a:avLst>
              <a:gd name="adj" fmla="val 21739"/>
            </a:avLst>
          </a:prstGeom>
          <a:solidFill>
            <a:schemeClr val="bg2"/>
          </a:solidFill>
          <a:ln/>
        </p:spPr>
      </p:sp>
      <p:sp>
        <p:nvSpPr>
          <p:cNvPr id="18" name="Badge"/>
          <p:cNvSpPr/>
          <p:nvPr/>
        </p:nvSpPr>
        <p:spPr>
          <a:xfrm>
            <a:off x="530352" y="2770632"/>
            <a:ext cx="347472" cy="347472"/>
          </a:xfrm>
          <a:prstGeom prst="ellipse">
            <a:avLst/>
          </a:prstGeom>
          <a:solidFill>
            <a:schemeClr val="accent1"/>
          </a:solidFill>
          <a:ln/>
        </p:spPr>
      </p:sp>
      <p:sp>
        <p:nvSpPr>
          <p:cNvPr id="19" name="Text 16"/>
          <p:cNvSpPr txBox="1"/>
          <p:nvPr/>
        </p:nvSpPr>
        <p:spPr>
          <a:xfrm>
            <a:off x="530352" y="2770632"/>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20" name="Text 17"/>
          <p:cNvSpPr txBox="1"/>
          <p:nvPr/>
        </p:nvSpPr>
        <p:spPr>
          <a:xfrm>
            <a:off x="1051560" y="2734056"/>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S3: SGD tercatat tertinggi (0,9694), tapi tidak murni dan perlu diulang</a:t>
            </a:r>
            <a:endParaRPr lang="en-US" sz="1400" dirty="0"/>
          </a:p>
        </p:txBody>
      </p:sp>
      <p:sp>
        <p:nvSpPr>
          <p:cNvPr id="21" name="Kesimpulan"/>
          <p:cNvSpPr/>
          <p:nvPr/>
        </p:nvSpPr>
        <p:spPr>
          <a:xfrm>
            <a:off x="457200" y="3218688"/>
            <a:ext cx="8229600" cy="420624"/>
          </a:xfrm>
          <a:prstGeom prst="roundRect">
            <a:avLst>
              <a:gd name="adj" fmla="val 21739"/>
            </a:avLst>
          </a:prstGeom>
          <a:solidFill>
            <a:schemeClr val="bg2"/>
          </a:solidFill>
          <a:ln/>
        </p:spPr>
      </p:sp>
      <p:sp>
        <p:nvSpPr>
          <p:cNvPr id="22" name="Badge"/>
          <p:cNvSpPr/>
          <p:nvPr/>
        </p:nvSpPr>
        <p:spPr>
          <a:xfrm>
            <a:off x="530352" y="3255264"/>
            <a:ext cx="347472" cy="347472"/>
          </a:xfrm>
          <a:prstGeom prst="ellipse">
            <a:avLst/>
          </a:prstGeom>
          <a:solidFill>
            <a:schemeClr val="accent1"/>
          </a:solidFill>
          <a:ln/>
        </p:spPr>
      </p:sp>
      <p:sp>
        <p:nvSpPr>
          <p:cNvPr id="23" name="Text 20"/>
          <p:cNvSpPr txBox="1"/>
          <p:nvPr/>
        </p:nvSpPr>
        <p:spPr>
          <a:xfrm>
            <a:off x="530352" y="3255264"/>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5</a:t>
            </a:r>
            <a:endParaRPr lang="en-US" sz="1300" dirty="0"/>
          </a:p>
        </p:txBody>
      </p:sp>
      <p:sp>
        <p:nvSpPr>
          <p:cNvPr id="24" name="Text 21"/>
          <p:cNvSpPr txBox="1"/>
          <p:nvPr/>
        </p:nvSpPr>
        <p:spPr>
          <a:xfrm>
            <a:off x="1051560" y="3218688"/>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S4: dropout 0,3 terbaik (0,9048), disimpan sebagai champion</a:t>
            </a:r>
            <a:endParaRPr lang="en-US" sz="1400" dirty="0"/>
          </a:p>
        </p:txBody>
      </p:sp>
      <p:sp>
        <p:nvSpPr>
          <p:cNvPr id="25" name="Kesimpulan"/>
          <p:cNvSpPr/>
          <p:nvPr/>
        </p:nvSpPr>
        <p:spPr>
          <a:xfrm>
            <a:off x="457200" y="3703320"/>
            <a:ext cx="8229600" cy="420624"/>
          </a:xfrm>
          <a:prstGeom prst="roundRect">
            <a:avLst>
              <a:gd name="adj" fmla="val 21739"/>
            </a:avLst>
          </a:prstGeom>
          <a:solidFill>
            <a:schemeClr val="bg2"/>
          </a:solidFill>
          <a:ln/>
        </p:spPr>
      </p:sp>
      <p:sp>
        <p:nvSpPr>
          <p:cNvPr id="26" name="Badge"/>
          <p:cNvSpPr/>
          <p:nvPr/>
        </p:nvSpPr>
        <p:spPr>
          <a:xfrm>
            <a:off x="530352" y="3739896"/>
            <a:ext cx="347472" cy="347472"/>
          </a:xfrm>
          <a:prstGeom prst="ellipse">
            <a:avLst/>
          </a:prstGeom>
          <a:solidFill>
            <a:schemeClr val="accent1"/>
          </a:solidFill>
          <a:ln/>
        </p:spPr>
      </p:sp>
      <p:sp>
        <p:nvSpPr>
          <p:cNvPr id="27" name="Text 24"/>
          <p:cNvSpPr txBox="1"/>
          <p:nvPr/>
        </p:nvSpPr>
        <p:spPr>
          <a:xfrm>
            <a:off x="530352" y="3739896"/>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6</a:t>
            </a:r>
            <a:endParaRPr lang="en-US" sz="1300" dirty="0"/>
          </a:p>
        </p:txBody>
      </p:sp>
      <p:sp>
        <p:nvSpPr>
          <p:cNvPr id="28" name="Text 25"/>
          <p:cNvSpPr txBox="1"/>
          <p:nvPr/>
        </p:nvSpPr>
        <p:spPr>
          <a:xfrm>
            <a:off x="1051560" y="3703320"/>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Champion: accuracy 90,56%, F1 90,48%; no tumor terbaik, glioma tersulit</a:t>
            </a:r>
            <a:endParaRPr lang="en-US" sz="1400" dirty="0"/>
          </a:p>
        </p:txBody>
      </p:sp>
      <p:sp>
        <p:nvSpPr>
          <p:cNvPr id="29" name="Kesimpulan"/>
          <p:cNvSpPr/>
          <p:nvPr/>
        </p:nvSpPr>
        <p:spPr>
          <a:xfrm>
            <a:off x="457200" y="4187952"/>
            <a:ext cx="8229600" cy="420624"/>
          </a:xfrm>
          <a:prstGeom prst="roundRect">
            <a:avLst>
              <a:gd name="adj" fmla="val 21739"/>
            </a:avLst>
          </a:prstGeom>
          <a:solidFill>
            <a:schemeClr val="bg2"/>
          </a:solidFill>
          <a:ln/>
        </p:spPr>
      </p:sp>
      <p:sp>
        <p:nvSpPr>
          <p:cNvPr id="30" name="Badge"/>
          <p:cNvSpPr/>
          <p:nvPr/>
        </p:nvSpPr>
        <p:spPr>
          <a:xfrm>
            <a:off x="530352" y="4224528"/>
            <a:ext cx="347472" cy="347472"/>
          </a:xfrm>
          <a:prstGeom prst="ellipse">
            <a:avLst/>
          </a:prstGeom>
          <a:solidFill>
            <a:schemeClr val="accent2"/>
          </a:solidFill>
          <a:ln/>
        </p:spPr>
      </p:sp>
      <p:sp>
        <p:nvSpPr>
          <p:cNvPr id="31" name="Text 28"/>
          <p:cNvSpPr txBox="1"/>
          <p:nvPr/>
        </p:nvSpPr>
        <p:spPr>
          <a:xfrm>
            <a:off x="530352" y="4224528"/>
            <a:ext cx="347472" cy="347472"/>
          </a:xfrm>
          <a:prstGeom prst="rect">
            <a:avLst/>
          </a:prstGeom>
          <a:noFill/>
          <a:ln/>
        </p:spPr>
        <p:txBody>
          <a:bodyPr wrap="square" lIns="0" tIns="0" rIns="0" bIns="0" rtlCol="0" anchor="ctr"/>
          <a:lstStyle/>
          <a:p>
            <a:pPr marL="0" indent="0" algn="ctr">
              <a:buNone/>
            </a:pPr>
            <a:r>
              <a:rPr lang="en-US" sz="1300" b="1" dirty="0">
                <a:solidFill>
                  <a:schemeClr val="bg1"/>
                </a:solidFill>
              </a:rPr>
              <a:t>7</a:t>
            </a:r>
            <a:endParaRPr lang="en-US" sz="1300" dirty="0"/>
          </a:p>
        </p:txBody>
      </p:sp>
      <p:sp>
        <p:nvSpPr>
          <p:cNvPr id="32" name="Text 29"/>
          <p:cNvSpPr txBox="1"/>
          <p:nvPr/>
        </p:nvSpPr>
        <p:spPr>
          <a:xfrm>
            <a:off x="1051560" y="4187952"/>
            <a:ext cx="7498080" cy="420624"/>
          </a:xfrm>
          <a:prstGeom prst="rect">
            <a:avLst/>
          </a:prstGeom>
          <a:noFill/>
          <a:ln/>
        </p:spPr>
        <p:txBody>
          <a:bodyPr wrap="square" lIns="0" tIns="0" rIns="0" bIns="0" rtlCol="0" anchor="ctr"/>
          <a:lstStyle/>
          <a:p>
            <a:pPr marL="0" indent="0" algn="l">
              <a:buNone/>
            </a:pPr>
            <a:r>
              <a:rPr lang="en-US" sz="1400" dirty="0">
                <a:solidFill>
                  <a:schemeClr val="tx1"/>
                </a:solidFill>
              </a:rPr>
              <a:t>Champion bukan skor tertinggi: Adam &gt; 96%, SGD (LR 0,0005) belum konvergen</a:t>
            </a:r>
            <a:endParaRPr lang="en-US" sz="1400" dirty="0"/>
          </a:p>
        </p:txBody>
      </p:sp>
      <p:sp>
        <p:nvSpPr>
          <p:cNvPr id="4" name="Slide Number Placeholder 0"/>
          <p:cNvSpPr>
            <a:spLocks noGrp="1"/>
          </p:cNvSpPr>
          <p:nvPr>
            <p:ph type="sldNum" sz="quarter" idx="4294967295"/>
          </p:nvPr>
        </p:nvSpPr>
        <p:spPr>
          <a:xfrm>
            <a:off x="8138160" y="4800600"/>
            <a:ext cx="54864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1188720"/>
            <a:ext cx="8046720" cy="914400"/>
          </a:xfrm>
          <a:prstGeom prst="rect">
            <a:avLst/>
          </a:prstGeom>
          <a:noFill/>
          <a:ln/>
        </p:spPr>
        <p:txBody>
          <a:bodyPr wrap="square" lIns="0" tIns="0" rIns="0" bIns="0" rtlCol="0" anchor="t"/>
          <a:lstStyle/>
          <a:p>
            <a:pPr marL="0" indent="0" algn="ctr">
              <a:buNone/>
            </a:pPr>
            <a:r>
              <a:rPr lang="en-US" sz="4800" b="1" dirty="0">
                <a:solidFill>
                  <a:schemeClr val="bg1"/>
                </a:solidFill>
                <a:latin typeface="Cambria" pitchFamily="34" charset="0"/>
                <a:ea typeface="Cambria" pitchFamily="34" charset="-122"/>
                <a:cs typeface="Cambria" pitchFamily="34" charset="-120"/>
              </a:rPr>
              <a:t>Terima kasih</a:t>
            </a:r>
            <a:endParaRPr lang="en-US" sz="4800" dirty="0"/>
          </a:p>
        </p:txBody>
      </p:sp>
      <p:sp>
        <p:nvSpPr>
          <p:cNvPr id="3" name="Text 1"/>
          <p:cNvSpPr txBox="1"/>
          <p:nvPr/>
        </p:nvSpPr>
        <p:spPr>
          <a:xfrm>
            <a:off x="548640" y="2194560"/>
            <a:ext cx="8046720" cy="457200"/>
          </a:xfrm>
          <a:prstGeom prst="rect">
            <a:avLst/>
          </a:prstGeom>
          <a:noFill/>
          <a:ln/>
        </p:spPr>
        <p:txBody>
          <a:bodyPr wrap="square" lIns="0" tIns="0" rIns="0" bIns="0" rtlCol="0" anchor="t"/>
          <a:lstStyle/>
          <a:p>
            <a:pPr marL="0" indent="0" algn="ctr">
              <a:buNone/>
            </a:pPr>
            <a:r>
              <a:rPr lang="en-US" sz="2200" i="1" dirty="0">
                <a:solidFill>
                  <a:schemeClr val="bg2"/>
                </a:solidFill>
              </a:rPr>
              <a:t>Ada pertanyaan?</a:t>
            </a:r>
            <a:endParaRPr lang="en-US" sz="2200" dirty="0"/>
          </a:p>
        </p:txBody>
      </p:sp>
      <p:sp>
        <p:nvSpPr>
          <p:cNvPr id="4" name="Text 2"/>
          <p:cNvSpPr txBox="1"/>
          <p:nvPr/>
        </p:nvSpPr>
        <p:spPr>
          <a:xfrm>
            <a:off x="1371600" y="3017520"/>
            <a:ext cx="6400800" cy="365760"/>
          </a:xfrm>
          <a:prstGeom prst="rect">
            <a:avLst/>
          </a:prstGeom>
          <a:noFill/>
          <a:ln/>
        </p:spPr>
        <p:txBody>
          <a:bodyPr wrap="square" lIns="0" tIns="0" rIns="0" bIns="0" rtlCol="0" anchor="t"/>
          <a:lstStyle/>
          <a:p>
            <a:pPr marL="0" indent="0" algn="ctr">
              <a:buNone/>
            </a:pPr>
            <a:r>
              <a:rPr lang="en-US" sz="1400" dirty="0">
                <a:solidFill>
                  <a:schemeClr val="bg1"/>
                </a:solidFill>
              </a:rPr>
              <a:t>Model ini adalah alat belajar dan penelitian, bukan alat diagnosis.</a:t>
            </a:r>
            <a:endParaRPr lang="en-US" sz="1400" dirty="0"/>
          </a:p>
        </p:txBody>
      </p:sp>
      <p:sp>
        <p:nvSpPr>
          <p:cNvPr id="5" name="Text 3"/>
          <p:cNvSpPr txBox="1"/>
          <p:nvPr/>
        </p:nvSpPr>
        <p:spPr>
          <a:xfrm>
            <a:off x="548640" y="4114800"/>
            <a:ext cx="8046720" cy="365760"/>
          </a:xfrm>
          <a:prstGeom prst="rect">
            <a:avLst/>
          </a:prstGeom>
          <a:noFill/>
          <a:ln/>
        </p:spPr>
        <p:txBody>
          <a:bodyPr wrap="square" lIns="0" tIns="0" rIns="0" bIns="0" rtlCol="0" anchor="t"/>
          <a:lstStyle/>
          <a:p>
            <a:pPr marL="0" indent="0" algn="ctr">
              <a:buNone/>
            </a:pPr>
            <a:r>
              <a:rPr lang="en-US" sz="1200" dirty="0">
                <a:solidFill>
                  <a:schemeClr val="bg2"/>
                </a:solidFill>
              </a:rPr>
              <a:t>Elfina Lukna Zunaida  ·  Nayzila Sukma Laudyandana  ·  Tsabita Shafa Aurellia  ·  Putri Eka Safira</a:t>
            </a:r>
            <a:endParaRPr lang="en-US" sz="1200" dirty="0"/>
          </a:p>
        </p:txBody>
      </p:sp>
    </p:spTree>
  </p:cSld>
  <p:clrMapOvr>
    <a:masterClrMapping/>
  </p:clrMapOvr>
</p:sld>
</file>

<file path=ppt/theme/theme1.xml><?xml version="1.0" encoding="utf-8"?>
<a:theme xmlns:a="http://schemas.openxmlformats.org/drawingml/2006/main" name="Brain MRI">
  <a:themeElements>
    <a:clrScheme name="Brain MRI">
      <a:dk1>
        <a:srgbClr val="0F1B2D"/>
      </a:dk1>
      <a:lt1>
        <a:srgbClr val="FFFFFF"/>
      </a:lt1>
      <a:dk2>
        <a:srgbClr val="14395B"/>
      </a:dk2>
      <a:lt2>
        <a:srgbClr val="EAF3F7"/>
      </a:lt2>
      <a:accent1>
        <a:srgbClr val="0B8A96"/>
      </a:accent1>
      <a:accent2>
        <a:srgbClr val="D9482B"/>
      </a:accent2>
      <a:accent3>
        <a:srgbClr val="E9A92C"/>
      </a:accent3>
      <a:accent4>
        <a:srgbClr val="3D5A80"/>
      </a:accent4>
      <a:accent5>
        <a:srgbClr val="6C8EAD"/>
      </a:accent5>
      <a:accent6>
        <a:srgbClr val="2E9E6B"/>
      </a:accent6>
      <a:hlink>
        <a:srgbClr val="0B8A96"/>
      </a:hlink>
      <a:folHlink>
        <a:srgbClr val="6C8EAD"/>
      </a:folHlink>
    </a:clrScheme>
    <a:fontScheme name="Brain MR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5109</Words>
  <Application>Microsoft Office PowerPoint</Application>
  <PresentationFormat>On-screen Show (16:9)</PresentationFormat>
  <Paragraphs>603</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vt:lpstr>
      <vt:lpstr>Brain MRI</vt:lpstr>
      <vt:lpstr>PowerPoint Presentation</vt:lpstr>
      <vt:lpstr>Alur presentasi</vt:lpstr>
      <vt:lpstr>Kenapa MRI otak perlu bantuan AI?</vt:lpstr>
      <vt:lpstr>Lima tujuan praktikum</vt:lpstr>
      <vt:lpstr>Ruang lingkup dan batasan</vt:lpstr>
      <vt:lpstr>Empat kelas pada dataset</vt:lpstr>
      <vt:lpstr>Cara kerja CNN, lapis demi lapis</vt:lpstr>
      <vt:lpstr>Pembagian data, augmentasi, dan overfitting</vt:lpstr>
      <vt:lpstr>Epoch, batch size, learning rate, optimizer</vt:lpstr>
      <vt:lpstr>Metrik evaluasi dan confusion matrix</vt:lpstr>
      <vt:lpstr>Alur penelitian di Google Colab</vt:lpstr>
      <vt:lpstr>Lingkungan dan konfigurasi</vt:lpstr>
      <vt:lpstr>Dataset: 7.200 gambar, 4 kelas seimbang</vt:lpstr>
      <vt:lpstr>Preprocessing citra</vt:lpstr>
      <vt:lpstr>Arsitektur CNN baseline</vt:lpstr>
      <vt:lpstr>Susunan lapisan dan jumlah parameter</vt:lpstr>
      <vt:lpstr>Pipeline pelatihan dan evaluasi</vt:lpstr>
      <vt:lpstr>Rancangan eksperimen: progressive ablation</vt:lpstr>
      <vt:lpstr>Skenario 1: pembagian data</vt:lpstr>
      <vt:lpstr>Skenario 2: augmentasi</vt:lpstr>
      <vt:lpstr>Skenario 3: optimizer</vt:lpstr>
      <vt:lpstr>Skenario 3: kurva akurasi tiga optimizer</vt:lpstr>
      <vt:lpstr>Skenario 4: dropout</vt:lpstr>
      <vt:lpstr>Rekap F1 Macro semua eksperimen</vt:lpstr>
      <vt:lpstr>Model champion: konfigurasi dan metrik</vt:lpstr>
      <vt:lpstr>Performa per kelas</vt:lpstr>
      <vt:lpstr>Confusion matrix dan analisis kesalahan</vt:lpstr>
      <vt:lpstr>Kurva pelatihan model champion</vt:lpstr>
      <vt:lpstr>Visualisasi prediksi model</vt:lpstr>
      <vt:lpstr>Makna hasil dan analisis kesalahan</vt:lpstr>
      <vt:lpstr>Temuan penting dan keterbatasan</vt:lpstr>
      <vt:lpstr>Kesimpulan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Klasifikasi Tumor Otak Menggunakan Citra MRI Berbasis CNN</dc:title>
  <dc:subject>PptxGenJS Presentation</dc:subject>
  <dc:creator>Kelompok Deep Learning - Sistem Informasi UTM</dc:creator>
  <cp:lastModifiedBy>Tsabita aurell</cp:lastModifiedBy>
  <cp:revision>4</cp:revision>
  <dcterms:created xsi:type="dcterms:W3CDTF">2026-10-10T17:33:08Z</dcterms:created>
  <dcterms:modified xsi:type="dcterms:W3CDTF">2026-10-11T07:25:05Z</dcterms:modified>
</cp:coreProperties>
</file>